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Part 1 of our Voice-Driven AI Development Workflows series. Today we're covering setup, introduction, and tool overview. This 90-minute session will give you the foundation to start using voice-driven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roadmap for the full series. Today is Part 1 focusing on understanding the tools. Part 2 will be hands-on practice with your own projects. Part 3 culminates in building a real meeting transcriber application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here is that we think faster than we type. Voice-driven development closes that gap. Keyboards are a bottleneck. Voice input lets you work at the speed of 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key benefits: Ergonomic benefits for anyone typing all day. Productivity gains from faster iteration. Multitasking when your hands are free. Accessibility opens development to more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agenda for today. Note the time allocations - we'll focus on voice tools and SuperWhisper configuration. Workshop materials are available for independent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Now we're getting into the tools. The acoustic layer captures your voice and turns it into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SuperWhisper is our primary recommendation. Works on Mac, Windows, and iOS. Key: it offers BOTH local AND cloud processing. Free tier includes local models - completely privacy-safe for PHI.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why local processing matters. With SuperWhisper's local models, the entire flow stays on your machine. For PHI and sensitive data, use local models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Wispr Flow is the cross-platform alternative. Works on Mac, Windows, and iOS. Free tier with 2000 words per week. Context awareness auto-detects which app you're using. IMPORTANT: Wispr Flow is CLOUD-ONLY.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limitation for government users. Unlike SuperWhisper, Wispr Flow does NOT offer local processing. Privacy Mode means zero data retention - but audio IS still sent to cloud servers. For true local processing, use SuperWhisper.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Side-by-side comparison. KEY DIFFERENCE: SuperWhisper offers true local processing - audio never leaves your device. Wispr Flow is cloud-only - even with Privacy Mode, audio goes to servers. SuperWhisper for PHI.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flowchart. If you handle PHI or sensitive data, SuperWhisper with local models is the clear choice. Wispr Flow is excellent for non-sensitive work where you want context-aware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we're using SuperWhisper for this workshop: free local models that are PHI-safe out of the box, cross-platform support, and custom modes we can build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Security and compliance - critical for government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 awareness diagram. Green is local and safe. Blue is your Azure tenant - verify BAA status. Red/Yellow is public cloud - Wispr Flow is cloud-based even with Privacy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 guidance: SAFE tools include SuperWhisper with local models (free tier works!) and Azure with BAA. CAUTION with Wispr Flow - Privacy Mode means zero retention but audio still goes to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checklist. Before starting: verify tool configuration, check privacy mode, confirm endpoint routing. Before each use: consider data sensitivity, choose appropriate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Now we're getting into the hands-on portion. This is where we'll actually configure SuperWhisper for your specific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 setup walkthrough. Five steps from installation to your first successful dictation. Key: select a local model first for privacy, then test to confirm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effective AI instructions. The XML structure helps organize your prompt: role defines who the AI is, instructions specify what to do, requirements list constraints. Examples dramatically improve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awareness lets your modes adapt. Application context detects which app is active, selected text passes highlighted content, clipboard provides reference material. Auto-activation means the right mode engages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and replacements fine-tune recognition. Vocabulary helps the AI recognize custom terms during transcription. Replacements correct errors after transcription - programmatic and 100% 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Workshop time. We'll build five practical custom modes together. Each one is designed for a specific application context. You'll leave with ready-to-use configurations.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Enrichment Mode - the KEY insight. SuperWhisper is an INPUT METHOD, not a code generator. This mode transforms your rambling speech into clear, structured prompts ready to paste into ANY AI tool - Claude, ChatGPT, Cursor, whatever you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Teams Chat Mode - perfect for workplace messaging. Teams has no native dictation, so SuperWhisper fills this gap. Short, professional messages. Watch how 'at Sarah' converts to '@Sarah' mentions.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Professional Email Mode - transforms rambling dictation into structured emails. Select text before dictating to treat it as the email you're replying to. Great for quick responses.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Terminal Mode - optimized for giving detailed prompts to Claude. Voice is perfect for complex instructions. Copy an error to clipboard, dictate 'fix this error', paste to 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Handoff Mode - the advanced pattern. This takes prompt enrichment further, specifically for AI coding agents. Instead of just cleaning up your speech, it structures your task with objective, scope, constraints, and success criteria. AI agents perform significantly better with structured specifications.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switching demo - the magic of auto-activation. Watch the menu bar indicator as I switch from VS Code to Teams to Outlook to Terminal. Same hotkey, same natural speech, output adapts.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Wrapping up and preparing for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Pre-work for Part 2: Install SuperWhisper, set up your custom modes based on what we learned today, identify a project to work on, bring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preview: Real hands-on exercises with your own projects. We'll troubleshoot issues together and share tips. You'll leave with working tools integrated into your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Part 1 of 3 complete. Workshop materials and exercises are available for independent practice. Questions? See you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var/folders/8s/qp6qfsr90ml5q7fb2n2ptwch0000gn/T/rasterized-gradient-2d1cab90.png">    </p:cNvPr>
          <p:cNvPicPr>
            <a:picLocks noChangeAspect="1"/>
          </p:cNvPicPr>
          <p:nvPr/>
        </p:nvPicPr>
        <p:blipFill>
          <a:blip r:embed="rId1"/>
          <a:stretch>
            <a:fillRect/>
          </a:stretch>
        </p:blipFill>
        <p:spPr>
          <a:xfrm>
            <a:off x="0" y="0"/>
            <a:ext cx="5850434" cy="5143500"/>
          </a:xfrm>
          <a:prstGeom prst="rect">
            <a:avLst/>
          </a:prstGeom>
        </p:spPr>
      </p:pic>
      <p:sp>
        <p:nvSpPr>
          <p:cNvPr id="3" name="Text 0"/>
          <p:cNvSpPr/>
          <p:nvPr/>
        </p:nvSpPr>
        <p:spPr>
          <a:xfrm>
            <a:off x="457200" y="993577"/>
            <a:ext cx="5034754" cy="146596"/>
          </a:xfrm>
          <a:prstGeom prst="rect">
            <a:avLst/>
          </a:prstGeom>
          <a:noFill/>
          <a:ln/>
        </p:spPr>
        <p:txBody>
          <a:bodyPr wrap="square" lIns="0" tIns="0" rIns="0" bIns="0" rtlCol="0" anchor="t"/>
          <a:lstStyle/>
          <a:p>
            <a:pPr algn="l" indent="0" marL="0">
              <a:lnSpc>
                <a:spcPts val="1155"/>
              </a:lnSpc>
              <a:spcAft>
                <a:spcPts val="1500"/>
              </a:spcAft>
              <a:buNone/>
            </a:pPr>
            <a:r>
              <a:rPr lang="en-US" sz="825" dirty="0">
                <a:solidFill>
                  <a:srgbClr val="C9A227"/>
                </a:solidFill>
                <a:latin typeface="Arial" pitchFamily="34" charset="0"/>
                <a:ea typeface="Arial" pitchFamily="34" charset="-122"/>
                <a:cs typeface="Arial" pitchFamily="34" charset="-120"/>
              </a:rPr>
              <a:t>AUSTIN PUBLIC HEALTH</a:t>
            </a:r>
            <a:endParaRPr lang="en-US" sz="825" dirty="0"/>
          </a:p>
        </p:txBody>
      </p:sp>
      <p:sp>
        <p:nvSpPr>
          <p:cNvPr id="4" name="Text 1"/>
          <p:cNvSpPr/>
          <p:nvPr/>
        </p:nvSpPr>
        <p:spPr>
          <a:xfrm>
            <a:off x="457200" y="1483072"/>
            <a:ext cx="3050667" cy="921841"/>
          </a:xfrm>
          <a:prstGeom prst="rect">
            <a:avLst/>
          </a:prstGeom>
          <a:noFill/>
          <a:ln/>
        </p:spPr>
        <p:txBody>
          <a:bodyPr wrap="square" lIns="0" tIns="0" rIns="0" bIns="0" rtlCol="0" anchor="t"/>
          <a:lstStyle/>
          <a:p>
            <a:pPr algn="l" indent="0" marL="0">
              <a:lnSpc>
                <a:spcPts val="3630"/>
              </a:lnSpc>
              <a:spcAft>
                <a:spcPts val="1200"/>
              </a:spcAft>
              <a:buNone/>
            </a:pPr>
            <a:r>
              <a:rPr lang="en-US" sz="3300" dirty="0">
                <a:solidFill>
                  <a:srgbClr val="FFFFFF"/>
                </a:solidFill>
                <a:latin typeface="Georgia" pitchFamily="34" charset="0"/>
                <a:ea typeface="Georgia" pitchFamily="34" charset="-122"/>
                <a:cs typeface="Georgia" pitchFamily="34" charset="-120"/>
              </a:rPr>
              <a:t>Voice-Driven AI Development</a:t>
            </a:r>
            <a:endParaRPr lang="en-US" sz="3300" dirty="0"/>
          </a:p>
        </p:txBody>
      </p:sp>
      <p:sp>
        <p:nvSpPr>
          <p:cNvPr id="5" name="Text 2"/>
          <p:cNvSpPr/>
          <p:nvPr/>
        </p:nvSpPr>
        <p:spPr>
          <a:xfrm>
            <a:off x="457200" y="2709714"/>
            <a:ext cx="5034754" cy="319980"/>
          </a:xfrm>
          <a:prstGeom prst="rect">
            <a:avLst/>
          </a:prstGeom>
          <a:noFill/>
          <a:ln/>
        </p:spPr>
        <p:txBody>
          <a:bodyPr wrap="square" lIns="0" tIns="0" rIns="0" bIns="0" rtlCol="0" anchor="t"/>
          <a:lstStyle/>
          <a:p>
            <a:pPr algn="l" indent="0" marL="0">
              <a:lnSpc>
                <a:spcPts val="2520"/>
              </a:lnSpc>
              <a:spcAft>
                <a:spcPts val="2400"/>
              </a:spcAft>
              <a:buNone/>
            </a:pPr>
            <a:r>
              <a:rPr lang="en-US" sz="1800" dirty="0">
                <a:solidFill>
                  <a:srgbClr val="C9A227"/>
                </a:solidFill>
                <a:latin typeface="Georgia" pitchFamily="34" charset="0"/>
                <a:ea typeface="Georgia" pitchFamily="34" charset="-122"/>
                <a:cs typeface="Georgia" pitchFamily="34" charset="-120"/>
              </a:rPr>
              <a:t>Workflows</a:t>
            </a:r>
            <a:endParaRPr lang="en-US" sz="1800" dirty="0"/>
          </a:p>
        </p:txBody>
      </p:sp>
      <p:sp>
        <p:nvSpPr>
          <p:cNvPr id="6" name="Text 3"/>
          <p:cNvSpPr/>
          <p:nvPr/>
        </p:nvSpPr>
        <p:spPr>
          <a:xfrm>
            <a:off x="457200" y="3486894"/>
            <a:ext cx="762000" cy="19050"/>
          </a:xfrm>
          <a:prstGeom prst="rect">
            <a:avLst/>
          </a:prstGeom>
          <a:solidFill>
            <a:srgbClr val="C9A227"/>
          </a:solidFill>
          <a:ln/>
        </p:spPr>
        <p:txBody>
          <a:bodyPr wrap="square" rtlCol="0" anchor="ctr"/>
          <a:lstStyle/>
          <a:p>
            <a:pPr indent="0" marL="0">
              <a:buNone/>
            </a:pPr>
            <a:endParaRPr lang="en-US" dirty="0"/>
          </a:p>
        </p:txBody>
      </p:sp>
      <p:sp>
        <p:nvSpPr>
          <p:cNvPr id="7" name="Text 4"/>
          <p:cNvSpPr/>
          <p:nvPr/>
        </p:nvSpPr>
        <p:spPr>
          <a:xfrm>
            <a:off x="457200" y="3963144"/>
            <a:ext cx="5034754" cy="186630"/>
          </a:xfrm>
          <a:prstGeom prst="rect">
            <a:avLst/>
          </a:prstGeom>
          <a:noFill/>
          <a:ln/>
        </p:spPr>
        <p:txBody>
          <a:bodyPr wrap="square" lIns="0" tIns="0" rIns="0" bIns="0" rtlCol="0" anchor="t"/>
          <a:lstStyle/>
          <a:p>
            <a:pPr algn="l" indent="0" marL="0">
              <a:lnSpc>
                <a:spcPts val="1470"/>
              </a:lnSpc>
              <a:buNone/>
            </a:pPr>
            <a:r>
              <a:rPr lang="en-US" sz="1050" dirty="0">
                <a:solidFill>
                  <a:srgbClr val="FFFFFF">
                    <a:alpha val="70000"/>
                  </a:srgbClr>
                </a:solidFill>
                <a:latin typeface="Arial" pitchFamily="34" charset="0"/>
                <a:ea typeface="Arial" pitchFamily="34" charset="-122"/>
                <a:cs typeface="Arial" pitchFamily="34" charset="-120"/>
              </a:rPr>
              <a:t>Part 1 of 3: Setup, Introduction &amp; Tool Overview</a:t>
            </a:r>
            <a:endParaRPr lang="en-US" sz="1050" dirty="0"/>
          </a:p>
        </p:txBody>
      </p:sp>
      <p:sp>
        <p:nvSpPr>
          <p:cNvPr id="8" name="Text 5"/>
          <p:cNvSpPr/>
          <p:nvPr/>
        </p:nvSpPr>
        <p:spPr>
          <a:xfrm>
            <a:off x="6002834" y="0"/>
            <a:ext cx="3141166" cy="5143500"/>
          </a:xfrm>
          <a:prstGeom prst="rect">
            <a:avLst/>
          </a:prstGeom>
          <a:solidFill>
            <a:srgbClr val="C9A227"/>
          </a:solidFill>
          <a:ln/>
        </p:spPr>
        <p:txBody>
          <a:bodyPr wrap="square" rtlCol="0" anchor="ctr"/>
          <a:lstStyle/>
          <a:p>
            <a:pPr indent="0" marL="0">
              <a:buNone/>
            </a:pPr>
            <a:endParaRPr lang="en-US" dirty="0"/>
          </a:p>
        </p:txBody>
      </p:sp>
      <p:sp>
        <p:nvSpPr>
          <p:cNvPr id="9" name="Text 6"/>
          <p:cNvSpPr/>
          <p:nvPr/>
        </p:nvSpPr>
        <p:spPr>
          <a:xfrm>
            <a:off x="7160812" y="1525042"/>
            <a:ext cx="825210" cy="960090"/>
          </a:xfrm>
          <a:prstGeom prst="rect">
            <a:avLst/>
          </a:prstGeom>
          <a:noFill/>
          <a:ln/>
        </p:spPr>
        <p:txBody>
          <a:bodyPr wrap="square" lIns="0" tIns="0" rIns="0" bIns="0" rtlCol="0" anchor="t"/>
          <a:lstStyle/>
          <a:p>
            <a:pPr algn="ctr" indent="0" marL="0">
              <a:lnSpc>
                <a:spcPts val="7560"/>
              </a:lnSpc>
              <a:buNone/>
            </a:pPr>
            <a:r>
              <a:rPr lang="en-US" sz="5400" dirty="0">
                <a:solidFill>
                  <a:srgbClr val="1A1F2E"/>
                </a:solidFill>
                <a:latin typeface="Georgia" pitchFamily="34" charset="0"/>
                <a:ea typeface="Georgia" pitchFamily="34" charset="-122"/>
                <a:cs typeface="Georgia" pitchFamily="34" charset="-120"/>
              </a:rPr>
              <a:t>90</a:t>
            </a:r>
            <a:endParaRPr lang="en-US" sz="5400" dirty="0"/>
          </a:p>
        </p:txBody>
      </p:sp>
      <p:sp>
        <p:nvSpPr>
          <p:cNvPr id="10" name="Text 7"/>
          <p:cNvSpPr/>
          <p:nvPr/>
        </p:nvSpPr>
        <p:spPr>
          <a:xfrm>
            <a:off x="7199370" y="2675632"/>
            <a:ext cx="748094" cy="186630"/>
          </a:xfrm>
          <a:prstGeom prst="rect">
            <a:avLst/>
          </a:prstGeom>
          <a:noFill/>
          <a:ln/>
        </p:spPr>
        <p:txBody>
          <a:bodyPr wrap="square" lIns="0" tIns="0" rIns="0" bIns="0" rtlCol="0" anchor="t"/>
          <a:lstStyle/>
          <a:p>
            <a:pPr algn="ctr" indent="0" marL="0">
              <a:lnSpc>
                <a:spcPts val="1470"/>
              </a:lnSpc>
              <a:spcBef>
                <a:spcPts val="300"/>
              </a:spcBef>
              <a:buNone/>
            </a:pPr>
            <a:r>
              <a:rPr lang="en-US" sz="1050" dirty="0">
                <a:solidFill>
                  <a:srgbClr val="1A1F2E"/>
                </a:solidFill>
                <a:latin typeface="Arial" pitchFamily="34" charset="0"/>
                <a:ea typeface="Arial" pitchFamily="34" charset="-122"/>
                <a:cs typeface="Arial" pitchFamily="34" charset="-120"/>
              </a:rPr>
              <a:t>MINUTES</a:t>
            </a:r>
            <a:endParaRPr lang="en-US" sz="1050" dirty="0"/>
          </a:p>
        </p:txBody>
      </p:sp>
      <p:sp>
        <p:nvSpPr>
          <p:cNvPr id="11" name="Text 8"/>
          <p:cNvSpPr/>
          <p:nvPr/>
        </p:nvSpPr>
        <p:spPr>
          <a:xfrm>
            <a:off x="6204594" y="4768304"/>
            <a:ext cx="2737646" cy="146596"/>
          </a:xfrm>
          <a:prstGeom prst="rect">
            <a:avLst/>
          </a:prstGeom>
          <a:noFill/>
          <a:ln/>
        </p:spPr>
        <p:txBody>
          <a:bodyPr wrap="square" lIns="0" tIns="0" rIns="0" bIns="0" rtlCol="0" anchor="t"/>
          <a:lstStyle/>
          <a:p>
            <a:pPr algn="ctr" indent="0" marL="0">
              <a:lnSpc>
                <a:spcPts val="1155"/>
              </a:lnSpc>
              <a:buNone/>
            </a:pPr>
            <a:r>
              <a:rPr lang="en-US" sz="825" dirty="0">
                <a:solidFill>
                  <a:srgbClr val="1A1F2E">
                    <a:alpha val="60000"/>
                  </a:srgbClr>
                </a:solidFill>
                <a:latin typeface="Arial" pitchFamily="34" charset="0"/>
                <a:ea typeface="Arial" pitchFamily="34" charset="-122"/>
                <a:cs typeface="Arial" pitchFamily="34" charset="-120"/>
              </a:rPr>
              <a:t>AI Technology Training Series</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457200" y="304800"/>
            <a:ext cx="8394192" cy="146596"/>
          </a:xfrm>
          <a:prstGeom prst="rect">
            <a:avLst/>
          </a:prstGeom>
          <a:noFill/>
          <a:ln/>
        </p:spPr>
        <p:txBody>
          <a:bodyPr wrap="square" lIns="0" tIns="0" rIns="0" bIns="0" rtlCol="0" anchor="t"/>
          <a:lstStyle/>
          <a:p>
            <a:pPr algn="l" indent="0" marL="0">
              <a:lnSpc>
                <a:spcPts val="1155"/>
              </a:lnSpc>
              <a:spcAft>
                <a:spcPts val="600"/>
              </a:spcAft>
              <a:buNone/>
            </a:pPr>
            <a:r>
              <a:rPr lang="en-US" sz="825" dirty="0">
                <a:solidFill>
                  <a:srgbClr val="C9A227"/>
                </a:solidFill>
                <a:latin typeface="Arial" pitchFamily="34" charset="0"/>
                <a:ea typeface="Arial" pitchFamily="34" charset="-122"/>
                <a:cs typeface="Arial" pitchFamily="34" charset="-120"/>
              </a:rPr>
              <a:t>YOUR LEARNING JOURNEY</a:t>
            </a:r>
            <a:endParaRPr lang="en-US" sz="825" dirty="0"/>
          </a:p>
        </p:txBody>
      </p:sp>
      <p:sp>
        <p:nvSpPr>
          <p:cNvPr id="3" name="Text 1"/>
          <p:cNvSpPr/>
          <p:nvPr/>
        </p:nvSpPr>
        <p:spPr>
          <a:xfrm>
            <a:off x="457200" y="527596"/>
            <a:ext cx="6868859" cy="342900"/>
          </a:xfrm>
          <a:prstGeom prst="rect">
            <a:avLst/>
          </a:prstGeom>
          <a:noFill/>
          <a:ln/>
        </p:spPr>
        <p:txBody>
          <a:bodyPr wrap="square" lIns="0" tIns="0" rIns="0" bIns="0" rtlCol="0" anchor="t"/>
          <a:lstStyle/>
          <a:p>
            <a:pPr algn="l" indent="0" marL="0">
              <a:lnSpc>
                <a:spcPts val="2700"/>
              </a:lnSpc>
              <a:buNone/>
            </a:pPr>
            <a:r>
              <a:rPr lang="en-US" sz="2700" dirty="0">
                <a:solidFill>
                  <a:srgbClr val="1A1F2E"/>
                </a:solidFill>
                <a:latin typeface="Georgia" pitchFamily="34" charset="0"/>
                <a:ea typeface="Georgia" pitchFamily="34" charset="-122"/>
                <a:cs typeface="Georgia" pitchFamily="34" charset="-120"/>
              </a:rPr>
              <a:t>Three Sessions to Transform Your Workflow</a:t>
            </a:r>
            <a:endParaRPr lang="en-US" sz="2700" dirty="0"/>
          </a:p>
        </p:txBody>
      </p:sp>
      <p:sp>
        <p:nvSpPr>
          <p:cNvPr id="4" name="Text 2"/>
          <p:cNvSpPr/>
          <p:nvPr/>
        </p:nvSpPr>
        <p:spPr>
          <a:xfrm>
            <a:off x="457200" y="1415653"/>
            <a:ext cx="2603450" cy="3182689"/>
          </a:xfrm>
          <a:prstGeom prst="rect">
            <a:avLst/>
          </a:prstGeom>
          <a:solidFill>
            <a:srgbClr val="1A1F2E"/>
          </a:solidFill>
          <a:ln/>
        </p:spPr>
        <p:txBody>
          <a:bodyPr wrap="square" rtlCol="0" anchor="ctr"/>
          <a:lstStyle/>
          <a:p>
            <a:pPr indent="0" marL="0">
              <a:buNone/>
            </a:pPr>
            <a:endParaRPr lang="en-US" dirty="0"/>
          </a:p>
        </p:txBody>
      </p:sp>
      <p:sp>
        <p:nvSpPr>
          <p:cNvPr id="5" name="Text 3"/>
          <p:cNvSpPr/>
          <p:nvPr/>
        </p:nvSpPr>
        <p:spPr>
          <a:xfrm>
            <a:off x="685800" y="1320403"/>
            <a:ext cx="675382" cy="209550"/>
          </a:xfrm>
          <a:prstGeom prst="rect">
            <a:avLst/>
          </a:prstGeom>
          <a:solidFill>
            <a:srgbClr val="C9A227"/>
          </a:solidFill>
          <a:ln/>
        </p:spPr>
        <p:txBody>
          <a:bodyPr wrap="square" rtlCol="0" anchor="ctr"/>
          <a:lstStyle/>
          <a:p>
            <a:pPr indent="0" marL="0">
              <a:buNone/>
            </a:pPr>
            <a:endParaRPr lang="en-US" dirty="0"/>
          </a:p>
        </p:txBody>
      </p:sp>
      <p:sp>
        <p:nvSpPr>
          <p:cNvPr id="6" name="Text 4"/>
          <p:cNvSpPr/>
          <p:nvPr/>
        </p:nvSpPr>
        <p:spPr>
          <a:xfrm>
            <a:off x="838200" y="1358503"/>
            <a:ext cx="377994" cy="133350"/>
          </a:xfrm>
          <a:prstGeom prst="rect">
            <a:avLst/>
          </a:prstGeom>
          <a:noFill/>
          <a:ln/>
        </p:spPr>
        <p:txBody>
          <a:bodyPr wrap="square" lIns="0" tIns="0" rIns="0" bIns="0" rtlCol="0" anchor="t"/>
          <a:lstStyle/>
          <a:p>
            <a:pPr algn="l" indent="0" marL="0">
              <a:lnSpc>
                <a:spcPts val="1050"/>
              </a:lnSpc>
              <a:buNone/>
            </a:pPr>
            <a:r>
              <a:rPr lang="en-US" sz="750" b="1" dirty="0">
                <a:solidFill>
                  <a:srgbClr val="1A1F2E"/>
                </a:solidFill>
                <a:latin typeface="Arial" pitchFamily="34" charset="0"/>
                <a:ea typeface="Arial" pitchFamily="34" charset="-122"/>
                <a:cs typeface="Arial" pitchFamily="34" charset="-120"/>
              </a:rPr>
              <a:t>TODAY</a:t>
            </a:r>
            <a:endParaRPr lang="en-US" sz="750" dirty="0"/>
          </a:p>
        </p:txBody>
      </p:sp>
      <p:sp>
        <p:nvSpPr>
          <p:cNvPr id="7" name="Text 5"/>
          <p:cNvSpPr/>
          <p:nvPr/>
        </p:nvSpPr>
        <p:spPr>
          <a:xfrm>
            <a:off x="723900" y="1682353"/>
            <a:ext cx="2111451" cy="639961"/>
          </a:xfrm>
          <a:prstGeom prst="rect">
            <a:avLst/>
          </a:prstGeom>
          <a:noFill/>
          <a:ln/>
        </p:spPr>
        <p:txBody>
          <a:bodyPr wrap="square" lIns="0" tIns="0" rIns="0" bIns="0" rtlCol="0" anchor="t"/>
          <a:lstStyle/>
          <a:p>
            <a:pPr algn="l" indent="0" marL="0">
              <a:lnSpc>
                <a:spcPts val="5040"/>
              </a:lnSpc>
              <a:spcAft>
                <a:spcPts val="300"/>
              </a:spcAft>
              <a:buNone/>
            </a:pPr>
            <a:r>
              <a:rPr lang="en-US" sz="3600" dirty="0">
                <a:solidFill>
                  <a:srgbClr val="C9A227"/>
                </a:solidFill>
                <a:latin typeface="Georgia" pitchFamily="34" charset="0"/>
                <a:ea typeface="Georgia" pitchFamily="34" charset="-122"/>
                <a:cs typeface="Georgia" pitchFamily="34" charset="-120"/>
              </a:rPr>
              <a:t>01</a:t>
            </a:r>
            <a:endParaRPr lang="en-US" sz="3600" dirty="0"/>
          </a:p>
        </p:txBody>
      </p:sp>
      <p:sp>
        <p:nvSpPr>
          <p:cNvPr id="8" name="Text 6"/>
          <p:cNvSpPr/>
          <p:nvPr/>
        </p:nvSpPr>
        <p:spPr>
          <a:xfrm>
            <a:off x="723900" y="2512814"/>
            <a:ext cx="2111451" cy="239911"/>
          </a:xfrm>
          <a:prstGeom prst="rect">
            <a:avLst/>
          </a:prstGeom>
          <a:noFill/>
          <a:ln/>
        </p:spPr>
        <p:txBody>
          <a:bodyPr wrap="square" lIns="0" tIns="0" rIns="0" bIns="0" rtlCol="0" anchor="t"/>
          <a:lstStyle/>
          <a:p>
            <a:pPr algn="l" indent="0" marL="0">
              <a:lnSpc>
                <a:spcPts val="1890"/>
              </a:lnSpc>
              <a:spcAft>
                <a:spcPts val="1200"/>
              </a:spcAft>
              <a:buNone/>
            </a:pPr>
            <a:r>
              <a:rPr lang="en-US" sz="1350" dirty="0">
                <a:solidFill>
                  <a:srgbClr val="FFFFFF"/>
                </a:solidFill>
                <a:latin typeface="Georgia" pitchFamily="34" charset="0"/>
                <a:ea typeface="Georgia" pitchFamily="34" charset="-122"/>
                <a:cs typeface="Georgia" pitchFamily="34" charset="-120"/>
              </a:rPr>
              <a:t>Setup &amp; Tool Overview</a:t>
            </a:r>
            <a:endParaRPr lang="en-US" sz="1350" dirty="0"/>
          </a:p>
        </p:txBody>
      </p:sp>
      <p:sp>
        <p:nvSpPr>
          <p:cNvPr id="9" name="Text 7"/>
          <p:cNvSpPr/>
          <p:nvPr/>
        </p:nvSpPr>
        <p:spPr>
          <a:xfrm>
            <a:off x="723900" y="3057525"/>
            <a:ext cx="2111451" cy="822722"/>
          </a:xfrm>
          <a:prstGeom prst="rect">
            <a:avLst/>
          </a:prstGeom>
          <a:noFill/>
          <a:ln/>
        </p:spPr>
        <p:txBody>
          <a:bodyPr wrap="square" lIns="0" tIns="0" rIns="0" bIns="0" rtlCol="0" anchor="t"/>
          <a:lstStyle/>
          <a:p>
            <a:pPr algn="l" indent="0" marL="0">
              <a:lnSpc>
                <a:spcPts val="1620"/>
              </a:lnSpc>
              <a:buNone/>
            </a:pPr>
            <a:r>
              <a:rPr lang="en-US" sz="900" dirty="0">
                <a:solidFill>
                  <a:srgbClr val="FFFFFF">
                    <a:alpha val="60000"/>
                  </a:srgbClr>
                </a:solidFill>
                <a:latin typeface="Arial" pitchFamily="34" charset="0"/>
                <a:ea typeface="Arial" pitchFamily="34" charset="-122"/>
                <a:cs typeface="Arial" pitchFamily="34" charset="-120"/>
              </a:rPr>
              <a:t>Voice input tools</a:t>
            </a:r>
            <a:endParaRPr lang="en-US" sz="900" dirty="0"/>
          </a:p>
          <a:p>
            <a:pPr algn="l" indent="0" marL="0">
              <a:lnSpc>
                <a:spcPts val="1620"/>
              </a:lnSpc>
              <a:buNone/>
            </a:pPr>
            <a:r>
              <a:rPr lang="en-US" sz="900" dirty="0">
                <a:solidFill>
                  <a:srgbClr val="FFFFFF">
                    <a:alpha val="60000"/>
                  </a:srgbClr>
                </a:solidFill>
                <a:latin typeface="Arial" pitchFamily="34" charset="0"/>
                <a:ea typeface="Arial" pitchFamily="34" charset="-122"/>
                <a:cs typeface="Arial" pitchFamily="34" charset="-120"/>
              </a:rPr>
              <a:t>AI coding assistants</a:t>
            </a:r>
            <a:endParaRPr lang="en-US" sz="900" dirty="0"/>
          </a:p>
          <a:p>
            <a:pPr algn="l" indent="0" marL="0">
              <a:lnSpc>
                <a:spcPts val="1620"/>
              </a:lnSpc>
              <a:buNone/>
            </a:pPr>
            <a:r>
              <a:rPr lang="en-US" sz="900" dirty="0">
                <a:solidFill>
                  <a:srgbClr val="FFFFFF">
                    <a:alpha val="60000"/>
                  </a:srgbClr>
                </a:solidFill>
                <a:latin typeface="Arial" pitchFamily="34" charset="0"/>
                <a:ea typeface="Arial" pitchFamily="34" charset="-122"/>
                <a:cs typeface="Arial" pitchFamily="34" charset="-120"/>
              </a:rPr>
              <a:t>Enterprise configuration</a:t>
            </a:r>
            <a:endParaRPr lang="en-US" sz="900" dirty="0"/>
          </a:p>
          <a:p>
            <a:pPr algn="l" indent="0" marL="0">
              <a:lnSpc>
                <a:spcPts val="1620"/>
              </a:lnSpc>
              <a:buNone/>
            </a:pPr>
            <a:r>
              <a:rPr lang="en-US" sz="900" dirty="0">
                <a:solidFill>
                  <a:srgbClr val="FFFFFF">
                    <a:alpha val="60000"/>
                  </a:srgbClr>
                </a:solidFill>
                <a:latin typeface="Arial" pitchFamily="34" charset="0"/>
                <a:ea typeface="Arial" pitchFamily="34" charset="-122"/>
                <a:cs typeface="Arial" pitchFamily="34" charset="-120"/>
              </a:rPr>
              <a:t>Security fundamentals</a:t>
            </a:r>
            <a:endParaRPr lang="en-US" sz="900" dirty="0"/>
          </a:p>
        </p:txBody>
      </p:sp>
      <p:sp>
        <p:nvSpPr>
          <p:cNvPr id="10" name="Text 8"/>
          <p:cNvSpPr/>
          <p:nvPr/>
        </p:nvSpPr>
        <p:spPr>
          <a:xfrm>
            <a:off x="723900" y="4185047"/>
            <a:ext cx="2111451" cy="146596"/>
          </a:xfrm>
          <a:prstGeom prst="rect">
            <a:avLst/>
          </a:prstGeom>
          <a:noFill/>
          <a:ln/>
        </p:spPr>
        <p:txBody>
          <a:bodyPr wrap="square" lIns="0" tIns="0" rIns="0" bIns="0" rtlCol="0" anchor="t"/>
          <a:lstStyle/>
          <a:p>
            <a:pPr algn="l" indent="0" marL="0">
              <a:lnSpc>
                <a:spcPts val="1155"/>
              </a:lnSpc>
              <a:buNone/>
            </a:pPr>
            <a:r>
              <a:rPr lang="en-US" sz="825" dirty="0">
                <a:solidFill>
                  <a:srgbClr val="FFFFFF">
                    <a:alpha val="40000"/>
                  </a:srgbClr>
                </a:solidFill>
                <a:latin typeface="Arial" pitchFamily="34" charset="0"/>
                <a:ea typeface="Arial" pitchFamily="34" charset="-122"/>
                <a:cs typeface="Arial" pitchFamily="34" charset="-120"/>
              </a:rPr>
              <a:t>90 minutes</a:t>
            </a:r>
            <a:endParaRPr lang="en-US" sz="825" dirty="0"/>
          </a:p>
        </p:txBody>
      </p:sp>
      <p:sp>
        <p:nvSpPr>
          <p:cNvPr id="11" name="Text 9"/>
          <p:cNvSpPr/>
          <p:nvPr/>
        </p:nvSpPr>
        <p:spPr>
          <a:xfrm>
            <a:off x="3251150" y="1406128"/>
            <a:ext cx="2622500" cy="3201739"/>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2" name="Text 10"/>
          <p:cNvSpPr/>
          <p:nvPr/>
        </p:nvSpPr>
        <p:spPr>
          <a:xfrm>
            <a:off x="3527375" y="1682353"/>
            <a:ext cx="2111451" cy="639961"/>
          </a:xfrm>
          <a:prstGeom prst="rect">
            <a:avLst/>
          </a:prstGeom>
          <a:noFill/>
          <a:ln/>
        </p:spPr>
        <p:txBody>
          <a:bodyPr wrap="square" lIns="0" tIns="0" rIns="0" bIns="0" rtlCol="0" anchor="t"/>
          <a:lstStyle/>
          <a:p>
            <a:pPr algn="l" indent="0" marL="0">
              <a:lnSpc>
                <a:spcPts val="5040"/>
              </a:lnSpc>
              <a:spcAft>
                <a:spcPts val="300"/>
              </a:spcAft>
              <a:buNone/>
            </a:pPr>
            <a:r>
              <a:rPr lang="en-US" sz="3600" dirty="0">
                <a:solidFill>
                  <a:srgbClr val="C9A227"/>
                </a:solidFill>
                <a:latin typeface="Georgia" pitchFamily="34" charset="0"/>
                <a:ea typeface="Georgia" pitchFamily="34" charset="-122"/>
                <a:cs typeface="Georgia" pitchFamily="34" charset="-120"/>
              </a:rPr>
              <a:t>02</a:t>
            </a:r>
            <a:endParaRPr lang="en-US" sz="3600" dirty="0"/>
          </a:p>
        </p:txBody>
      </p:sp>
      <p:sp>
        <p:nvSpPr>
          <p:cNvPr id="13" name="Text 11"/>
          <p:cNvSpPr/>
          <p:nvPr/>
        </p:nvSpPr>
        <p:spPr>
          <a:xfrm>
            <a:off x="3527375" y="2512814"/>
            <a:ext cx="2111451" cy="239911"/>
          </a:xfrm>
          <a:prstGeom prst="rect">
            <a:avLst/>
          </a:prstGeom>
          <a:noFill/>
          <a:ln/>
        </p:spPr>
        <p:txBody>
          <a:bodyPr wrap="square" lIns="0" tIns="0" rIns="0" bIns="0" rtlCol="0" anchor="t"/>
          <a:lstStyle/>
          <a:p>
            <a:pPr algn="l" indent="0" marL="0">
              <a:lnSpc>
                <a:spcPts val="1890"/>
              </a:lnSpc>
              <a:spcAft>
                <a:spcPts val="1200"/>
              </a:spcAft>
              <a:buNone/>
            </a:pPr>
            <a:r>
              <a:rPr lang="en-US" sz="1350" dirty="0">
                <a:solidFill>
                  <a:srgbClr val="1A1F2E"/>
                </a:solidFill>
                <a:latin typeface="Georgia" pitchFamily="34" charset="0"/>
                <a:ea typeface="Georgia" pitchFamily="34" charset="-122"/>
                <a:cs typeface="Georgia" pitchFamily="34" charset="-120"/>
              </a:rPr>
              <a:t>Hands-On Practice</a:t>
            </a:r>
            <a:endParaRPr lang="en-US" sz="1350" dirty="0"/>
          </a:p>
        </p:txBody>
      </p:sp>
      <p:sp>
        <p:nvSpPr>
          <p:cNvPr id="14" name="Text 12"/>
          <p:cNvSpPr/>
          <p:nvPr/>
        </p:nvSpPr>
        <p:spPr>
          <a:xfrm>
            <a:off x="3527375" y="3057525"/>
            <a:ext cx="2111451" cy="822722"/>
          </a:xfrm>
          <a:prstGeom prst="rect">
            <a:avLst/>
          </a:prstGeom>
          <a:noFill/>
          <a:ln/>
        </p:spPr>
        <p:txBody>
          <a:bodyPr wrap="square" lIns="0" tIns="0" rIns="0" bIns="0" rtlCol="0" anchor="t"/>
          <a:lstStyle/>
          <a:p>
            <a:pPr algn="l" indent="0" marL="0">
              <a:lnSpc>
                <a:spcPts val="1620"/>
              </a:lnSpc>
              <a:buNone/>
            </a:pPr>
            <a:r>
              <a:rPr lang="en-US" sz="900" dirty="0">
                <a:solidFill>
                  <a:srgbClr val="6B7280"/>
                </a:solidFill>
                <a:latin typeface="Arial" pitchFamily="34" charset="0"/>
                <a:ea typeface="Arial" pitchFamily="34" charset="-122"/>
                <a:cs typeface="Arial" pitchFamily="34" charset="-120"/>
              </a:rPr>
              <a:t>Real workflow exercises</a:t>
            </a:r>
            <a:endParaRPr lang="en-US" sz="900" dirty="0"/>
          </a:p>
          <a:p>
            <a:pPr algn="l" indent="0" marL="0">
              <a:lnSpc>
                <a:spcPts val="1620"/>
              </a:lnSpc>
              <a:buNone/>
            </a:pPr>
            <a:r>
              <a:rPr lang="en-US" sz="900" dirty="0">
                <a:solidFill>
                  <a:srgbClr val="6B7280"/>
                </a:solidFill>
                <a:latin typeface="Arial" pitchFamily="34" charset="0"/>
                <a:ea typeface="Arial" pitchFamily="34" charset="-122"/>
                <a:cs typeface="Arial" pitchFamily="34" charset="-120"/>
              </a:rPr>
              <a:t>Your actual projects</a:t>
            </a:r>
            <a:endParaRPr lang="en-US" sz="900" dirty="0"/>
          </a:p>
          <a:p>
            <a:pPr algn="l" indent="0" marL="0">
              <a:lnSpc>
                <a:spcPts val="1620"/>
              </a:lnSpc>
              <a:buNone/>
            </a:pPr>
            <a:r>
              <a:rPr lang="en-US" sz="900" dirty="0">
                <a:solidFill>
                  <a:srgbClr val="6B7280"/>
                </a:solidFill>
                <a:latin typeface="Arial" pitchFamily="34" charset="0"/>
                <a:ea typeface="Arial" pitchFamily="34" charset="-122"/>
                <a:cs typeface="Arial" pitchFamily="34" charset="-120"/>
              </a:rPr>
              <a:t>Troubleshooting tips</a:t>
            </a:r>
            <a:endParaRPr lang="en-US" sz="900" dirty="0"/>
          </a:p>
          <a:p>
            <a:pPr algn="l" indent="0" marL="0">
              <a:lnSpc>
                <a:spcPts val="1620"/>
              </a:lnSpc>
              <a:buNone/>
            </a:pPr>
            <a:r>
              <a:rPr lang="en-US" sz="900" dirty="0">
                <a:solidFill>
                  <a:srgbClr val="6B7280"/>
                </a:solidFill>
                <a:latin typeface="Arial" pitchFamily="34" charset="0"/>
                <a:ea typeface="Arial" pitchFamily="34" charset="-122"/>
                <a:cs typeface="Arial" pitchFamily="34" charset="-120"/>
              </a:rPr>
              <a:t>Productivity shortcuts</a:t>
            </a:r>
            <a:endParaRPr lang="en-US" sz="900" dirty="0"/>
          </a:p>
        </p:txBody>
      </p:sp>
      <p:sp>
        <p:nvSpPr>
          <p:cNvPr id="15" name="Text 13"/>
          <p:cNvSpPr/>
          <p:nvPr/>
        </p:nvSpPr>
        <p:spPr>
          <a:xfrm>
            <a:off x="3527375" y="4185047"/>
            <a:ext cx="2111451" cy="146596"/>
          </a:xfrm>
          <a:prstGeom prst="rect">
            <a:avLst/>
          </a:prstGeom>
          <a:noFill/>
          <a:ln/>
        </p:spPr>
        <p:txBody>
          <a:bodyPr wrap="square" lIns="0" tIns="0" rIns="0" bIns="0" rtlCol="0" anchor="t"/>
          <a:lstStyle/>
          <a:p>
            <a:pPr algn="l" indent="0" marL="0">
              <a:lnSpc>
                <a:spcPts val="1155"/>
              </a:lnSpc>
              <a:buNone/>
            </a:pPr>
            <a:r>
              <a:rPr lang="en-US" sz="825" dirty="0">
                <a:solidFill>
                  <a:srgbClr val="9CA3AF"/>
                </a:solidFill>
                <a:latin typeface="Arial" pitchFamily="34" charset="0"/>
                <a:ea typeface="Arial" pitchFamily="34" charset="-122"/>
                <a:cs typeface="Arial" pitchFamily="34" charset="-120"/>
              </a:rPr>
              <a:t>90 minutes</a:t>
            </a:r>
            <a:endParaRPr lang="en-US" sz="825" dirty="0"/>
          </a:p>
        </p:txBody>
      </p:sp>
      <p:sp>
        <p:nvSpPr>
          <p:cNvPr id="16" name="Text 14"/>
          <p:cNvSpPr/>
          <p:nvPr/>
        </p:nvSpPr>
        <p:spPr>
          <a:xfrm>
            <a:off x="6064151" y="1406128"/>
            <a:ext cx="2622500" cy="3201739"/>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7" name="Text 15"/>
          <p:cNvSpPr/>
          <p:nvPr/>
        </p:nvSpPr>
        <p:spPr>
          <a:xfrm>
            <a:off x="6340376" y="1682353"/>
            <a:ext cx="2111451" cy="639961"/>
          </a:xfrm>
          <a:prstGeom prst="rect">
            <a:avLst/>
          </a:prstGeom>
          <a:noFill/>
          <a:ln/>
        </p:spPr>
        <p:txBody>
          <a:bodyPr wrap="square" lIns="0" tIns="0" rIns="0" bIns="0" rtlCol="0" anchor="t"/>
          <a:lstStyle/>
          <a:p>
            <a:pPr algn="l" indent="0" marL="0">
              <a:lnSpc>
                <a:spcPts val="5040"/>
              </a:lnSpc>
              <a:spcAft>
                <a:spcPts val="300"/>
              </a:spcAft>
              <a:buNone/>
            </a:pPr>
            <a:r>
              <a:rPr lang="en-US" sz="3600" dirty="0">
                <a:solidFill>
                  <a:srgbClr val="C9A227"/>
                </a:solidFill>
                <a:latin typeface="Georgia" pitchFamily="34" charset="0"/>
                <a:ea typeface="Georgia" pitchFamily="34" charset="-122"/>
                <a:cs typeface="Georgia" pitchFamily="34" charset="-120"/>
              </a:rPr>
              <a:t>03</a:t>
            </a:r>
            <a:endParaRPr lang="en-US" sz="3600" dirty="0"/>
          </a:p>
        </p:txBody>
      </p:sp>
      <p:sp>
        <p:nvSpPr>
          <p:cNvPr id="18" name="Text 16"/>
          <p:cNvSpPr/>
          <p:nvPr/>
        </p:nvSpPr>
        <p:spPr>
          <a:xfrm>
            <a:off x="6340376" y="2512814"/>
            <a:ext cx="2111451" cy="239911"/>
          </a:xfrm>
          <a:prstGeom prst="rect">
            <a:avLst/>
          </a:prstGeom>
          <a:noFill/>
          <a:ln/>
        </p:spPr>
        <p:txBody>
          <a:bodyPr wrap="square" lIns="0" tIns="0" rIns="0" bIns="0" rtlCol="0" anchor="t"/>
          <a:lstStyle/>
          <a:p>
            <a:pPr algn="l" indent="0" marL="0">
              <a:lnSpc>
                <a:spcPts val="1890"/>
              </a:lnSpc>
              <a:spcAft>
                <a:spcPts val="1200"/>
              </a:spcAft>
              <a:buNone/>
            </a:pPr>
            <a:r>
              <a:rPr lang="en-US" sz="1350" dirty="0">
                <a:solidFill>
                  <a:srgbClr val="1A1F2E"/>
                </a:solidFill>
                <a:latin typeface="Georgia" pitchFamily="34" charset="0"/>
                <a:ea typeface="Georgia" pitchFamily="34" charset="-122"/>
                <a:cs typeface="Georgia" pitchFamily="34" charset="-120"/>
              </a:rPr>
              <a:t>Build a Transcriber</a:t>
            </a:r>
            <a:endParaRPr lang="en-US" sz="1350" dirty="0"/>
          </a:p>
        </p:txBody>
      </p:sp>
      <p:sp>
        <p:nvSpPr>
          <p:cNvPr id="19" name="Text 17"/>
          <p:cNvSpPr/>
          <p:nvPr/>
        </p:nvSpPr>
        <p:spPr>
          <a:xfrm>
            <a:off x="6340376" y="3057525"/>
            <a:ext cx="2111451" cy="822722"/>
          </a:xfrm>
          <a:prstGeom prst="rect">
            <a:avLst/>
          </a:prstGeom>
          <a:noFill/>
          <a:ln/>
        </p:spPr>
        <p:txBody>
          <a:bodyPr wrap="square" lIns="0" tIns="0" rIns="0" bIns="0" rtlCol="0" anchor="t"/>
          <a:lstStyle/>
          <a:p>
            <a:pPr algn="l" indent="0" marL="0">
              <a:lnSpc>
                <a:spcPts val="1620"/>
              </a:lnSpc>
              <a:buNone/>
            </a:pPr>
            <a:r>
              <a:rPr lang="en-US" sz="900" dirty="0">
                <a:solidFill>
                  <a:srgbClr val="6B7280"/>
                </a:solidFill>
                <a:latin typeface="Arial" pitchFamily="34" charset="0"/>
                <a:ea typeface="Arial" pitchFamily="34" charset="-122"/>
                <a:cs typeface="Arial" pitchFamily="34" charset="-120"/>
              </a:rPr>
              <a:t>End-to-end project</a:t>
            </a:r>
            <a:endParaRPr lang="en-US" sz="900" dirty="0"/>
          </a:p>
          <a:p>
            <a:pPr algn="l" indent="0" marL="0">
              <a:lnSpc>
                <a:spcPts val="1620"/>
              </a:lnSpc>
              <a:buNone/>
            </a:pPr>
            <a:r>
              <a:rPr lang="en-US" sz="900" dirty="0">
                <a:solidFill>
                  <a:srgbClr val="6B7280"/>
                </a:solidFill>
                <a:latin typeface="Arial" pitchFamily="34" charset="0"/>
                <a:ea typeface="Arial" pitchFamily="34" charset="-122"/>
                <a:cs typeface="Arial" pitchFamily="34" charset="-120"/>
              </a:rPr>
              <a:t>Meeting transcription app</a:t>
            </a:r>
            <a:endParaRPr lang="en-US" sz="900" dirty="0"/>
          </a:p>
          <a:p>
            <a:pPr algn="l" indent="0" marL="0">
              <a:lnSpc>
                <a:spcPts val="1620"/>
              </a:lnSpc>
              <a:buNone/>
            </a:pPr>
            <a:r>
              <a:rPr lang="en-US" sz="900" dirty="0">
                <a:solidFill>
                  <a:srgbClr val="6B7280"/>
                </a:solidFill>
                <a:latin typeface="Arial" pitchFamily="34" charset="0"/>
                <a:ea typeface="Arial" pitchFamily="34" charset="-122"/>
                <a:cs typeface="Arial" pitchFamily="34" charset="-120"/>
              </a:rPr>
              <a:t>Voice-driven development</a:t>
            </a:r>
            <a:endParaRPr lang="en-US" sz="900" dirty="0"/>
          </a:p>
          <a:p>
            <a:pPr algn="l" indent="0" marL="0">
              <a:lnSpc>
                <a:spcPts val="1620"/>
              </a:lnSpc>
              <a:buNone/>
            </a:pPr>
            <a:r>
              <a:rPr lang="en-US" sz="900" dirty="0">
                <a:solidFill>
                  <a:srgbClr val="6B7280"/>
                </a:solidFill>
                <a:latin typeface="Arial" pitchFamily="34" charset="0"/>
                <a:ea typeface="Arial" pitchFamily="34" charset="-122"/>
                <a:cs typeface="Arial" pitchFamily="34" charset="-120"/>
              </a:rPr>
              <a:t>Deploy and share</a:t>
            </a:r>
            <a:endParaRPr lang="en-US" sz="900" dirty="0"/>
          </a:p>
        </p:txBody>
      </p:sp>
      <p:sp>
        <p:nvSpPr>
          <p:cNvPr id="20" name="Text 18"/>
          <p:cNvSpPr/>
          <p:nvPr/>
        </p:nvSpPr>
        <p:spPr>
          <a:xfrm>
            <a:off x="6340376" y="4185047"/>
            <a:ext cx="2111451" cy="146596"/>
          </a:xfrm>
          <a:prstGeom prst="rect">
            <a:avLst/>
          </a:prstGeom>
          <a:noFill/>
          <a:ln/>
        </p:spPr>
        <p:txBody>
          <a:bodyPr wrap="square" lIns="0" tIns="0" rIns="0" bIns="0" rtlCol="0" anchor="t"/>
          <a:lstStyle/>
          <a:p>
            <a:pPr algn="l" indent="0" marL="0">
              <a:lnSpc>
                <a:spcPts val="1155"/>
              </a:lnSpc>
              <a:buNone/>
            </a:pPr>
            <a:r>
              <a:rPr lang="en-US" sz="825" dirty="0">
                <a:solidFill>
                  <a:srgbClr val="9CA3AF"/>
                </a:solidFill>
                <a:latin typeface="Arial" pitchFamily="34" charset="0"/>
                <a:ea typeface="Arial" pitchFamily="34" charset="-122"/>
                <a:cs typeface="Arial" pitchFamily="34" charset="-120"/>
              </a:rPr>
              <a:t>90 minutes</a:t>
            </a:r>
            <a:endParaRPr lang="en-US" sz="82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4943475" cy="5143500"/>
          </a:xfrm>
          <a:prstGeom prst="rect">
            <a:avLst/>
          </a:prstGeom>
          <a:solidFill>
            <a:srgbClr val="1A1F2E"/>
          </a:solidFill>
          <a:ln/>
        </p:spPr>
        <p:txBody>
          <a:bodyPr wrap="square" rtlCol="0" anchor="ctr"/>
          <a:lstStyle/>
          <a:p>
            <a:pPr indent="0" marL="0">
              <a:buNone/>
            </a:pPr>
            <a:endParaRPr lang="en-US" dirty="0"/>
          </a:p>
        </p:txBody>
      </p:sp>
      <p:sp>
        <p:nvSpPr>
          <p:cNvPr id="3" name="Text 1"/>
          <p:cNvSpPr/>
          <p:nvPr/>
        </p:nvSpPr>
        <p:spPr>
          <a:xfrm>
            <a:off x="457200" y="1119188"/>
            <a:ext cx="4109657" cy="487561"/>
          </a:xfrm>
          <a:prstGeom prst="rect">
            <a:avLst/>
          </a:prstGeom>
          <a:noFill/>
          <a:ln/>
        </p:spPr>
        <p:txBody>
          <a:bodyPr wrap="square" lIns="0" tIns="0" rIns="0" bIns="0" rtlCol="0" anchor="t"/>
          <a:lstStyle/>
          <a:p>
            <a:pPr algn="l" indent="0" marL="0">
              <a:lnSpc>
                <a:spcPts val="3840"/>
              </a:lnSpc>
              <a:buNone/>
            </a:pPr>
            <a:r>
              <a:rPr lang="en-US" sz="4800" dirty="0">
                <a:solidFill>
                  <a:srgbClr val="C9A227"/>
                </a:solidFill>
                <a:latin typeface="Georgia" pitchFamily="34" charset="0"/>
                <a:ea typeface="Georgia" pitchFamily="34" charset="-122"/>
                <a:cs typeface="Georgia" pitchFamily="34" charset="-120"/>
              </a:rPr>
              <a:t>"</a:t>
            </a:r>
            <a:endParaRPr lang="en-US" sz="4800" dirty="0"/>
          </a:p>
        </p:txBody>
      </p:sp>
      <p:sp>
        <p:nvSpPr>
          <p:cNvPr id="4" name="Text 2"/>
          <p:cNvSpPr/>
          <p:nvPr/>
        </p:nvSpPr>
        <p:spPr>
          <a:xfrm>
            <a:off x="457200" y="1759148"/>
            <a:ext cx="4109657" cy="628650"/>
          </a:xfrm>
          <a:prstGeom prst="rect">
            <a:avLst/>
          </a:prstGeom>
          <a:noFill/>
          <a:ln/>
        </p:spPr>
        <p:txBody>
          <a:bodyPr wrap="square" lIns="0" tIns="0" rIns="0" bIns="0" rtlCol="0" anchor="t"/>
          <a:lstStyle/>
          <a:p>
            <a:pPr algn="l" indent="0" marL="0">
              <a:lnSpc>
                <a:spcPts val="2475"/>
              </a:lnSpc>
              <a:spcAft>
                <a:spcPts val="1800"/>
              </a:spcAft>
              <a:buNone/>
            </a:pPr>
            <a:r>
              <a:rPr lang="en-US" sz="1650" i="1" dirty="0">
                <a:solidFill>
                  <a:srgbClr val="FFFFFF"/>
                </a:solidFill>
                <a:latin typeface="Georgia" pitchFamily="34" charset="0"/>
                <a:ea typeface="Georgia" pitchFamily="34" charset="-122"/>
                <a:cs typeface="Georgia" pitchFamily="34" charset="-120"/>
              </a:rPr>
              <a:t>The keyboard is a bottleneck between your thoughts and your code.</a:t>
            </a:r>
            <a:endParaRPr lang="en-US" sz="1650" dirty="0"/>
          </a:p>
        </p:txBody>
      </p:sp>
      <p:sp>
        <p:nvSpPr>
          <p:cNvPr id="5" name="Text 3"/>
          <p:cNvSpPr/>
          <p:nvPr/>
        </p:nvSpPr>
        <p:spPr>
          <a:xfrm>
            <a:off x="457200" y="2768798"/>
            <a:ext cx="4109657" cy="314325"/>
          </a:xfrm>
          <a:prstGeom prst="rect">
            <a:avLst/>
          </a:prstGeom>
          <a:noFill/>
          <a:ln/>
        </p:spPr>
        <p:txBody>
          <a:bodyPr wrap="square" lIns="0" tIns="0" rIns="0" bIns="0" rtlCol="0" anchor="t"/>
          <a:lstStyle/>
          <a:p>
            <a:pPr algn="l" indent="0" marL="0">
              <a:lnSpc>
                <a:spcPts val="2475"/>
              </a:lnSpc>
              <a:spcAft>
                <a:spcPts val="2400"/>
              </a:spcAft>
              <a:buNone/>
            </a:pPr>
            <a:r>
              <a:rPr lang="en-US" sz="1650" i="1" dirty="0">
                <a:solidFill>
                  <a:srgbClr val="FFFFFF"/>
                </a:solidFill>
                <a:latin typeface="Georgia" pitchFamily="34" charset="0"/>
                <a:ea typeface="Georgia" pitchFamily="34" charset="-122"/>
                <a:cs typeface="Georgia" pitchFamily="34" charset="-120"/>
              </a:rPr>
              <a:t>Voice removes that bottleneck.</a:t>
            </a:r>
            <a:endParaRPr lang="en-US" sz="1650" dirty="0"/>
          </a:p>
        </p:txBody>
      </p:sp>
      <p:sp>
        <p:nvSpPr>
          <p:cNvPr id="6" name="Text 4"/>
          <p:cNvSpPr/>
          <p:nvPr/>
        </p:nvSpPr>
        <p:spPr>
          <a:xfrm>
            <a:off x="457200" y="3540323"/>
            <a:ext cx="457200" cy="19050"/>
          </a:xfrm>
          <a:prstGeom prst="rect">
            <a:avLst/>
          </a:prstGeom>
          <a:solidFill>
            <a:srgbClr val="C9A227"/>
          </a:solidFill>
          <a:ln/>
        </p:spPr>
        <p:txBody>
          <a:bodyPr wrap="square" rtlCol="0" anchor="ctr"/>
          <a:lstStyle/>
          <a:p>
            <a:pPr indent="0" marL="0">
              <a:buNone/>
            </a:pPr>
            <a:endParaRPr lang="en-US" dirty="0"/>
          </a:p>
        </p:txBody>
      </p:sp>
      <p:sp>
        <p:nvSpPr>
          <p:cNvPr id="7" name="Text 5"/>
          <p:cNvSpPr/>
          <p:nvPr/>
        </p:nvSpPr>
        <p:spPr>
          <a:xfrm>
            <a:off x="457200" y="3864173"/>
            <a:ext cx="4109657" cy="159990"/>
          </a:xfrm>
          <a:prstGeom prst="rect">
            <a:avLst/>
          </a:prstGeom>
          <a:noFill/>
          <a:ln/>
        </p:spPr>
        <p:txBody>
          <a:bodyPr wrap="square" lIns="0" tIns="0" rIns="0" bIns="0" rtlCol="0" anchor="t"/>
          <a:lstStyle/>
          <a:p>
            <a:pPr algn="l" indent="0" marL="0">
              <a:lnSpc>
                <a:spcPts val="1260"/>
              </a:lnSpc>
              <a:buNone/>
            </a:pPr>
            <a:r>
              <a:rPr lang="en-US" sz="900" dirty="0">
                <a:solidFill>
                  <a:srgbClr val="FFFFFF">
                    <a:alpha val="50000"/>
                  </a:srgbClr>
                </a:solidFill>
                <a:latin typeface="Arial" pitchFamily="34" charset="0"/>
                <a:ea typeface="Arial" pitchFamily="34" charset="-122"/>
                <a:cs typeface="Arial" pitchFamily="34" charset="-120"/>
              </a:rPr>
              <a:t>Voice-Driven AI Toolkit Research</a:t>
            </a:r>
            <a:endParaRPr lang="en-US" sz="900" dirty="0"/>
          </a:p>
        </p:txBody>
      </p:sp>
      <p:sp>
        <p:nvSpPr>
          <p:cNvPr id="8" name="Text 6"/>
          <p:cNvSpPr/>
          <p:nvPr/>
        </p:nvSpPr>
        <p:spPr>
          <a:xfrm>
            <a:off x="5095875" y="0"/>
            <a:ext cx="4048125" cy="5143500"/>
          </a:xfrm>
          <a:prstGeom prst="rect">
            <a:avLst/>
          </a:prstGeom>
          <a:solidFill>
            <a:srgbClr val="F7F8FA"/>
          </a:solidFill>
          <a:ln/>
        </p:spPr>
        <p:txBody>
          <a:bodyPr wrap="square" rtlCol="0" anchor="ctr"/>
          <a:lstStyle/>
          <a:p>
            <a:pPr indent="0" marL="0">
              <a:buNone/>
            </a:pPr>
            <a:endParaRPr lang="en-US" dirty="0"/>
          </a:p>
        </p:txBody>
      </p:sp>
      <p:sp>
        <p:nvSpPr>
          <p:cNvPr id="9" name="Text 7"/>
          <p:cNvSpPr/>
          <p:nvPr/>
        </p:nvSpPr>
        <p:spPr>
          <a:xfrm>
            <a:off x="5553075" y="922139"/>
            <a:ext cx="3196400" cy="685800"/>
          </a:xfrm>
          <a:prstGeom prst="rect">
            <a:avLst/>
          </a:prstGeom>
          <a:noFill/>
          <a:ln/>
        </p:spPr>
        <p:txBody>
          <a:bodyPr wrap="square" lIns="0" tIns="0" rIns="0" bIns="0" rtlCol="0" anchor="t"/>
          <a:lstStyle/>
          <a:p>
            <a:pPr algn="l" indent="0" marL="0">
              <a:lnSpc>
                <a:spcPts val="5400"/>
              </a:lnSpc>
              <a:buNone/>
            </a:pPr>
            <a:r>
              <a:rPr lang="en-US" sz="5400" dirty="0">
                <a:solidFill>
                  <a:srgbClr val="C9A227"/>
                </a:solidFill>
                <a:latin typeface="Georgia" pitchFamily="34" charset="0"/>
                <a:ea typeface="Georgia" pitchFamily="34" charset="-122"/>
                <a:cs typeface="Georgia" pitchFamily="34" charset="-120"/>
              </a:rPr>
              <a:t>150</a:t>
            </a:r>
            <a:endParaRPr lang="en-US" sz="5400" dirty="0"/>
          </a:p>
        </p:txBody>
      </p:sp>
      <p:sp>
        <p:nvSpPr>
          <p:cNvPr id="10" name="Text 8"/>
          <p:cNvSpPr/>
          <p:nvPr/>
        </p:nvSpPr>
        <p:spPr>
          <a:xfrm>
            <a:off x="5553075" y="1646039"/>
            <a:ext cx="3196400" cy="186630"/>
          </a:xfrm>
          <a:prstGeom prst="rect">
            <a:avLst/>
          </a:prstGeom>
          <a:noFill/>
          <a:ln/>
        </p:spPr>
        <p:txBody>
          <a:bodyPr wrap="square" lIns="0" tIns="0" rIns="0" bIns="0" rtlCol="0" anchor="t"/>
          <a:lstStyle/>
          <a:p>
            <a:pPr algn="l" indent="0" marL="0">
              <a:lnSpc>
                <a:spcPts val="1470"/>
              </a:lnSpc>
              <a:spcBef>
                <a:spcPts val="300"/>
              </a:spcBef>
              <a:buNone/>
            </a:pPr>
            <a:r>
              <a:rPr lang="en-US" sz="1050" dirty="0">
                <a:solidFill>
                  <a:srgbClr val="1A1F2E"/>
                </a:solidFill>
                <a:latin typeface="Arial" pitchFamily="34" charset="0"/>
                <a:ea typeface="Arial" pitchFamily="34" charset="-122"/>
                <a:cs typeface="Arial" pitchFamily="34" charset="-120"/>
              </a:rPr>
              <a:t>words per minute speaking</a:t>
            </a:r>
            <a:endParaRPr lang="en-US" sz="1050" dirty="0"/>
          </a:p>
        </p:txBody>
      </p:sp>
      <p:sp>
        <p:nvSpPr>
          <p:cNvPr id="11" name="Text 9"/>
          <p:cNvSpPr/>
          <p:nvPr/>
        </p:nvSpPr>
        <p:spPr>
          <a:xfrm>
            <a:off x="5553075" y="2137470"/>
            <a:ext cx="3133725" cy="9525"/>
          </a:xfrm>
          <a:prstGeom prst="rect">
            <a:avLst/>
          </a:prstGeom>
          <a:solidFill>
            <a:srgbClr val="E4E7ED"/>
          </a:solidFill>
          <a:ln/>
        </p:spPr>
        <p:txBody>
          <a:bodyPr wrap="square" rtlCol="0" anchor="ctr"/>
          <a:lstStyle/>
          <a:p>
            <a:pPr indent="0" marL="0">
              <a:buNone/>
            </a:pPr>
            <a:endParaRPr lang="en-US" dirty="0"/>
          </a:p>
        </p:txBody>
      </p:sp>
      <p:sp>
        <p:nvSpPr>
          <p:cNvPr id="12" name="Text 10"/>
          <p:cNvSpPr/>
          <p:nvPr/>
        </p:nvSpPr>
        <p:spPr>
          <a:xfrm>
            <a:off x="5553075" y="2451795"/>
            <a:ext cx="3196400" cy="685800"/>
          </a:xfrm>
          <a:prstGeom prst="rect">
            <a:avLst/>
          </a:prstGeom>
          <a:noFill/>
          <a:ln/>
        </p:spPr>
        <p:txBody>
          <a:bodyPr wrap="square" lIns="0" tIns="0" rIns="0" bIns="0" rtlCol="0" anchor="t"/>
          <a:lstStyle/>
          <a:p>
            <a:pPr algn="l" indent="0" marL="0">
              <a:lnSpc>
                <a:spcPts val="5400"/>
              </a:lnSpc>
              <a:buNone/>
            </a:pPr>
            <a:r>
              <a:rPr lang="en-US" sz="5400" dirty="0">
                <a:solidFill>
                  <a:srgbClr val="6B7280"/>
                </a:solidFill>
                <a:latin typeface="Georgia" pitchFamily="34" charset="0"/>
                <a:ea typeface="Georgia" pitchFamily="34" charset="-122"/>
                <a:cs typeface="Georgia" pitchFamily="34" charset="-120"/>
              </a:rPr>
              <a:t>40</a:t>
            </a:r>
            <a:endParaRPr lang="en-US" sz="5400" dirty="0"/>
          </a:p>
        </p:txBody>
      </p:sp>
      <p:sp>
        <p:nvSpPr>
          <p:cNvPr id="13" name="Text 11"/>
          <p:cNvSpPr/>
          <p:nvPr/>
        </p:nvSpPr>
        <p:spPr>
          <a:xfrm>
            <a:off x="5553075" y="3175695"/>
            <a:ext cx="3196400" cy="186630"/>
          </a:xfrm>
          <a:prstGeom prst="rect">
            <a:avLst/>
          </a:prstGeom>
          <a:noFill/>
          <a:ln/>
        </p:spPr>
        <p:txBody>
          <a:bodyPr wrap="square" lIns="0" tIns="0" rIns="0" bIns="0" rtlCol="0" anchor="t"/>
          <a:lstStyle/>
          <a:p>
            <a:pPr algn="l" indent="0" marL="0">
              <a:lnSpc>
                <a:spcPts val="1470"/>
              </a:lnSpc>
              <a:spcBef>
                <a:spcPts val="300"/>
              </a:spcBef>
              <a:buNone/>
            </a:pPr>
            <a:r>
              <a:rPr lang="en-US" sz="1050" dirty="0">
                <a:solidFill>
                  <a:srgbClr val="6B7280"/>
                </a:solidFill>
                <a:latin typeface="Arial" pitchFamily="34" charset="0"/>
                <a:ea typeface="Arial" pitchFamily="34" charset="-122"/>
                <a:cs typeface="Arial" pitchFamily="34" charset="-120"/>
              </a:rPr>
              <a:t>words per minute typing</a:t>
            </a:r>
            <a:endParaRPr lang="en-US" sz="1050" dirty="0"/>
          </a:p>
        </p:txBody>
      </p:sp>
      <p:sp>
        <p:nvSpPr>
          <p:cNvPr id="14" name="Text 12"/>
          <p:cNvSpPr/>
          <p:nvPr/>
        </p:nvSpPr>
        <p:spPr>
          <a:xfrm>
            <a:off x="5553075" y="3743325"/>
            <a:ext cx="3133725" cy="478036"/>
          </a:xfrm>
          <a:prstGeom prst="rect">
            <a:avLst/>
          </a:prstGeom>
          <a:solidFill>
            <a:srgbClr val="1A1F2E"/>
          </a:solidFill>
          <a:ln/>
        </p:spPr>
        <p:txBody>
          <a:bodyPr wrap="square" rtlCol="0" anchor="ctr"/>
          <a:lstStyle/>
          <a:p>
            <a:pPr indent="0" marL="0">
              <a:buNone/>
            </a:pPr>
            <a:endParaRPr lang="en-US" dirty="0"/>
          </a:p>
        </p:txBody>
      </p:sp>
      <p:sp>
        <p:nvSpPr>
          <p:cNvPr id="15" name="Text 13"/>
          <p:cNvSpPr/>
          <p:nvPr/>
        </p:nvSpPr>
        <p:spPr>
          <a:xfrm>
            <a:off x="5716048" y="3895725"/>
            <a:ext cx="2807779" cy="173236"/>
          </a:xfrm>
          <a:prstGeom prst="rect">
            <a:avLst/>
          </a:prstGeom>
          <a:noFill/>
          <a:ln/>
        </p:spPr>
        <p:txBody>
          <a:bodyPr wrap="square" lIns="0" tIns="0" rIns="0" bIns="0" rtlCol="0" anchor="t"/>
          <a:lstStyle/>
          <a:p>
            <a:pPr algn="ctr" indent="0" marL="0">
              <a:lnSpc>
                <a:spcPts val="1365"/>
              </a:lnSpc>
              <a:buNone/>
            </a:pPr>
            <a:r>
              <a:rPr lang="en-US" sz="975" dirty="0">
                <a:solidFill>
                  <a:srgbClr val="FFFFFF"/>
                </a:solidFill>
                <a:latin typeface="Arial" pitchFamily="34" charset="0"/>
                <a:ea typeface="Arial" pitchFamily="34" charset="-122"/>
                <a:cs typeface="Arial" pitchFamily="34" charset="-120"/>
              </a:rPr>
              <a:t>Work at the speed of thought</a:t>
            </a:r>
            <a:endParaRPr lang="en-US" sz="9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F2E"/>
        </a:solidFill>
      </p:bgPr>
    </p:bg>
    <p:spTree>
      <p:nvGrpSpPr>
        <p:cNvPr id="1" name=""/>
        <p:cNvGrpSpPr/>
        <p:nvPr/>
      </p:nvGrpSpPr>
      <p:grpSpPr>
        <a:xfrm>
          <a:off x="0" y="0"/>
          <a:ext cx="0" cy="0"/>
          <a:chOff x="0" y="0"/>
          <a:chExt cx="0" cy="0"/>
        </a:xfrm>
      </p:grpSpPr>
      <p:sp>
        <p:nvSpPr>
          <p:cNvPr id="2" name="Text 0"/>
          <p:cNvSpPr/>
          <p:nvPr/>
        </p:nvSpPr>
        <p:spPr>
          <a:xfrm>
            <a:off x="457200" y="342900"/>
            <a:ext cx="8394192" cy="146596"/>
          </a:xfrm>
          <a:prstGeom prst="rect">
            <a:avLst/>
          </a:prstGeom>
          <a:noFill/>
          <a:ln/>
        </p:spPr>
        <p:txBody>
          <a:bodyPr wrap="square" lIns="0" tIns="0" rIns="0" bIns="0" rtlCol="0" anchor="t"/>
          <a:lstStyle/>
          <a:p>
            <a:pPr algn="l" indent="0" marL="0">
              <a:lnSpc>
                <a:spcPts val="1155"/>
              </a:lnSpc>
              <a:spcAft>
                <a:spcPts val="600"/>
              </a:spcAft>
              <a:buNone/>
            </a:pPr>
            <a:r>
              <a:rPr lang="en-US" sz="825" dirty="0">
                <a:solidFill>
                  <a:srgbClr val="C9A227"/>
                </a:solidFill>
                <a:latin typeface="Arial" pitchFamily="34" charset="0"/>
                <a:ea typeface="Arial" pitchFamily="34" charset="-122"/>
                <a:cs typeface="Arial" pitchFamily="34" charset="-120"/>
              </a:rPr>
              <a:t>WHY IT MATTERS</a:t>
            </a:r>
            <a:endParaRPr lang="en-US" sz="825" dirty="0"/>
          </a:p>
        </p:txBody>
      </p:sp>
      <p:sp>
        <p:nvSpPr>
          <p:cNvPr id="3" name="Text 1"/>
          <p:cNvSpPr/>
          <p:nvPr/>
        </p:nvSpPr>
        <p:spPr>
          <a:xfrm>
            <a:off x="457200" y="565696"/>
            <a:ext cx="4206812" cy="342900"/>
          </a:xfrm>
          <a:prstGeom prst="rect">
            <a:avLst/>
          </a:prstGeom>
          <a:noFill/>
          <a:ln/>
        </p:spPr>
        <p:txBody>
          <a:bodyPr wrap="square" lIns="0" tIns="0" rIns="0" bIns="0" rtlCol="0" anchor="t"/>
          <a:lstStyle/>
          <a:p>
            <a:pPr algn="l" indent="0" marL="0">
              <a:lnSpc>
                <a:spcPts val="2700"/>
              </a:lnSpc>
              <a:buNone/>
            </a:pPr>
            <a:r>
              <a:rPr lang="en-US" sz="2700" dirty="0">
                <a:solidFill>
                  <a:srgbClr val="FFFFFF"/>
                </a:solidFill>
                <a:latin typeface="Georgia" pitchFamily="34" charset="0"/>
                <a:ea typeface="Georgia" pitchFamily="34" charset="-122"/>
                <a:cs typeface="Georgia" pitchFamily="34" charset="-120"/>
              </a:rPr>
              <a:t>Key Benefits</a:t>
            </a:r>
            <a:endParaRPr lang="en-US" sz="2700" dirty="0"/>
          </a:p>
        </p:txBody>
      </p:sp>
      <p:sp>
        <p:nvSpPr>
          <p:cNvPr id="4" name="Text 2"/>
          <p:cNvSpPr/>
          <p:nvPr/>
        </p:nvSpPr>
        <p:spPr>
          <a:xfrm>
            <a:off x="457200" y="1942207"/>
            <a:ext cx="1943100" cy="2205633"/>
          </a:xfrm>
          <a:prstGeom prst="rect">
            <a:avLst/>
          </a:prstGeom>
          <a:solidFill>
            <a:srgbClr val="252B3D"/>
          </a:solidFill>
          <a:ln/>
        </p:spPr>
        <p:txBody>
          <a:bodyPr wrap="square" rtlCol="0" anchor="ctr"/>
          <a:lstStyle/>
          <a:p>
            <a:pPr indent="0" marL="0">
              <a:buNone/>
            </a:pPr>
            <a:endParaRPr lang="en-US" dirty="0"/>
          </a:p>
        </p:txBody>
      </p:sp>
      <p:sp>
        <p:nvSpPr>
          <p:cNvPr id="5" name="Text 3"/>
          <p:cNvSpPr/>
          <p:nvPr/>
        </p:nvSpPr>
        <p:spPr>
          <a:xfrm>
            <a:off x="685800" y="2170807"/>
            <a:ext cx="381000" cy="381000"/>
          </a:xfrm>
          <a:prstGeom prst="rect">
            <a:avLst/>
          </a:prstGeom>
          <a:solidFill>
            <a:srgbClr val="C9A227"/>
          </a:solidFill>
          <a:ln/>
        </p:spPr>
        <p:txBody>
          <a:bodyPr wrap="square" rtlCol="0" anchor="ctr"/>
          <a:lstStyle/>
          <a:p>
            <a:pPr indent="0" marL="0">
              <a:buNone/>
            </a:pPr>
            <a:endParaRPr lang="en-US" dirty="0"/>
          </a:p>
        </p:txBody>
      </p:sp>
      <p:sp>
        <p:nvSpPr>
          <p:cNvPr id="6" name="Text 4"/>
          <p:cNvSpPr/>
          <p:nvPr/>
        </p:nvSpPr>
        <p:spPr>
          <a:xfrm>
            <a:off x="770334" y="2227957"/>
            <a:ext cx="216170" cy="266700"/>
          </a:xfrm>
          <a:prstGeom prst="rect">
            <a:avLst/>
          </a:prstGeom>
          <a:noFill/>
          <a:ln/>
        </p:spPr>
        <p:txBody>
          <a:bodyPr wrap="square" lIns="0" tIns="0" rIns="0" bIns="0" rtlCol="0" anchor="t"/>
          <a:lstStyle/>
          <a:p>
            <a:pPr algn="l" indent="0" marL="0">
              <a:lnSpc>
                <a:spcPts val="2100"/>
              </a:lnSpc>
              <a:buNone/>
            </a:pPr>
            <a:r>
              <a:rPr lang="en-US" sz="1500" dirty="0">
                <a:solidFill>
                  <a:srgbClr val="1A1F2E"/>
                </a:solidFill>
                <a:latin typeface="Arial" pitchFamily="34" charset="0"/>
                <a:ea typeface="Arial" pitchFamily="34" charset="-122"/>
                <a:cs typeface="Arial" pitchFamily="34" charset="-120"/>
              </a:rPr>
              <a:t>01</a:t>
            </a:r>
            <a:endParaRPr lang="en-US" sz="1500" dirty="0"/>
          </a:p>
        </p:txBody>
      </p:sp>
      <p:sp>
        <p:nvSpPr>
          <p:cNvPr id="7" name="Text 5"/>
          <p:cNvSpPr/>
          <p:nvPr/>
        </p:nvSpPr>
        <p:spPr>
          <a:xfrm>
            <a:off x="685800" y="2856607"/>
            <a:ext cx="1515618" cy="213271"/>
          </a:xfrm>
          <a:prstGeom prst="rect">
            <a:avLst/>
          </a:prstGeom>
          <a:noFill/>
          <a:ln/>
        </p:spPr>
        <p:txBody>
          <a:bodyPr wrap="square" lIns="0" tIns="0" rIns="0" bIns="0" rtlCol="0" anchor="t"/>
          <a:lstStyle/>
          <a:p>
            <a:pPr algn="l" indent="0" marL="0">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Ergonomic</a:t>
            </a:r>
            <a:endParaRPr lang="en-US" sz="1200" dirty="0"/>
          </a:p>
        </p:txBody>
      </p:sp>
      <p:sp>
        <p:nvSpPr>
          <p:cNvPr id="8" name="Text 6"/>
          <p:cNvSpPr/>
          <p:nvPr/>
        </p:nvSpPr>
        <p:spPr>
          <a:xfrm>
            <a:off x="685800" y="3336578"/>
            <a:ext cx="1515618" cy="582662"/>
          </a:xfrm>
          <a:prstGeom prst="rect">
            <a:avLst/>
          </a:prstGeom>
          <a:noFill/>
          <a:ln/>
        </p:spPr>
        <p:txBody>
          <a:bodyPr wrap="square" lIns="0" tIns="0" rIns="0" bIns="0" rtlCol="0" anchor="t"/>
          <a:lstStyle/>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RSI prevention</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Reduced physical strain</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Accessibility support</a:t>
            </a:r>
            <a:endParaRPr lang="en-US" sz="900" dirty="0"/>
          </a:p>
        </p:txBody>
      </p:sp>
      <p:sp>
        <p:nvSpPr>
          <p:cNvPr id="9" name="Text 7"/>
          <p:cNvSpPr/>
          <p:nvPr/>
        </p:nvSpPr>
        <p:spPr>
          <a:xfrm>
            <a:off x="2552700" y="1942207"/>
            <a:ext cx="1943100" cy="2205633"/>
          </a:xfrm>
          <a:prstGeom prst="rect">
            <a:avLst/>
          </a:prstGeom>
          <a:solidFill>
            <a:srgbClr val="252B3D"/>
          </a:solidFill>
          <a:ln/>
        </p:spPr>
        <p:txBody>
          <a:bodyPr wrap="square" rtlCol="0" anchor="ctr"/>
          <a:lstStyle/>
          <a:p>
            <a:pPr indent="0" marL="0">
              <a:buNone/>
            </a:pPr>
            <a:endParaRPr lang="en-US" dirty="0"/>
          </a:p>
        </p:txBody>
      </p:sp>
      <p:sp>
        <p:nvSpPr>
          <p:cNvPr id="10" name="Text 8"/>
          <p:cNvSpPr/>
          <p:nvPr/>
        </p:nvSpPr>
        <p:spPr>
          <a:xfrm>
            <a:off x="2781300" y="2170807"/>
            <a:ext cx="381000" cy="381000"/>
          </a:xfrm>
          <a:prstGeom prst="rect">
            <a:avLst/>
          </a:prstGeom>
          <a:solidFill>
            <a:srgbClr val="C9A227"/>
          </a:solidFill>
          <a:ln/>
        </p:spPr>
        <p:txBody>
          <a:bodyPr wrap="square" rtlCol="0" anchor="ctr"/>
          <a:lstStyle/>
          <a:p>
            <a:pPr indent="0" marL="0">
              <a:buNone/>
            </a:pPr>
            <a:endParaRPr lang="en-US" dirty="0"/>
          </a:p>
        </p:txBody>
      </p:sp>
      <p:sp>
        <p:nvSpPr>
          <p:cNvPr id="11" name="Text 9"/>
          <p:cNvSpPr/>
          <p:nvPr/>
        </p:nvSpPr>
        <p:spPr>
          <a:xfrm>
            <a:off x="2865834" y="2227957"/>
            <a:ext cx="216170" cy="266700"/>
          </a:xfrm>
          <a:prstGeom prst="rect">
            <a:avLst/>
          </a:prstGeom>
          <a:noFill/>
          <a:ln/>
        </p:spPr>
        <p:txBody>
          <a:bodyPr wrap="square" lIns="0" tIns="0" rIns="0" bIns="0" rtlCol="0" anchor="t"/>
          <a:lstStyle/>
          <a:p>
            <a:pPr algn="l" indent="0" marL="0">
              <a:lnSpc>
                <a:spcPts val="2100"/>
              </a:lnSpc>
              <a:buNone/>
            </a:pPr>
            <a:r>
              <a:rPr lang="en-US" sz="1500" dirty="0">
                <a:solidFill>
                  <a:srgbClr val="1A1F2E"/>
                </a:solidFill>
                <a:latin typeface="Arial" pitchFamily="34" charset="0"/>
                <a:ea typeface="Arial" pitchFamily="34" charset="-122"/>
                <a:cs typeface="Arial" pitchFamily="34" charset="-120"/>
              </a:rPr>
              <a:t>02</a:t>
            </a:r>
            <a:endParaRPr lang="en-US" sz="1500" dirty="0"/>
          </a:p>
        </p:txBody>
      </p:sp>
      <p:sp>
        <p:nvSpPr>
          <p:cNvPr id="12" name="Text 10"/>
          <p:cNvSpPr/>
          <p:nvPr/>
        </p:nvSpPr>
        <p:spPr>
          <a:xfrm>
            <a:off x="2781300" y="2856607"/>
            <a:ext cx="1515618" cy="213271"/>
          </a:xfrm>
          <a:prstGeom prst="rect">
            <a:avLst/>
          </a:prstGeom>
          <a:noFill/>
          <a:ln/>
        </p:spPr>
        <p:txBody>
          <a:bodyPr wrap="square" lIns="0" tIns="0" rIns="0" bIns="0" rtlCol="0" anchor="t"/>
          <a:lstStyle/>
          <a:p>
            <a:pPr algn="l" indent="0" marL="0">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Productivity</a:t>
            </a:r>
            <a:endParaRPr lang="en-US" sz="1200" dirty="0"/>
          </a:p>
        </p:txBody>
      </p:sp>
      <p:sp>
        <p:nvSpPr>
          <p:cNvPr id="13" name="Text 11"/>
          <p:cNvSpPr/>
          <p:nvPr/>
        </p:nvSpPr>
        <p:spPr>
          <a:xfrm>
            <a:off x="2781300" y="3336578"/>
            <a:ext cx="1515618" cy="582662"/>
          </a:xfrm>
          <a:prstGeom prst="rect">
            <a:avLst/>
          </a:prstGeom>
          <a:noFill/>
          <a:ln/>
        </p:spPr>
        <p:txBody>
          <a:bodyPr wrap="square" lIns="0" tIns="0" rIns="0" bIns="0" rtlCol="0" anchor="t"/>
          <a:lstStyle/>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Faster iteration cycles</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Speak ideas as you think</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Reduce context switching</a:t>
            </a:r>
            <a:endParaRPr lang="en-US" sz="900" dirty="0"/>
          </a:p>
        </p:txBody>
      </p:sp>
      <p:sp>
        <p:nvSpPr>
          <p:cNvPr id="14" name="Text 12"/>
          <p:cNvSpPr/>
          <p:nvPr/>
        </p:nvSpPr>
        <p:spPr>
          <a:xfrm>
            <a:off x="4648200" y="1942207"/>
            <a:ext cx="1943100" cy="2205633"/>
          </a:xfrm>
          <a:prstGeom prst="rect">
            <a:avLst/>
          </a:prstGeom>
          <a:solidFill>
            <a:srgbClr val="252B3D"/>
          </a:solidFill>
          <a:ln/>
        </p:spPr>
        <p:txBody>
          <a:bodyPr wrap="square" rtlCol="0" anchor="ctr"/>
          <a:lstStyle/>
          <a:p>
            <a:pPr indent="0" marL="0">
              <a:buNone/>
            </a:pPr>
            <a:endParaRPr lang="en-US" dirty="0"/>
          </a:p>
        </p:txBody>
      </p:sp>
      <p:sp>
        <p:nvSpPr>
          <p:cNvPr id="15" name="Text 13"/>
          <p:cNvSpPr/>
          <p:nvPr/>
        </p:nvSpPr>
        <p:spPr>
          <a:xfrm>
            <a:off x="4876800" y="2170807"/>
            <a:ext cx="381000" cy="381000"/>
          </a:xfrm>
          <a:prstGeom prst="rect">
            <a:avLst/>
          </a:prstGeom>
          <a:solidFill>
            <a:srgbClr val="C9A227"/>
          </a:solidFill>
          <a:ln/>
        </p:spPr>
        <p:txBody>
          <a:bodyPr wrap="square" rtlCol="0" anchor="ctr"/>
          <a:lstStyle/>
          <a:p>
            <a:pPr indent="0" marL="0">
              <a:buNone/>
            </a:pPr>
            <a:endParaRPr lang="en-US" dirty="0"/>
          </a:p>
        </p:txBody>
      </p:sp>
      <p:sp>
        <p:nvSpPr>
          <p:cNvPr id="16" name="Text 14"/>
          <p:cNvSpPr/>
          <p:nvPr/>
        </p:nvSpPr>
        <p:spPr>
          <a:xfrm>
            <a:off x="4961334" y="2227957"/>
            <a:ext cx="216170" cy="266700"/>
          </a:xfrm>
          <a:prstGeom prst="rect">
            <a:avLst/>
          </a:prstGeom>
          <a:noFill/>
          <a:ln/>
        </p:spPr>
        <p:txBody>
          <a:bodyPr wrap="square" lIns="0" tIns="0" rIns="0" bIns="0" rtlCol="0" anchor="t"/>
          <a:lstStyle/>
          <a:p>
            <a:pPr algn="l" indent="0" marL="0">
              <a:lnSpc>
                <a:spcPts val="2100"/>
              </a:lnSpc>
              <a:buNone/>
            </a:pPr>
            <a:r>
              <a:rPr lang="en-US" sz="1500" dirty="0">
                <a:solidFill>
                  <a:srgbClr val="1A1F2E"/>
                </a:solidFill>
                <a:latin typeface="Arial" pitchFamily="34" charset="0"/>
                <a:ea typeface="Arial" pitchFamily="34" charset="-122"/>
                <a:cs typeface="Arial" pitchFamily="34" charset="-120"/>
              </a:rPr>
              <a:t>03</a:t>
            </a:r>
            <a:endParaRPr lang="en-US" sz="1500" dirty="0"/>
          </a:p>
        </p:txBody>
      </p:sp>
      <p:sp>
        <p:nvSpPr>
          <p:cNvPr id="17" name="Text 15"/>
          <p:cNvSpPr/>
          <p:nvPr/>
        </p:nvSpPr>
        <p:spPr>
          <a:xfrm>
            <a:off x="4876800" y="2856607"/>
            <a:ext cx="1515618" cy="213271"/>
          </a:xfrm>
          <a:prstGeom prst="rect">
            <a:avLst/>
          </a:prstGeom>
          <a:noFill/>
          <a:ln/>
        </p:spPr>
        <p:txBody>
          <a:bodyPr wrap="square" lIns="0" tIns="0" rIns="0" bIns="0" rtlCol="0" anchor="t"/>
          <a:lstStyle/>
          <a:p>
            <a:pPr algn="l" indent="0" marL="0">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Multitasking</a:t>
            </a:r>
            <a:endParaRPr lang="en-US" sz="1200" dirty="0"/>
          </a:p>
        </p:txBody>
      </p:sp>
      <p:sp>
        <p:nvSpPr>
          <p:cNvPr id="18" name="Text 16"/>
          <p:cNvSpPr/>
          <p:nvPr/>
        </p:nvSpPr>
        <p:spPr>
          <a:xfrm>
            <a:off x="4876800" y="3336578"/>
            <a:ext cx="1515618" cy="582662"/>
          </a:xfrm>
          <a:prstGeom prst="rect">
            <a:avLst/>
          </a:prstGeom>
          <a:noFill/>
          <a:ln/>
        </p:spPr>
        <p:txBody>
          <a:bodyPr wrap="square" lIns="0" tIns="0" rIns="0" bIns="0" rtlCol="0" anchor="t"/>
          <a:lstStyle/>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Code while reviewing docs</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Hands-free operation</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Think out loud naturally</a:t>
            </a:r>
            <a:endParaRPr lang="en-US" sz="900" dirty="0"/>
          </a:p>
        </p:txBody>
      </p:sp>
      <p:sp>
        <p:nvSpPr>
          <p:cNvPr id="19" name="Text 17"/>
          <p:cNvSpPr/>
          <p:nvPr/>
        </p:nvSpPr>
        <p:spPr>
          <a:xfrm>
            <a:off x="6743700" y="1942207"/>
            <a:ext cx="1943100" cy="2205633"/>
          </a:xfrm>
          <a:prstGeom prst="rect">
            <a:avLst/>
          </a:prstGeom>
          <a:solidFill>
            <a:srgbClr val="252B3D"/>
          </a:solidFill>
          <a:ln/>
        </p:spPr>
        <p:txBody>
          <a:bodyPr wrap="square" rtlCol="0" anchor="ctr"/>
          <a:lstStyle/>
          <a:p>
            <a:pPr indent="0" marL="0">
              <a:buNone/>
            </a:pPr>
            <a:endParaRPr lang="en-US" dirty="0"/>
          </a:p>
        </p:txBody>
      </p:sp>
      <p:sp>
        <p:nvSpPr>
          <p:cNvPr id="20" name="Text 18"/>
          <p:cNvSpPr/>
          <p:nvPr/>
        </p:nvSpPr>
        <p:spPr>
          <a:xfrm>
            <a:off x="6972300" y="2170807"/>
            <a:ext cx="381000" cy="381000"/>
          </a:xfrm>
          <a:prstGeom prst="rect">
            <a:avLst/>
          </a:prstGeom>
          <a:solidFill>
            <a:srgbClr val="C9A227"/>
          </a:solidFill>
          <a:ln/>
        </p:spPr>
        <p:txBody>
          <a:bodyPr wrap="square" rtlCol="0" anchor="ctr"/>
          <a:lstStyle/>
          <a:p>
            <a:pPr indent="0" marL="0">
              <a:buNone/>
            </a:pPr>
            <a:endParaRPr lang="en-US" dirty="0"/>
          </a:p>
        </p:txBody>
      </p:sp>
      <p:sp>
        <p:nvSpPr>
          <p:cNvPr id="21" name="Text 19"/>
          <p:cNvSpPr/>
          <p:nvPr/>
        </p:nvSpPr>
        <p:spPr>
          <a:xfrm>
            <a:off x="7056834" y="2227957"/>
            <a:ext cx="216170" cy="266700"/>
          </a:xfrm>
          <a:prstGeom prst="rect">
            <a:avLst/>
          </a:prstGeom>
          <a:noFill/>
          <a:ln/>
        </p:spPr>
        <p:txBody>
          <a:bodyPr wrap="square" lIns="0" tIns="0" rIns="0" bIns="0" rtlCol="0" anchor="t"/>
          <a:lstStyle/>
          <a:p>
            <a:pPr algn="l" indent="0" marL="0">
              <a:lnSpc>
                <a:spcPts val="2100"/>
              </a:lnSpc>
              <a:buNone/>
            </a:pPr>
            <a:r>
              <a:rPr lang="en-US" sz="1500" dirty="0">
                <a:solidFill>
                  <a:srgbClr val="1A1F2E"/>
                </a:solidFill>
                <a:latin typeface="Arial" pitchFamily="34" charset="0"/>
                <a:ea typeface="Arial" pitchFamily="34" charset="-122"/>
                <a:cs typeface="Arial" pitchFamily="34" charset="-120"/>
              </a:rPr>
              <a:t>04</a:t>
            </a:r>
            <a:endParaRPr lang="en-US" sz="1500" dirty="0"/>
          </a:p>
        </p:txBody>
      </p:sp>
      <p:sp>
        <p:nvSpPr>
          <p:cNvPr id="22" name="Text 20"/>
          <p:cNvSpPr/>
          <p:nvPr/>
        </p:nvSpPr>
        <p:spPr>
          <a:xfrm>
            <a:off x="6972300" y="2856607"/>
            <a:ext cx="1515618" cy="213271"/>
          </a:xfrm>
          <a:prstGeom prst="rect">
            <a:avLst/>
          </a:prstGeom>
          <a:noFill/>
          <a:ln/>
        </p:spPr>
        <p:txBody>
          <a:bodyPr wrap="square" lIns="0" tIns="0" rIns="0" bIns="0" rtlCol="0" anchor="t"/>
          <a:lstStyle/>
          <a:p>
            <a:pPr algn="l" indent="0" marL="0">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Accessibility</a:t>
            </a:r>
            <a:endParaRPr lang="en-US" sz="1200" dirty="0"/>
          </a:p>
        </p:txBody>
      </p:sp>
      <p:sp>
        <p:nvSpPr>
          <p:cNvPr id="23" name="Text 21"/>
          <p:cNvSpPr/>
          <p:nvPr/>
        </p:nvSpPr>
        <p:spPr>
          <a:xfrm>
            <a:off x="6972300" y="3336578"/>
            <a:ext cx="1515618" cy="582662"/>
          </a:xfrm>
          <a:prstGeom prst="rect">
            <a:avLst/>
          </a:prstGeom>
          <a:noFill/>
          <a:ln/>
        </p:spPr>
        <p:txBody>
          <a:bodyPr wrap="square" lIns="0" tIns="0" rIns="0" bIns="0" rtlCol="0" anchor="t"/>
          <a:lstStyle/>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Mobility accommodations</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Inclusive workflows</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Alternative input paths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3153817" cy="5143500"/>
          </a:xfrm>
          <a:prstGeom prst="rect">
            <a:avLst/>
          </a:prstGeom>
          <a:solidFill>
            <a:srgbClr val="C9A227"/>
          </a:solidFill>
          <a:ln/>
        </p:spPr>
        <p:txBody>
          <a:bodyPr wrap="square" rtlCol="0" anchor="ctr"/>
          <a:lstStyle/>
          <a:p>
            <a:pPr indent="0" marL="0">
              <a:buNone/>
            </a:pPr>
            <a:endParaRPr lang="en-US" dirty="0"/>
          </a:p>
        </p:txBody>
      </p:sp>
      <p:sp>
        <p:nvSpPr>
          <p:cNvPr id="3" name="Text 1"/>
          <p:cNvSpPr/>
          <p:nvPr/>
        </p:nvSpPr>
        <p:spPr>
          <a:xfrm>
            <a:off x="457200" y="1387822"/>
            <a:ext cx="2284205" cy="146596"/>
          </a:xfrm>
          <a:prstGeom prst="rect">
            <a:avLst/>
          </a:prstGeom>
          <a:noFill/>
          <a:ln/>
        </p:spPr>
        <p:txBody>
          <a:bodyPr wrap="square" lIns="0" tIns="0" rIns="0" bIns="0" rtlCol="0" anchor="t"/>
          <a:lstStyle/>
          <a:p>
            <a:pPr algn="l" indent="0" marL="0">
              <a:lnSpc>
                <a:spcPts val="1155"/>
              </a:lnSpc>
              <a:spcAft>
                <a:spcPts val="1200"/>
              </a:spcAft>
              <a:buNone/>
            </a:pPr>
            <a:r>
              <a:rPr lang="en-US" sz="825" dirty="0">
                <a:solidFill>
                  <a:srgbClr val="1A1F2E"/>
                </a:solidFill>
                <a:latin typeface="Arial" pitchFamily="34" charset="0"/>
                <a:ea typeface="Arial" pitchFamily="34" charset="-122"/>
                <a:cs typeface="Arial" pitchFamily="34" charset="-120"/>
              </a:rPr>
              <a:t>PART 1 OF 3</a:t>
            </a:r>
            <a:endParaRPr lang="en-US" sz="825" dirty="0"/>
          </a:p>
        </p:txBody>
      </p:sp>
      <p:sp>
        <p:nvSpPr>
          <p:cNvPr id="4" name="Text 2"/>
          <p:cNvSpPr/>
          <p:nvPr/>
        </p:nvSpPr>
        <p:spPr>
          <a:xfrm>
            <a:off x="457200" y="1839218"/>
            <a:ext cx="1321308" cy="838200"/>
          </a:xfrm>
          <a:prstGeom prst="rect">
            <a:avLst/>
          </a:prstGeom>
          <a:noFill/>
          <a:ln/>
        </p:spPr>
        <p:txBody>
          <a:bodyPr wrap="square" lIns="0" tIns="0" rIns="0" bIns="0" rtlCol="0" anchor="t"/>
          <a:lstStyle/>
          <a:p>
            <a:pPr algn="l" indent="0" marL="0">
              <a:lnSpc>
                <a:spcPts val="3300"/>
              </a:lnSpc>
              <a:spcAft>
                <a:spcPts val="1500"/>
              </a:spcAft>
              <a:buNone/>
            </a:pPr>
            <a:r>
              <a:rPr lang="en-US" sz="3000" dirty="0">
                <a:solidFill>
                  <a:srgbClr val="1A1F2E"/>
                </a:solidFill>
                <a:latin typeface="Georgia" pitchFamily="34" charset="0"/>
                <a:ea typeface="Georgia" pitchFamily="34" charset="-122"/>
                <a:cs typeface="Georgia" pitchFamily="34" charset="-120"/>
              </a:rPr>
              <a:t>Today's</a:t>
            </a:r>
            <a:endParaRPr lang="en-US" sz="3000" dirty="0"/>
          </a:p>
          <a:p>
            <a:pPr algn="l" indent="0" marL="0">
              <a:lnSpc>
                <a:spcPts val="3300"/>
              </a:lnSpc>
              <a:spcAft>
                <a:spcPts val="1500"/>
              </a:spcAft>
              <a:buNone/>
            </a:pPr>
            <a:r>
              <a:rPr lang="en-US" sz="3000" dirty="0">
                <a:solidFill>
                  <a:srgbClr val="1A1F2E"/>
                </a:solidFill>
                <a:latin typeface="Georgia" pitchFamily="34" charset="0"/>
                <a:ea typeface="Georgia" pitchFamily="34" charset="-122"/>
                <a:cs typeface="Georgia" pitchFamily="34" charset="-120"/>
              </a:rPr>
              <a:t>Agenda</a:t>
            </a:r>
            <a:endParaRPr lang="en-US" sz="3000" dirty="0"/>
          </a:p>
        </p:txBody>
      </p:sp>
      <p:sp>
        <p:nvSpPr>
          <p:cNvPr id="5" name="Text 3"/>
          <p:cNvSpPr/>
          <p:nvPr/>
        </p:nvSpPr>
        <p:spPr>
          <a:xfrm>
            <a:off x="457200" y="3020318"/>
            <a:ext cx="457200" cy="19050"/>
          </a:xfrm>
          <a:prstGeom prst="rect">
            <a:avLst/>
          </a:prstGeom>
          <a:solidFill>
            <a:srgbClr val="1A1F2E"/>
          </a:solidFill>
          <a:ln/>
        </p:spPr>
        <p:txBody>
          <a:bodyPr wrap="square" rtlCol="0" anchor="ctr"/>
          <a:lstStyle/>
          <a:p>
            <a:pPr indent="0" marL="0">
              <a:buNone/>
            </a:pPr>
            <a:endParaRPr lang="en-US" dirty="0"/>
          </a:p>
        </p:txBody>
      </p:sp>
      <p:sp>
        <p:nvSpPr>
          <p:cNvPr id="6" name="Text 4"/>
          <p:cNvSpPr/>
          <p:nvPr/>
        </p:nvSpPr>
        <p:spPr>
          <a:xfrm>
            <a:off x="457200" y="3382268"/>
            <a:ext cx="2284205" cy="373261"/>
          </a:xfrm>
          <a:prstGeom prst="rect">
            <a:avLst/>
          </a:prstGeom>
          <a:noFill/>
          <a:ln/>
        </p:spPr>
        <p:txBody>
          <a:bodyPr wrap="square" lIns="0" tIns="0" rIns="0" bIns="0" rtlCol="0" anchor="t"/>
          <a:lstStyle/>
          <a:p>
            <a:pPr algn="l" indent="0" marL="0">
              <a:lnSpc>
                <a:spcPts val="1470"/>
              </a:lnSpc>
              <a:buNone/>
            </a:pPr>
            <a:r>
              <a:rPr lang="en-US" sz="1050" dirty="0">
                <a:solidFill>
                  <a:srgbClr val="1A1F2E">
                    <a:alpha val="80000"/>
                  </a:srgbClr>
                </a:solidFill>
                <a:latin typeface="Arial" pitchFamily="34" charset="0"/>
                <a:ea typeface="Arial" pitchFamily="34" charset="-122"/>
                <a:cs typeface="Arial" pitchFamily="34" charset="-120"/>
              </a:rPr>
              <a:t>90 minutes to understand, choose, and configure your voice tools</a:t>
            </a:r>
            <a:endParaRPr lang="en-US" sz="1050" dirty="0"/>
          </a:p>
        </p:txBody>
      </p:sp>
      <p:sp>
        <p:nvSpPr>
          <p:cNvPr id="7" name="Text 5"/>
          <p:cNvSpPr/>
          <p:nvPr/>
        </p:nvSpPr>
        <p:spPr>
          <a:xfrm>
            <a:off x="3306217" y="0"/>
            <a:ext cx="5837783" cy="5143500"/>
          </a:xfrm>
          <a:prstGeom prst="rect">
            <a:avLst/>
          </a:prstGeom>
          <a:solidFill>
            <a:srgbClr val="F7F8FA"/>
          </a:solidFill>
          <a:ln/>
        </p:spPr>
        <p:txBody>
          <a:bodyPr wrap="square" rtlCol="0" anchor="ctr"/>
          <a:lstStyle/>
          <a:p>
            <a:pPr indent="0" marL="0">
              <a:buNone/>
            </a:pPr>
            <a:endParaRPr lang="en-US" dirty="0"/>
          </a:p>
        </p:txBody>
      </p:sp>
      <p:sp>
        <p:nvSpPr>
          <p:cNvPr id="8" name="Text 6"/>
          <p:cNvSpPr/>
          <p:nvPr/>
        </p:nvSpPr>
        <p:spPr>
          <a:xfrm>
            <a:off x="3687217" y="701427"/>
            <a:ext cx="5075783" cy="401836"/>
          </a:xfrm>
          <a:prstGeom prst="rect">
            <a:avLst/>
          </a:prstGeom>
          <a:solidFill>
            <a:srgbClr val="1A1F2E"/>
          </a:solidFill>
          <a:ln/>
        </p:spPr>
        <p:txBody>
          <a:bodyPr wrap="square" rtlCol="0" anchor="ctr"/>
          <a:lstStyle/>
          <a:p>
            <a:pPr indent="0" marL="0">
              <a:buNone/>
            </a:pPr>
            <a:endParaRPr lang="en-US" dirty="0"/>
          </a:p>
        </p:txBody>
      </p:sp>
      <p:sp>
        <p:nvSpPr>
          <p:cNvPr id="9" name="Text 7"/>
          <p:cNvSpPr/>
          <p:nvPr/>
        </p:nvSpPr>
        <p:spPr>
          <a:xfrm>
            <a:off x="3858667" y="828973"/>
            <a:ext cx="582930" cy="146596"/>
          </a:xfrm>
          <a:prstGeom prst="rect">
            <a:avLst/>
          </a:prstGeom>
          <a:noFill/>
          <a:ln/>
        </p:spPr>
        <p:txBody>
          <a:bodyPr wrap="square" lIns="0" tIns="0" rIns="0" bIns="0" rtlCol="0" anchor="t"/>
          <a:lstStyle/>
          <a:p>
            <a:pPr algn="l" indent="0" marL="0">
              <a:lnSpc>
                <a:spcPts val="1155"/>
              </a:lnSpc>
              <a:buNone/>
            </a:pPr>
            <a:r>
              <a:rPr lang="en-US" sz="825" b="1" dirty="0">
                <a:solidFill>
                  <a:srgbClr val="C9A227"/>
                </a:solidFill>
                <a:latin typeface="Arial" pitchFamily="34" charset="0"/>
                <a:ea typeface="Arial" pitchFamily="34" charset="-122"/>
                <a:cs typeface="Arial" pitchFamily="34" charset="-120"/>
              </a:rPr>
              <a:t>10 min</a:t>
            </a:r>
            <a:endParaRPr lang="en-US" sz="825" dirty="0"/>
          </a:p>
        </p:txBody>
      </p:sp>
      <p:sp>
        <p:nvSpPr>
          <p:cNvPr id="10" name="Text 8"/>
          <p:cNvSpPr/>
          <p:nvPr/>
        </p:nvSpPr>
        <p:spPr>
          <a:xfrm>
            <a:off x="4582567" y="815727"/>
            <a:ext cx="1783098" cy="173236"/>
          </a:xfrm>
          <a:prstGeom prst="rect">
            <a:avLst/>
          </a:prstGeom>
          <a:noFill/>
          <a:ln/>
        </p:spPr>
        <p:txBody>
          <a:bodyPr wrap="square" lIns="0" tIns="0" rIns="0" bIns="0" rtlCol="0" anchor="t"/>
          <a:lstStyle/>
          <a:p>
            <a:pPr algn="l" indent="0" marL="0">
              <a:lnSpc>
                <a:spcPts val="1365"/>
              </a:lnSpc>
              <a:buNone/>
            </a:pPr>
            <a:r>
              <a:rPr lang="en-US" sz="975" dirty="0">
                <a:solidFill>
                  <a:srgbClr val="FFFFFF"/>
                </a:solidFill>
                <a:latin typeface="Arial" pitchFamily="34" charset="0"/>
                <a:ea typeface="Arial" pitchFamily="34" charset="-122"/>
                <a:cs typeface="Arial" pitchFamily="34" charset="-120"/>
              </a:rPr>
              <a:t>Why Voice-Driven Development</a:t>
            </a:r>
            <a:endParaRPr lang="en-US" sz="975" dirty="0"/>
          </a:p>
        </p:txBody>
      </p:sp>
      <p:sp>
        <p:nvSpPr>
          <p:cNvPr id="11" name="Text 9"/>
          <p:cNvSpPr/>
          <p:nvPr/>
        </p:nvSpPr>
        <p:spPr>
          <a:xfrm>
            <a:off x="3687217" y="1160413"/>
            <a:ext cx="5075783" cy="420886"/>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2" name="Text 10"/>
          <p:cNvSpPr/>
          <p:nvPr/>
        </p:nvSpPr>
        <p:spPr>
          <a:xfrm>
            <a:off x="3868192" y="1297484"/>
            <a:ext cx="582930" cy="146596"/>
          </a:xfrm>
          <a:prstGeom prst="rect">
            <a:avLst/>
          </a:prstGeom>
          <a:noFill/>
          <a:ln/>
        </p:spPr>
        <p:txBody>
          <a:bodyPr wrap="square" lIns="0" tIns="0" rIns="0" bIns="0" rtlCol="0" anchor="t"/>
          <a:lstStyle/>
          <a:p>
            <a:pPr algn="l" indent="0" marL="0">
              <a:lnSpc>
                <a:spcPts val="1155"/>
              </a:lnSpc>
              <a:buNone/>
            </a:pPr>
            <a:r>
              <a:rPr lang="en-US" sz="825" b="1" dirty="0">
                <a:solidFill>
                  <a:srgbClr val="C9A227"/>
                </a:solidFill>
                <a:latin typeface="Arial" pitchFamily="34" charset="0"/>
                <a:ea typeface="Arial" pitchFamily="34" charset="-122"/>
                <a:cs typeface="Arial" pitchFamily="34" charset="-120"/>
              </a:rPr>
              <a:t>10 min</a:t>
            </a:r>
            <a:endParaRPr lang="en-US" sz="825" dirty="0"/>
          </a:p>
        </p:txBody>
      </p:sp>
      <p:sp>
        <p:nvSpPr>
          <p:cNvPr id="13" name="Text 11"/>
          <p:cNvSpPr/>
          <p:nvPr/>
        </p:nvSpPr>
        <p:spPr>
          <a:xfrm>
            <a:off x="4592092" y="1284238"/>
            <a:ext cx="1289733" cy="173236"/>
          </a:xfrm>
          <a:prstGeom prst="rect">
            <a:avLst/>
          </a:prstGeom>
          <a:noFill/>
          <a:ln/>
        </p:spPr>
        <p:txBody>
          <a:bodyPr wrap="square" lIns="0" tIns="0" rIns="0" bIns="0" rtlCol="0" anchor="t"/>
          <a:lstStyle/>
          <a:p>
            <a:pPr algn="l" indent="0" marL="0">
              <a:lnSpc>
                <a:spcPts val="1365"/>
              </a:lnSpc>
              <a:buNone/>
            </a:pPr>
            <a:r>
              <a:rPr lang="en-US" sz="975" dirty="0">
                <a:solidFill>
                  <a:srgbClr val="1A1F2E"/>
                </a:solidFill>
                <a:latin typeface="Arial" pitchFamily="34" charset="0"/>
                <a:ea typeface="Arial" pitchFamily="34" charset="-122"/>
                <a:cs typeface="Arial" pitchFamily="34" charset="-120"/>
              </a:rPr>
              <a:t>Voice Tools Landscape</a:t>
            </a:r>
            <a:endParaRPr lang="en-US" sz="975" dirty="0"/>
          </a:p>
        </p:txBody>
      </p:sp>
      <p:sp>
        <p:nvSpPr>
          <p:cNvPr id="14" name="Text 12"/>
          <p:cNvSpPr/>
          <p:nvPr/>
        </p:nvSpPr>
        <p:spPr>
          <a:xfrm>
            <a:off x="3687217" y="1638449"/>
            <a:ext cx="5075783" cy="420886"/>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5" name="Text 13"/>
          <p:cNvSpPr/>
          <p:nvPr/>
        </p:nvSpPr>
        <p:spPr>
          <a:xfrm>
            <a:off x="3868192" y="1775520"/>
            <a:ext cx="582930" cy="146596"/>
          </a:xfrm>
          <a:prstGeom prst="rect">
            <a:avLst/>
          </a:prstGeom>
          <a:noFill/>
          <a:ln/>
        </p:spPr>
        <p:txBody>
          <a:bodyPr wrap="square" lIns="0" tIns="0" rIns="0" bIns="0" rtlCol="0" anchor="t"/>
          <a:lstStyle/>
          <a:p>
            <a:pPr algn="l" indent="0" marL="0">
              <a:lnSpc>
                <a:spcPts val="1155"/>
              </a:lnSpc>
              <a:buNone/>
            </a:pPr>
            <a:r>
              <a:rPr lang="en-US" sz="825" b="1" dirty="0">
                <a:solidFill>
                  <a:srgbClr val="C9A227"/>
                </a:solidFill>
                <a:latin typeface="Arial" pitchFamily="34" charset="0"/>
                <a:ea typeface="Arial" pitchFamily="34" charset="-122"/>
                <a:cs typeface="Arial" pitchFamily="34" charset="-120"/>
              </a:rPr>
              <a:t>10 min</a:t>
            </a:r>
            <a:endParaRPr lang="en-US" sz="825" dirty="0"/>
          </a:p>
        </p:txBody>
      </p:sp>
      <p:sp>
        <p:nvSpPr>
          <p:cNvPr id="16" name="Text 14"/>
          <p:cNvSpPr/>
          <p:nvPr/>
        </p:nvSpPr>
        <p:spPr>
          <a:xfrm>
            <a:off x="4592092" y="1762274"/>
            <a:ext cx="1698846" cy="173236"/>
          </a:xfrm>
          <a:prstGeom prst="rect">
            <a:avLst/>
          </a:prstGeom>
          <a:noFill/>
          <a:ln/>
        </p:spPr>
        <p:txBody>
          <a:bodyPr wrap="square" lIns="0" tIns="0" rIns="0" bIns="0" rtlCol="0" anchor="t"/>
          <a:lstStyle/>
          <a:p>
            <a:pPr algn="l" indent="0" marL="0">
              <a:lnSpc>
                <a:spcPts val="1365"/>
              </a:lnSpc>
              <a:buNone/>
            </a:pPr>
            <a:r>
              <a:rPr lang="en-US" sz="975" dirty="0">
                <a:solidFill>
                  <a:srgbClr val="1A1F2E"/>
                </a:solidFill>
                <a:latin typeface="Arial" pitchFamily="34" charset="0"/>
                <a:ea typeface="Arial" pitchFamily="34" charset="-122"/>
                <a:cs typeface="Arial" pitchFamily="34" charset="-120"/>
              </a:rPr>
              <a:t>Security &amp; PHI Considerations</a:t>
            </a:r>
            <a:endParaRPr lang="en-US" sz="975" dirty="0"/>
          </a:p>
        </p:txBody>
      </p:sp>
      <p:sp>
        <p:nvSpPr>
          <p:cNvPr id="17" name="Text 15"/>
          <p:cNvSpPr/>
          <p:nvPr/>
        </p:nvSpPr>
        <p:spPr>
          <a:xfrm>
            <a:off x="3687217" y="2116485"/>
            <a:ext cx="5075783" cy="420886"/>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8" name="Text 16"/>
          <p:cNvSpPr/>
          <p:nvPr/>
        </p:nvSpPr>
        <p:spPr>
          <a:xfrm>
            <a:off x="3868192" y="2253555"/>
            <a:ext cx="582930" cy="146596"/>
          </a:xfrm>
          <a:prstGeom prst="rect">
            <a:avLst/>
          </a:prstGeom>
          <a:noFill/>
          <a:ln/>
        </p:spPr>
        <p:txBody>
          <a:bodyPr wrap="square" lIns="0" tIns="0" rIns="0" bIns="0" rtlCol="0" anchor="t"/>
          <a:lstStyle/>
          <a:p>
            <a:pPr algn="l" indent="0" marL="0">
              <a:lnSpc>
                <a:spcPts val="1155"/>
              </a:lnSpc>
              <a:buNone/>
            </a:pPr>
            <a:r>
              <a:rPr lang="en-US" sz="825" b="1" dirty="0">
                <a:solidFill>
                  <a:srgbClr val="C9A227"/>
                </a:solidFill>
                <a:latin typeface="Arial" pitchFamily="34" charset="0"/>
                <a:ea typeface="Arial" pitchFamily="34" charset="-122"/>
                <a:cs typeface="Arial" pitchFamily="34" charset="-120"/>
              </a:rPr>
              <a:t>15 min</a:t>
            </a:r>
            <a:endParaRPr lang="en-US" sz="825" dirty="0"/>
          </a:p>
        </p:txBody>
      </p:sp>
      <p:sp>
        <p:nvSpPr>
          <p:cNvPr id="19" name="Text 17"/>
          <p:cNvSpPr/>
          <p:nvPr/>
        </p:nvSpPr>
        <p:spPr>
          <a:xfrm>
            <a:off x="4592092" y="2240310"/>
            <a:ext cx="2071223" cy="173236"/>
          </a:xfrm>
          <a:prstGeom prst="rect">
            <a:avLst/>
          </a:prstGeom>
          <a:noFill/>
          <a:ln/>
        </p:spPr>
        <p:txBody>
          <a:bodyPr wrap="square" lIns="0" tIns="0" rIns="0" bIns="0" rtlCol="0" anchor="t"/>
          <a:lstStyle/>
          <a:p>
            <a:pPr algn="l" indent="0" marL="0">
              <a:lnSpc>
                <a:spcPts val="1365"/>
              </a:lnSpc>
              <a:buNone/>
            </a:pPr>
            <a:r>
              <a:rPr lang="en-US" sz="975" dirty="0">
                <a:solidFill>
                  <a:srgbClr val="1A1F2E"/>
                </a:solidFill>
                <a:latin typeface="Arial" pitchFamily="34" charset="0"/>
                <a:ea typeface="Arial" pitchFamily="34" charset="-122"/>
                <a:cs typeface="Arial" pitchFamily="34" charset="-120"/>
              </a:rPr>
              <a:t>SuperWhisper Setup &amp; Configuration</a:t>
            </a:r>
            <a:endParaRPr lang="en-US" sz="975" dirty="0"/>
          </a:p>
        </p:txBody>
      </p:sp>
      <p:sp>
        <p:nvSpPr>
          <p:cNvPr id="20" name="Text 18"/>
          <p:cNvSpPr/>
          <p:nvPr/>
        </p:nvSpPr>
        <p:spPr>
          <a:xfrm>
            <a:off x="3687217" y="2594521"/>
            <a:ext cx="5075783" cy="420886"/>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21" name="Text 19"/>
          <p:cNvSpPr/>
          <p:nvPr/>
        </p:nvSpPr>
        <p:spPr>
          <a:xfrm>
            <a:off x="3868192" y="2731591"/>
            <a:ext cx="582930" cy="146596"/>
          </a:xfrm>
          <a:prstGeom prst="rect">
            <a:avLst/>
          </a:prstGeom>
          <a:noFill/>
          <a:ln/>
        </p:spPr>
        <p:txBody>
          <a:bodyPr wrap="square" lIns="0" tIns="0" rIns="0" bIns="0" rtlCol="0" anchor="t"/>
          <a:lstStyle/>
          <a:p>
            <a:pPr algn="l" indent="0" marL="0">
              <a:lnSpc>
                <a:spcPts val="1155"/>
              </a:lnSpc>
              <a:buNone/>
            </a:pPr>
            <a:r>
              <a:rPr lang="en-US" sz="825" b="1" dirty="0">
                <a:solidFill>
                  <a:srgbClr val="C9A227"/>
                </a:solidFill>
                <a:latin typeface="Arial" pitchFamily="34" charset="0"/>
                <a:ea typeface="Arial" pitchFamily="34" charset="-122"/>
                <a:cs typeface="Arial" pitchFamily="34" charset="-120"/>
              </a:rPr>
              <a:t>20 min</a:t>
            </a:r>
            <a:endParaRPr lang="en-US" sz="825" dirty="0"/>
          </a:p>
        </p:txBody>
      </p:sp>
      <p:sp>
        <p:nvSpPr>
          <p:cNvPr id="22" name="Text 20"/>
          <p:cNvSpPr/>
          <p:nvPr/>
        </p:nvSpPr>
        <p:spPr>
          <a:xfrm>
            <a:off x="4592092" y="2718346"/>
            <a:ext cx="1387647" cy="173236"/>
          </a:xfrm>
          <a:prstGeom prst="rect">
            <a:avLst/>
          </a:prstGeom>
          <a:noFill/>
          <a:ln/>
        </p:spPr>
        <p:txBody>
          <a:bodyPr wrap="square" lIns="0" tIns="0" rIns="0" bIns="0" rtlCol="0" anchor="t"/>
          <a:lstStyle/>
          <a:p>
            <a:pPr algn="l" indent="0" marL="0">
              <a:lnSpc>
                <a:spcPts val="1365"/>
              </a:lnSpc>
              <a:buNone/>
            </a:pPr>
            <a:r>
              <a:rPr lang="en-US" sz="975" dirty="0">
                <a:solidFill>
                  <a:srgbClr val="1A1F2E"/>
                </a:solidFill>
                <a:latin typeface="Arial" pitchFamily="34" charset="0"/>
                <a:ea typeface="Arial" pitchFamily="34" charset="-122"/>
                <a:cs typeface="Arial" pitchFamily="34" charset="-120"/>
              </a:rPr>
              <a:t>Custom Mode Workshop</a:t>
            </a:r>
            <a:endParaRPr lang="en-US" sz="975" dirty="0"/>
          </a:p>
        </p:txBody>
      </p:sp>
      <p:sp>
        <p:nvSpPr>
          <p:cNvPr id="23" name="Text 21"/>
          <p:cNvSpPr/>
          <p:nvPr/>
        </p:nvSpPr>
        <p:spPr>
          <a:xfrm>
            <a:off x="3687217" y="3072557"/>
            <a:ext cx="5075783" cy="420886"/>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24" name="Text 22"/>
          <p:cNvSpPr/>
          <p:nvPr/>
        </p:nvSpPr>
        <p:spPr>
          <a:xfrm>
            <a:off x="3868192" y="3209627"/>
            <a:ext cx="582930" cy="146596"/>
          </a:xfrm>
          <a:prstGeom prst="rect">
            <a:avLst/>
          </a:prstGeom>
          <a:noFill/>
          <a:ln/>
        </p:spPr>
        <p:txBody>
          <a:bodyPr wrap="square" lIns="0" tIns="0" rIns="0" bIns="0" rtlCol="0" anchor="t"/>
          <a:lstStyle/>
          <a:p>
            <a:pPr algn="l" indent="0" marL="0">
              <a:lnSpc>
                <a:spcPts val="1155"/>
              </a:lnSpc>
              <a:buNone/>
            </a:pPr>
            <a:r>
              <a:rPr lang="en-US" sz="825" b="1" dirty="0">
                <a:solidFill>
                  <a:srgbClr val="C9A227"/>
                </a:solidFill>
                <a:latin typeface="Arial" pitchFamily="34" charset="0"/>
                <a:ea typeface="Arial" pitchFamily="34" charset="-122"/>
                <a:cs typeface="Arial" pitchFamily="34" charset="-120"/>
              </a:rPr>
              <a:t>10 min</a:t>
            </a:r>
            <a:endParaRPr lang="en-US" sz="825" dirty="0"/>
          </a:p>
        </p:txBody>
      </p:sp>
      <p:sp>
        <p:nvSpPr>
          <p:cNvPr id="25" name="Text 23"/>
          <p:cNvSpPr/>
          <p:nvPr/>
        </p:nvSpPr>
        <p:spPr>
          <a:xfrm>
            <a:off x="4592092" y="3196382"/>
            <a:ext cx="1088136" cy="173236"/>
          </a:xfrm>
          <a:prstGeom prst="rect">
            <a:avLst/>
          </a:prstGeom>
          <a:noFill/>
          <a:ln/>
        </p:spPr>
        <p:txBody>
          <a:bodyPr wrap="square" lIns="0" tIns="0" rIns="0" bIns="0" rtlCol="0" anchor="t"/>
          <a:lstStyle/>
          <a:p>
            <a:pPr algn="l" indent="0" marL="0">
              <a:lnSpc>
                <a:spcPts val="1365"/>
              </a:lnSpc>
              <a:buNone/>
            </a:pPr>
            <a:r>
              <a:rPr lang="en-US" sz="975" dirty="0">
                <a:solidFill>
                  <a:srgbClr val="1A1F2E"/>
                </a:solidFill>
                <a:latin typeface="Arial" pitchFamily="34" charset="0"/>
                <a:ea typeface="Arial" pitchFamily="34" charset="-122"/>
                <a:cs typeface="Arial" pitchFamily="34" charset="-120"/>
              </a:rPr>
              <a:t>Live Demonstration</a:t>
            </a:r>
            <a:endParaRPr lang="en-US" sz="975" dirty="0"/>
          </a:p>
        </p:txBody>
      </p:sp>
      <p:sp>
        <p:nvSpPr>
          <p:cNvPr id="26" name="Text 24"/>
          <p:cNvSpPr/>
          <p:nvPr/>
        </p:nvSpPr>
        <p:spPr>
          <a:xfrm>
            <a:off x="3687217" y="3550593"/>
            <a:ext cx="5075783" cy="420886"/>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27" name="Text 25"/>
          <p:cNvSpPr/>
          <p:nvPr/>
        </p:nvSpPr>
        <p:spPr>
          <a:xfrm>
            <a:off x="3868192" y="3687663"/>
            <a:ext cx="582930" cy="146596"/>
          </a:xfrm>
          <a:prstGeom prst="rect">
            <a:avLst/>
          </a:prstGeom>
          <a:noFill/>
          <a:ln/>
        </p:spPr>
        <p:txBody>
          <a:bodyPr wrap="square" lIns="0" tIns="0" rIns="0" bIns="0" rtlCol="0" anchor="t"/>
          <a:lstStyle/>
          <a:p>
            <a:pPr algn="l" indent="0" marL="0">
              <a:lnSpc>
                <a:spcPts val="1155"/>
              </a:lnSpc>
              <a:buNone/>
            </a:pPr>
            <a:r>
              <a:rPr lang="en-US" sz="825" b="1" dirty="0">
                <a:solidFill>
                  <a:srgbClr val="C9A227"/>
                </a:solidFill>
                <a:latin typeface="Arial" pitchFamily="34" charset="0"/>
                <a:ea typeface="Arial" pitchFamily="34" charset="-122"/>
                <a:cs typeface="Arial" pitchFamily="34" charset="-120"/>
              </a:rPr>
              <a:t>15 min</a:t>
            </a:r>
            <a:endParaRPr lang="en-US" sz="825" dirty="0"/>
          </a:p>
        </p:txBody>
      </p:sp>
      <p:sp>
        <p:nvSpPr>
          <p:cNvPr id="28" name="Text 26"/>
          <p:cNvSpPr/>
          <p:nvPr/>
        </p:nvSpPr>
        <p:spPr>
          <a:xfrm>
            <a:off x="4592092" y="3674418"/>
            <a:ext cx="1038951" cy="173236"/>
          </a:xfrm>
          <a:prstGeom prst="rect">
            <a:avLst/>
          </a:prstGeom>
          <a:noFill/>
          <a:ln/>
        </p:spPr>
        <p:txBody>
          <a:bodyPr wrap="square" lIns="0" tIns="0" rIns="0" bIns="0" rtlCol="0" anchor="t"/>
          <a:lstStyle/>
          <a:p>
            <a:pPr algn="l" indent="0" marL="0">
              <a:lnSpc>
                <a:spcPts val="1365"/>
              </a:lnSpc>
              <a:buNone/>
            </a:pPr>
            <a:r>
              <a:rPr lang="en-US" sz="975" dirty="0">
                <a:solidFill>
                  <a:srgbClr val="1A1F2E"/>
                </a:solidFill>
                <a:latin typeface="Arial" pitchFamily="34" charset="0"/>
                <a:ea typeface="Arial" pitchFamily="34" charset="-122"/>
                <a:cs typeface="Arial" pitchFamily="34" charset="-120"/>
              </a:rPr>
              <a:t>Next Steps &amp; Q&amp;A</a:t>
            </a:r>
            <a:endParaRPr lang="en-US" sz="975" dirty="0"/>
          </a:p>
        </p:txBody>
      </p:sp>
      <p:sp>
        <p:nvSpPr>
          <p:cNvPr id="29" name="Text 27"/>
          <p:cNvSpPr/>
          <p:nvPr/>
        </p:nvSpPr>
        <p:spPr>
          <a:xfrm>
            <a:off x="3687217" y="4104829"/>
            <a:ext cx="5075783" cy="337096"/>
          </a:xfrm>
          <a:prstGeom prst="rect">
            <a:avLst/>
          </a:prstGeom>
          <a:solidFill>
            <a:srgbClr val="DCFCE7"/>
          </a:solidFill>
          <a:ln/>
        </p:spPr>
        <p:txBody>
          <a:bodyPr wrap="square" rtlCol="0" anchor="ctr"/>
          <a:lstStyle/>
          <a:p>
            <a:pPr indent="0" marL="0">
              <a:buNone/>
            </a:pPr>
            <a:endParaRPr lang="en-US" dirty="0"/>
          </a:p>
        </p:txBody>
      </p:sp>
      <p:sp>
        <p:nvSpPr>
          <p:cNvPr id="30" name="Shape 28"/>
          <p:cNvSpPr/>
          <p:nvPr/>
        </p:nvSpPr>
        <p:spPr>
          <a:xfrm>
            <a:off x="3701504" y="4104829"/>
            <a:ext cx="0" cy="337096"/>
          </a:xfrm>
          <a:prstGeom prst="line">
            <a:avLst/>
          </a:prstGeom>
          <a:noFill/>
          <a:ln w="28575">
            <a:solidFill>
              <a:srgbClr val="059669"/>
            </a:solidFill>
            <a:prstDash val="solid"/>
          </a:ln>
        </p:spPr>
      </p:sp>
      <p:sp>
        <p:nvSpPr>
          <p:cNvPr id="31" name="Text 29"/>
          <p:cNvSpPr/>
          <p:nvPr/>
        </p:nvSpPr>
        <p:spPr>
          <a:xfrm>
            <a:off x="3849142" y="4200079"/>
            <a:ext cx="4876118" cy="146596"/>
          </a:xfrm>
          <a:prstGeom prst="rect">
            <a:avLst/>
          </a:prstGeom>
          <a:noFill/>
          <a:ln/>
        </p:spPr>
        <p:txBody>
          <a:bodyPr wrap="square" lIns="0" tIns="0" rIns="0" bIns="0" rtlCol="0" anchor="t"/>
          <a:lstStyle/>
          <a:p>
            <a:pPr algn="l" indent="0" marL="0">
              <a:lnSpc>
                <a:spcPts val="1155"/>
              </a:lnSpc>
              <a:buNone/>
            </a:pPr>
            <a:r>
              <a:rPr lang="en-US" sz="825" dirty="0">
                <a:solidFill>
                  <a:srgbClr val="166534"/>
                </a:solidFill>
                <a:latin typeface="Arial" pitchFamily="34" charset="0"/>
                <a:ea typeface="Arial" pitchFamily="34" charset="-122"/>
                <a:cs typeface="Arial" pitchFamily="34" charset="-120"/>
              </a:rPr>
              <a:t>Workshop materials &amp; exercises available for independent practice</a:t>
            </a:r>
            <a:endParaRPr lang="en-US" sz="82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980722" y="957411"/>
            <a:ext cx="1182407" cy="186630"/>
          </a:xfrm>
          <a:prstGeom prst="rect">
            <a:avLst/>
          </a:prstGeom>
          <a:noFill/>
          <a:ln/>
        </p:spPr>
        <p:txBody>
          <a:bodyPr wrap="square" lIns="0" tIns="0" rIns="0" bIns="0" rtlCol="0" anchor="t"/>
          <a:lstStyle/>
          <a:p>
            <a:pPr algn="ctr" indent="0" marL="0">
              <a:lnSpc>
                <a:spcPts val="1470"/>
              </a:lnSpc>
              <a:spcAft>
                <a:spcPts val="1800"/>
              </a:spcAft>
              <a:buNone/>
            </a:pPr>
            <a:r>
              <a:rPr lang="en-US" sz="1050" dirty="0">
                <a:solidFill>
                  <a:srgbClr val="C9A227"/>
                </a:solidFill>
                <a:latin typeface="Arial" pitchFamily="34" charset="0"/>
                <a:ea typeface="Arial" pitchFamily="34" charset="-122"/>
                <a:cs typeface="Arial" pitchFamily="34" charset="-120"/>
              </a:rPr>
              <a:t>SECTION 02</a:t>
            </a:r>
            <a:endParaRPr lang="en-US" sz="1050" dirty="0"/>
          </a:p>
        </p:txBody>
      </p:sp>
      <p:sp>
        <p:nvSpPr>
          <p:cNvPr id="3" name="Text 1"/>
          <p:cNvSpPr/>
          <p:nvPr/>
        </p:nvSpPr>
        <p:spPr>
          <a:xfrm>
            <a:off x="2751863" y="1525042"/>
            <a:ext cx="3640125" cy="457200"/>
          </a:xfrm>
          <a:prstGeom prst="rect">
            <a:avLst/>
          </a:prstGeom>
          <a:noFill/>
          <a:ln/>
        </p:spPr>
        <p:txBody>
          <a:bodyPr wrap="square" lIns="0" tIns="0" rIns="0" bIns="0" rtlCol="0" anchor="t"/>
          <a:lstStyle/>
          <a:p>
            <a:pPr algn="ctr" indent="0" marL="0">
              <a:lnSpc>
                <a:spcPts val="3600"/>
              </a:lnSpc>
              <a:spcAft>
                <a:spcPts val="900"/>
              </a:spcAft>
              <a:buNone/>
            </a:pPr>
            <a:r>
              <a:rPr lang="en-US" sz="3600" dirty="0">
                <a:solidFill>
                  <a:srgbClr val="FFFFFF"/>
                </a:solidFill>
                <a:latin typeface="Georgia" pitchFamily="34" charset="0"/>
                <a:ea typeface="Georgia" pitchFamily="34" charset="-122"/>
                <a:cs typeface="Georgia" pitchFamily="34" charset="-120"/>
              </a:rPr>
              <a:t>Voice Input Tools</a:t>
            </a:r>
            <a:endParaRPr lang="en-US" sz="3600" dirty="0"/>
          </a:p>
        </p:txBody>
      </p:sp>
      <p:sp>
        <p:nvSpPr>
          <p:cNvPr id="4" name="Text 2"/>
          <p:cNvSpPr/>
          <p:nvPr/>
        </p:nvSpPr>
        <p:spPr>
          <a:xfrm>
            <a:off x="3656012" y="2248942"/>
            <a:ext cx="1831827" cy="293340"/>
          </a:xfrm>
          <a:prstGeom prst="rect">
            <a:avLst/>
          </a:prstGeom>
          <a:noFill/>
          <a:ln/>
        </p:spPr>
        <p:txBody>
          <a:bodyPr wrap="square" lIns="0" tIns="0" rIns="0" bIns="0" rtlCol="0" anchor="t"/>
          <a:lstStyle/>
          <a:p>
            <a:pPr algn="ctr" indent="0" marL="0">
              <a:lnSpc>
                <a:spcPts val="2310"/>
              </a:lnSpc>
              <a:spcAft>
                <a:spcPts val="2400"/>
              </a:spcAft>
              <a:buNone/>
            </a:pPr>
            <a:r>
              <a:rPr lang="en-US" sz="1650" i="1" dirty="0">
                <a:solidFill>
                  <a:srgbClr val="FFFFFF">
                    <a:alpha val="80000"/>
                  </a:srgbClr>
                </a:solidFill>
                <a:latin typeface="Georgia" pitchFamily="34" charset="0"/>
                <a:ea typeface="Georgia" pitchFamily="34" charset="-122"/>
                <a:cs typeface="Georgia" pitchFamily="34" charset="-120"/>
              </a:rPr>
              <a:t>The Acoustic Layer</a:t>
            </a:r>
            <a:endParaRPr lang="en-US" sz="1650" dirty="0"/>
          </a:p>
        </p:txBody>
      </p:sp>
      <p:sp>
        <p:nvSpPr>
          <p:cNvPr id="5" name="Text 3"/>
          <p:cNvSpPr/>
          <p:nvPr/>
        </p:nvSpPr>
        <p:spPr>
          <a:xfrm>
            <a:off x="4191000" y="2999482"/>
            <a:ext cx="762000" cy="19050"/>
          </a:xfrm>
          <a:prstGeom prst="rect">
            <a:avLst/>
          </a:prstGeom>
          <a:solidFill>
            <a:srgbClr val="C9A227"/>
          </a:solidFill>
          <a:ln/>
        </p:spPr>
        <p:txBody>
          <a:bodyPr wrap="square" rtlCol="0" anchor="ctr"/>
          <a:lstStyle/>
          <a:p>
            <a:pPr indent="0" marL="0">
              <a:buNone/>
            </a:pPr>
            <a:endParaRPr lang="en-US" dirty="0"/>
          </a:p>
        </p:txBody>
      </p:sp>
      <p:sp>
        <p:nvSpPr>
          <p:cNvPr id="6" name="Text 4"/>
          <p:cNvSpPr/>
          <p:nvPr/>
        </p:nvSpPr>
        <p:spPr>
          <a:xfrm>
            <a:off x="3568349" y="3475732"/>
            <a:ext cx="162279" cy="373261"/>
          </a:xfrm>
          <a:prstGeom prst="rect">
            <a:avLst/>
          </a:prstGeom>
          <a:noFill/>
          <a:ln/>
        </p:spPr>
        <p:txBody>
          <a:bodyPr wrap="square" lIns="0" tIns="0" rIns="0" bIns="0" rtlCol="0" anchor="t"/>
          <a:lstStyle/>
          <a:p>
            <a:pPr algn="ctr" indent="0" marL="0">
              <a:lnSpc>
                <a:spcPts val="2940"/>
              </a:lnSpc>
              <a:buNone/>
            </a:pPr>
            <a:r>
              <a:rPr lang="en-US" sz="2100" dirty="0">
                <a:solidFill>
                  <a:srgbClr val="C9A227"/>
                </a:solidFill>
                <a:latin typeface="Georgia" pitchFamily="34" charset="0"/>
                <a:ea typeface="Georgia" pitchFamily="34" charset="-122"/>
                <a:cs typeface="Georgia" pitchFamily="34" charset="-120"/>
              </a:rPr>
              <a:t>8</a:t>
            </a:r>
            <a:endParaRPr lang="en-US" sz="2100" dirty="0"/>
          </a:p>
        </p:txBody>
      </p:sp>
      <p:sp>
        <p:nvSpPr>
          <p:cNvPr id="7" name="Text 5"/>
          <p:cNvSpPr/>
          <p:nvPr/>
        </p:nvSpPr>
        <p:spPr>
          <a:xfrm>
            <a:off x="3310889" y="4039493"/>
            <a:ext cx="677201" cy="146596"/>
          </a:xfrm>
          <a:prstGeom prst="rect">
            <a:avLst/>
          </a:prstGeom>
          <a:noFill/>
          <a:ln/>
        </p:spPr>
        <p:txBody>
          <a:bodyPr wrap="square" lIns="0" tIns="0" rIns="0" bIns="0" rtlCol="0" anchor="t"/>
          <a:lstStyle/>
          <a:p>
            <a:pPr algn="ctr" indent="0" marL="0">
              <a:lnSpc>
                <a:spcPts val="1155"/>
              </a:lnSpc>
              <a:spcBef>
                <a:spcPts val="300"/>
              </a:spcBef>
              <a:buNone/>
            </a:pPr>
            <a:r>
              <a:rPr lang="en-US" sz="825" dirty="0">
                <a:solidFill>
                  <a:srgbClr val="FFFFFF">
                    <a:alpha val="50000"/>
                  </a:srgbClr>
                </a:solidFill>
                <a:latin typeface="Arial" pitchFamily="34" charset="0"/>
                <a:ea typeface="Arial" pitchFamily="34" charset="-122"/>
                <a:cs typeface="Arial" pitchFamily="34" charset="-120"/>
              </a:rPr>
              <a:t>SuperWhisper</a:t>
            </a:r>
            <a:endParaRPr lang="en-US" sz="825" dirty="0"/>
          </a:p>
        </p:txBody>
      </p:sp>
      <p:sp>
        <p:nvSpPr>
          <p:cNvPr id="8" name="Text 6"/>
          <p:cNvSpPr/>
          <p:nvPr/>
        </p:nvSpPr>
        <p:spPr>
          <a:xfrm>
            <a:off x="4544444" y="3475732"/>
            <a:ext cx="154082" cy="373261"/>
          </a:xfrm>
          <a:prstGeom prst="rect">
            <a:avLst/>
          </a:prstGeom>
          <a:noFill/>
          <a:ln/>
        </p:spPr>
        <p:txBody>
          <a:bodyPr wrap="square" lIns="0" tIns="0" rIns="0" bIns="0" rtlCol="0" anchor="t"/>
          <a:lstStyle/>
          <a:p>
            <a:pPr algn="ctr" indent="0" marL="0">
              <a:lnSpc>
                <a:spcPts val="2940"/>
              </a:lnSpc>
              <a:buNone/>
            </a:pPr>
            <a:r>
              <a:rPr lang="en-US" sz="2100" dirty="0">
                <a:solidFill>
                  <a:srgbClr val="C9A227"/>
                </a:solidFill>
                <a:latin typeface="Georgia" pitchFamily="34" charset="0"/>
                <a:ea typeface="Georgia" pitchFamily="34" charset="-122"/>
                <a:cs typeface="Georgia" pitchFamily="34" charset="-120"/>
              </a:rPr>
              <a:t>6</a:t>
            </a:r>
            <a:endParaRPr lang="en-US" sz="2100" dirty="0"/>
          </a:p>
        </p:txBody>
      </p:sp>
      <p:sp>
        <p:nvSpPr>
          <p:cNvPr id="9" name="Text 7"/>
          <p:cNvSpPr/>
          <p:nvPr/>
        </p:nvSpPr>
        <p:spPr>
          <a:xfrm>
            <a:off x="4357269" y="4039493"/>
            <a:ext cx="528432" cy="146596"/>
          </a:xfrm>
          <a:prstGeom prst="rect">
            <a:avLst/>
          </a:prstGeom>
          <a:noFill/>
          <a:ln/>
        </p:spPr>
        <p:txBody>
          <a:bodyPr wrap="square" lIns="0" tIns="0" rIns="0" bIns="0" rtlCol="0" anchor="t"/>
          <a:lstStyle/>
          <a:p>
            <a:pPr algn="ctr" indent="0" marL="0">
              <a:lnSpc>
                <a:spcPts val="1155"/>
              </a:lnSpc>
              <a:spcBef>
                <a:spcPts val="300"/>
              </a:spcBef>
              <a:buNone/>
            </a:pPr>
            <a:r>
              <a:rPr lang="en-US" sz="825" dirty="0">
                <a:solidFill>
                  <a:srgbClr val="FFFFFF">
                    <a:alpha val="50000"/>
                  </a:srgbClr>
                </a:solidFill>
                <a:latin typeface="Arial" pitchFamily="34" charset="0"/>
                <a:ea typeface="Arial" pitchFamily="34" charset="-122"/>
                <a:cs typeface="Arial" pitchFamily="34" charset="-120"/>
              </a:rPr>
              <a:t>Wispr Flow</a:t>
            </a:r>
            <a:endParaRPr lang="en-US" sz="825" dirty="0"/>
          </a:p>
        </p:txBody>
      </p:sp>
      <p:sp>
        <p:nvSpPr>
          <p:cNvPr id="10" name="Text 8"/>
          <p:cNvSpPr/>
          <p:nvPr/>
        </p:nvSpPr>
        <p:spPr>
          <a:xfrm>
            <a:off x="5468855" y="3475732"/>
            <a:ext cx="150135" cy="373261"/>
          </a:xfrm>
          <a:prstGeom prst="rect">
            <a:avLst/>
          </a:prstGeom>
          <a:noFill/>
          <a:ln/>
        </p:spPr>
        <p:txBody>
          <a:bodyPr wrap="square" lIns="0" tIns="0" rIns="0" bIns="0" rtlCol="0" anchor="t"/>
          <a:lstStyle/>
          <a:p>
            <a:pPr algn="ctr" indent="0" marL="0">
              <a:lnSpc>
                <a:spcPts val="2940"/>
              </a:lnSpc>
              <a:buNone/>
            </a:pPr>
            <a:r>
              <a:rPr lang="en-US" sz="2100" dirty="0">
                <a:solidFill>
                  <a:srgbClr val="C9A227"/>
                </a:solidFill>
                <a:latin typeface="Georgia" pitchFamily="34" charset="0"/>
                <a:ea typeface="Georgia" pitchFamily="34" charset="-122"/>
                <a:cs typeface="Georgia" pitchFamily="34" charset="-120"/>
              </a:rPr>
              <a:t>3</a:t>
            </a:r>
            <a:endParaRPr lang="en-US" sz="2100" dirty="0"/>
          </a:p>
        </p:txBody>
      </p:sp>
      <p:sp>
        <p:nvSpPr>
          <p:cNvPr id="11" name="Text 9"/>
          <p:cNvSpPr/>
          <p:nvPr/>
        </p:nvSpPr>
        <p:spPr>
          <a:xfrm>
            <a:off x="5255871" y="4039493"/>
            <a:ext cx="576251" cy="146596"/>
          </a:xfrm>
          <a:prstGeom prst="rect">
            <a:avLst/>
          </a:prstGeom>
          <a:noFill/>
          <a:ln/>
        </p:spPr>
        <p:txBody>
          <a:bodyPr wrap="square" lIns="0" tIns="0" rIns="0" bIns="0" rtlCol="0" anchor="t"/>
          <a:lstStyle/>
          <a:p>
            <a:pPr algn="ctr" indent="0" marL="0">
              <a:lnSpc>
                <a:spcPts val="1155"/>
              </a:lnSpc>
              <a:spcBef>
                <a:spcPts val="300"/>
              </a:spcBef>
              <a:buNone/>
            </a:pPr>
            <a:r>
              <a:rPr lang="en-US" sz="825" dirty="0">
                <a:solidFill>
                  <a:srgbClr val="FFFFFF">
                    <a:alpha val="50000"/>
                  </a:srgbClr>
                </a:solidFill>
                <a:latin typeface="Arial" pitchFamily="34" charset="0"/>
                <a:ea typeface="Arial" pitchFamily="34" charset="-122"/>
                <a:cs typeface="Arial" pitchFamily="34" charset="-120"/>
              </a:rPr>
              <a:t>Comparison</a:t>
            </a:r>
            <a:endParaRPr lang="en-US" sz="825" dirty="0"/>
          </a:p>
        </p:txBody>
      </p:sp>
      <p:sp>
        <p:nvSpPr>
          <p:cNvPr id="12" name="Text 10"/>
          <p:cNvSpPr/>
          <p:nvPr/>
        </p:nvSpPr>
        <p:spPr>
          <a:xfrm>
            <a:off x="8127653" y="4678710"/>
            <a:ext cx="570330" cy="159990"/>
          </a:xfrm>
          <a:prstGeom prst="rect">
            <a:avLst/>
          </a:prstGeom>
          <a:noFill/>
          <a:ln/>
        </p:spPr>
        <p:txBody>
          <a:bodyPr wrap="square" lIns="0" tIns="0" rIns="0" bIns="0" rtlCol="0" anchor="t"/>
          <a:lstStyle/>
          <a:p>
            <a:pPr algn="l" indent="0" marL="0">
              <a:lnSpc>
                <a:spcPts val="1260"/>
              </a:lnSpc>
              <a:buNone/>
            </a:pPr>
            <a:r>
              <a:rPr lang="en-US" sz="900" dirty="0">
                <a:solidFill>
                  <a:srgbClr val="FFFFFF">
                    <a:alpha val="30000"/>
                  </a:srgbClr>
                </a:solidFill>
                <a:latin typeface="Arial" pitchFamily="34" charset="0"/>
                <a:ea typeface="Arial" pitchFamily="34" charset="-122"/>
                <a:cs typeface="Arial" pitchFamily="34" charset="-120"/>
              </a:rPr>
              <a:t>20 minutes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5214789" cy="5143500"/>
          </a:xfrm>
          <a:prstGeom prst="rect">
            <a:avLst/>
          </a:prstGeom>
          <a:solidFill>
            <a:srgbClr val="F7F8FA"/>
          </a:solidFill>
          <a:ln/>
        </p:spPr>
        <p:txBody>
          <a:bodyPr wrap="square" rtlCol="0" anchor="ctr"/>
          <a:lstStyle/>
          <a:p>
            <a:pPr indent="0" marL="0">
              <a:buNone/>
            </a:pPr>
            <a:endParaRPr lang="en-US" dirty="0"/>
          </a:p>
        </p:txBody>
      </p:sp>
      <p:sp>
        <p:nvSpPr>
          <p:cNvPr id="3" name="Text 1"/>
          <p:cNvSpPr/>
          <p:nvPr/>
        </p:nvSpPr>
        <p:spPr>
          <a:xfrm>
            <a:off x="342900" y="775543"/>
            <a:ext cx="2185077" cy="146596"/>
          </a:xfrm>
          <a:prstGeom prst="rect">
            <a:avLst/>
          </a:prstGeom>
          <a:noFill/>
          <a:ln/>
        </p:spPr>
        <p:txBody>
          <a:bodyPr wrap="square" lIns="0" tIns="0" rIns="0" bIns="0" rtlCol="0" anchor="t"/>
          <a:lstStyle/>
          <a:p>
            <a:pPr algn="l" indent="0" marL="0">
              <a:lnSpc>
                <a:spcPts val="1155"/>
              </a:lnSpc>
              <a:buNone/>
            </a:pPr>
            <a:r>
              <a:rPr lang="en-US" sz="825" dirty="0">
                <a:solidFill>
                  <a:srgbClr val="C9A227"/>
                </a:solidFill>
                <a:latin typeface="Arial" pitchFamily="34" charset="0"/>
                <a:ea typeface="Arial" pitchFamily="34" charset="-122"/>
                <a:cs typeface="Arial" pitchFamily="34" charset="-120"/>
              </a:rPr>
              <a:t>PRIMARY RECOMMENDATION</a:t>
            </a:r>
            <a:endParaRPr lang="en-US" sz="825" dirty="0"/>
          </a:p>
        </p:txBody>
      </p:sp>
      <p:sp>
        <p:nvSpPr>
          <p:cNvPr id="4" name="Text 2"/>
          <p:cNvSpPr/>
          <p:nvPr/>
        </p:nvSpPr>
        <p:spPr>
          <a:xfrm>
            <a:off x="342900" y="1131689"/>
            <a:ext cx="2312289" cy="323850"/>
          </a:xfrm>
          <a:prstGeom prst="rect">
            <a:avLst/>
          </a:prstGeom>
          <a:noFill/>
          <a:ln/>
        </p:spPr>
        <p:txBody>
          <a:bodyPr wrap="square" lIns="0" tIns="0" rIns="0" bIns="0" rtlCol="0" anchor="t"/>
          <a:lstStyle/>
          <a:p>
            <a:pPr algn="l" indent="0" marL="0">
              <a:lnSpc>
                <a:spcPts val="2550"/>
              </a:lnSpc>
              <a:spcAft>
                <a:spcPts val="450"/>
              </a:spcAft>
              <a:buNone/>
            </a:pPr>
            <a:r>
              <a:rPr lang="en-US" sz="2550" dirty="0">
                <a:solidFill>
                  <a:srgbClr val="1A1F2E"/>
                </a:solidFill>
                <a:latin typeface="Georgia" pitchFamily="34" charset="0"/>
                <a:ea typeface="Georgia" pitchFamily="34" charset="-122"/>
                <a:cs typeface="Georgia" pitchFamily="34" charset="-120"/>
              </a:rPr>
              <a:t>SuperWhisper</a:t>
            </a:r>
            <a:endParaRPr lang="en-US" sz="2550" dirty="0"/>
          </a:p>
        </p:txBody>
      </p:sp>
      <p:sp>
        <p:nvSpPr>
          <p:cNvPr id="5" name="Text 3"/>
          <p:cNvSpPr/>
          <p:nvPr/>
        </p:nvSpPr>
        <p:spPr>
          <a:xfrm>
            <a:off x="342900" y="1665089"/>
            <a:ext cx="4619568" cy="173236"/>
          </a:xfrm>
          <a:prstGeom prst="rect">
            <a:avLst/>
          </a:prstGeom>
          <a:noFill/>
          <a:ln/>
        </p:spPr>
        <p:txBody>
          <a:bodyPr wrap="square" lIns="0" tIns="0" rIns="0" bIns="0" rtlCol="0" anchor="t"/>
          <a:lstStyle/>
          <a:p>
            <a:pPr algn="l" indent="0" marL="0">
              <a:lnSpc>
                <a:spcPts val="1365"/>
              </a:lnSpc>
              <a:spcAft>
                <a:spcPts val="1050"/>
              </a:spcAft>
              <a:buNone/>
            </a:pPr>
            <a:r>
              <a:rPr lang="en-US" sz="975" dirty="0">
                <a:solidFill>
                  <a:srgbClr val="6B7280"/>
                </a:solidFill>
                <a:latin typeface="Arial" pitchFamily="34" charset="0"/>
                <a:ea typeface="Arial" pitchFamily="34" charset="-122"/>
                <a:cs typeface="Arial" pitchFamily="34" charset="-120"/>
              </a:rPr>
              <a:t>AI-powered voice to text with local processing option</a:t>
            </a:r>
            <a:endParaRPr lang="en-US" sz="975" dirty="0"/>
          </a:p>
        </p:txBody>
      </p:sp>
      <p:sp>
        <p:nvSpPr>
          <p:cNvPr id="6" name="Text 4"/>
          <p:cNvSpPr/>
          <p:nvPr/>
        </p:nvSpPr>
        <p:spPr>
          <a:xfrm>
            <a:off x="342900" y="2124075"/>
            <a:ext cx="4528989" cy="741015"/>
          </a:xfrm>
          <a:prstGeom prst="rect">
            <a:avLst/>
          </a:prstGeom>
          <a:solidFill>
            <a:srgbClr val="FFFFFF"/>
          </a:solidFill>
          <a:ln/>
        </p:spPr>
        <p:txBody>
          <a:bodyPr wrap="square" rtlCol="0" anchor="ctr"/>
          <a:lstStyle/>
          <a:p>
            <a:pPr indent="0" marL="0">
              <a:buNone/>
            </a:pPr>
            <a:endParaRPr lang="en-US" dirty="0"/>
          </a:p>
        </p:txBody>
      </p:sp>
      <p:sp>
        <p:nvSpPr>
          <p:cNvPr id="7" name="Shape 5"/>
          <p:cNvSpPr/>
          <p:nvPr/>
        </p:nvSpPr>
        <p:spPr>
          <a:xfrm>
            <a:off x="361950" y="2124075"/>
            <a:ext cx="0" cy="741015"/>
          </a:xfrm>
          <a:prstGeom prst="line">
            <a:avLst/>
          </a:prstGeom>
          <a:noFill/>
          <a:ln w="38100">
            <a:solidFill>
              <a:srgbClr val="C9A227"/>
            </a:solidFill>
            <a:prstDash val="solid"/>
          </a:ln>
        </p:spPr>
      </p:sp>
      <p:sp>
        <p:nvSpPr>
          <p:cNvPr id="8" name="Text 6"/>
          <p:cNvSpPr/>
          <p:nvPr/>
        </p:nvSpPr>
        <p:spPr>
          <a:xfrm>
            <a:off x="533400" y="2238375"/>
            <a:ext cx="4269810"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What It Is</a:t>
            </a:r>
            <a:endParaRPr lang="en-US" sz="900" dirty="0"/>
          </a:p>
        </p:txBody>
      </p:sp>
      <p:sp>
        <p:nvSpPr>
          <p:cNvPr id="9" name="Text 7"/>
          <p:cNvSpPr/>
          <p:nvPr/>
        </p:nvSpPr>
        <p:spPr>
          <a:xfrm>
            <a:off x="533400" y="2436465"/>
            <a:ext cx="4269810" cy="314325"/>
          </a:xfrm>
          <a:prstGeom prst="rect">
            <a:avLst/>
          </a:prstGeom>
          <a:noFill/>
          <a:ln/>
        </p:spPr>
        <p:txBody>
          <a:bodyPr wrap="square" lIns="0" tIns="0" rIns="0" bIns="0" rtlCol="0" anchor="t"/>
          <a:lstStyle/>
          <a:p>
            <a:pPr algn="l" indent="0" marL="0">
              <a:lnSpc>
                <a:spcPts val="1238"/>
              </a:lnSpc>
              <a:buNone/>
            </a:pPr>
            <a:r>
              <a:rPr lang="en-US" sz="825" dirty="0">
                <a:solidFill>
                  <a:srgbClr val="6B7280"/>
                </a:solidFill>
                <a:latin typeface="Arial" pitchFamily="34" charset="0"/>
                <a:ea typeface="Arial" pitchFamily="34" charset="-122"/>
                <a:cs typeface="Arial" pitchFamily="34" charset="-120"/>
              </a:rPr>
              <a:t>Desktop app using OpenAI's Whisper models. Offers both local (on-device) and cloud processing options. 100+ languages supported.</a:t>
            </a:r>
            <a:endParaRPr lang="en-US" sz="825" dirty="0"/>
          </a:p>
        </p:txBody>
      </p:sp>
      <p:sp>
        <p:nvSpPr>
          <p:cNvPr id="10" name="Text 8"/>
          <p:cNvSpPr/>
          <p:nvPr/>
        </p:nvSpPr>
        <p:spPr>
          <a:xfrm>
            <a:off x="342900" y="3112740"/>
            <a:ext cx="1446163" cy="561826"/>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1" name="Text 9"/>
          <p:cNvSpPr/>
          <p:nvPr/>
        </p:nvSpPr>
        <p:spPr>
          <a:xfrm>
            <a:off x="447675" y="3217515"/>
            <a:ext cx="1261345" cy="213271"/>
          </a:xfrm>
          <a:prstGeom prst="rect">
            <a:avLst/>
          </a:prstGeom>
          <a:noFill/>
          <a:ln/>
        </p:spPr>
        <p:txBody>
          <a:bodyPr wrap="square" lIns="0" tIns="0" rIns="0" bIns="0" rtlCol="0" anchor="t"/>
          <a:lstStyle/>
          <a:p>
            <a:pPr algn="l" indent="0" marL="0">
              <a:lnSpc>
                <a:spcPts val="1680"/>
              </a:lnSpc>
              <a:spcAft>
                <a:spcPts val="150"/>
              </a:spcAft>
              <a:buNone/>
            </a:pPr>
            <a:r>
              <a:rPr lang="en-US" sz="1200" dirty="0">
                <a:solidFill>
                  <a:srgbClr val="059669"/>
                </a:solidFill>
                <a:latin typeface="Georgia" pitchFamily="34" charset="0"/>
                <a:ea typeface="Georgia" pitchFamily="34" charset="-122"/>
                <a:cs typeface="Georgia" pitchFamily="34" charset="-120"/>
              </a:rPr>
              <a:t>Free</a:t>
            </a:r>
            <a:endParaRPr lang="en-US" sz="1200" dirty="0"/>
          </a:p>
        </p:txBody>
      </p:sp>
      <p:sp>
        <p:nvSpPr>
          <p:cNvPr id="12" name="Text 10"/>
          <p:cNvSpPr/>
          <p:nvPr/>
        </p:nvSpPr>
        <p:spPr>
          <a:xfrm>
            <a:off x="447675" y="3449836"/>
            <a:ext cx="1261345" cy="119955"/>
          </a:xfrm>
          <a:prstGeom prst="rect">
            <a:avLst/>
          </a:prstGeom>
          <a:noFill/>
          <a:ln/>
        </p:spPr>
        <p:txBody>
          <a:bodyPr wrap="square" lIns="0" tIns="0" rIns="0" bIns="0" rtlCol="0" anchor="t"/>
          <a:lstStyle/>
          <a:p>
            <a:pPr algn="l" indent="0" marL="0">
              <a:lnSpc>
                <a:spcPts val="945"/>
              </a:lnSpc>
              <a:buNone/>
            </a:pPr>
            <a:r>
              <a:rPr lang="en-US" sz="675" dirty="0">
                <a:solidFill>
                  <a:srgbClr val="6B7280"/>
                </a:solidFill>
                <a:latin typeface="Arial" pitchFamily="34" charset="0"/>
                <a:ea typeface="Arial" pitchFamily="34" charset="-122"/>
                <a:cs typeface="Arial" pitchFamily="34" charset="-120"/>
              </a:rPr>
              <a:t>Basic models included</a:t>
            </a:r>
            <a:endParaRPr lang="en-US" sz="675" dirty="0"/>
          </a:p>
        </p:txBody>
      </p:sp>
      <p:sp>
        <p:nvSpPr>
          <p:cNvPr id="13" name="Text 11"/>
          <p:cNvSpPr/>
          <p:nvPr/>
        </p:nvSpPr>
        <p:spPr>
          <a:xfrm>
            <a:off x="1884313" y="3112740"/>
            <a:ext cx="1446163" cy="561826"/>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4" name="Text 12"/>
          <p:cNvSpPr/>
          <p:nvPr/>
        </p:nvSpPr>
        <p:spPr>
          <a:xfrm>
            <a:off x="1989088" y="3217515"/>
            <a:ext cx="1261345" cy="213271"/>
          </a:xfrm>
          <a:prstGeom prst="rect">
            <a:avLst/>
          </a:prstGeom>
          <a:noFill/>
          <a:ln/>
        </p:spPr>
        <p:txBody>
          <a:bodyPr wrap="square" lIns="0" tIns="0" rIns="0" bIns="0" rtlCol="0" anchor="t"/>
          <a:lstStyle/>
          <a:p>
            <a:pPr algn="l" indent="0" marL="0">
              <a:lnSpc>
                <a:spcPts val="1680"/>
              </a:lnSpc>
              <a:spcAft>
                <a:spcPts val="150"/>
              </a:spcAft>
              <a:buNone/>
            </a:pPr>
            <a:r>
              <a:rPr lang="en-US" sz="1200" dirty="0">
                <a:solidFill>
                  <a:srgbClr val="1A1F2E"/>
                </a:solidFill>
                <a:latin typeface="Georgia" pitchFamily="34" charset="0"/>
                <a:ea typeface="Georgia" pitchFamily="34" charset="-122"/>
                <a:cs typeface="Georgia" pitchFamily="34" charset="-120"/>
              </a:rPr>
              <a:t>$8.49/mo</a:t>
            </a:r>
            <a:endParaRPr lang="en-US" sz="1200" dirty="0"/>
          </a:p>
        </p:txBody>
      </p:sp>
      <p:sp>
        <p:nvSpPr>
          <p:cNvPr id="15" name="Text 13"/>
          <p:cNvSpPr/>
          <p:nvPr/>
        </p:nvSpPr>
        <p:spPr>
          <a:xfrm>
            <a:off x="1989088" y="3449836"/>
            <a:ext cx="1261345" cy="119955"/>
          </a:xfrm>
          <a:prstGeom prst="rect">
            <a:avLst/>
          </a:prstGeom>
          <a:noFill/>
          <a:ln/>
        </p:spPr>
        <p:txBody>
          <a:bodyPr wrap="square" lIns="0" tIns="0" rIns="0" bIns="0" rtlCol="0" anchor="t"/>
          <a:lstStyle/>
          <a:p>
            <a:pPr algn="l" indent="0" marL="0">
              <a:lnSpc>
                <a:spcPts val="945"/>
              </a:lnSpc>
              <a:buNone/>
            </a:pPr>
            <a:r>
              <a:rPr lang="en-US" sz="675" dirty="0">
                <a:solidFill>
                  <a:srgbClr val="6B7280"/>
                </a:solidFill>
                <a:latin typeface="Arial" pitchFamily="34" charset="0"/>
                <a:ea typeface="Arial" pitchFamily="34" charset="-122"/>
                <a:cs typeface="Arial" pitchFamily="34" charset="-120"/>
              </a:rPr>
              <a:t>Pro subscription</a:t>
            </a:r>
            <a:endParaRPr lang="en-US" sz="675" dirty="0"/>
          </a:p>
        </p:txBody>
      </p:sp>
      <p:sp>
        <p:nvSpPr>
          <p:cNvPr id="16" name="Text 14"/>
          <p:cNvSpPr/>
          <p:nvPr/>
        </p:nvSpPr>
        <p:spPr>
          <a:xfrm>
            <a:off x="3425726" y="3112740"/>
            <a:ext cx="1446163" cy="561826"/>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7" name="Text 15"/>
          <p:cNvSpPr/>
          <p:nvPr/>
        </p:nvSpPr>
        <p:spPr>
          <a:xfrm>
            <a:off x="3530501" y="3217515"/>
            <a:ext cx="1261345" cy="213271"/>
          </a:xfrm>
          <a:prstGeom prst="rect">
            <a:avLst/>
          </a:prstGeom>
          <a:noFill/>
          <a:ln/>
        </p:spPr>
        <p:txBody>
          <a:bodyPr wrap="square" lIns="0" tIns="0" rIns="0" bIns="0" rtlCol="0" anchor="t"/>
          <a:lstStyle/>
          <a:p>
            <a:pPr algn="l" indent="0" marL="0">
              <a:lnSpc>
                <a:spcPts val="1680"/>
              </a:lnSpc>
              <a:spcAft>
                <a:spcPts val="150"/>
              </a:spcAft>
              <a:buNone/>
            </a:pPr>
            <a:r>
              <a:rPr lang="en-US" sz="1200" dirty="0">
                <a:solidFill>
                  <a:srgbClr val="1A1F2E"/>
                </a:solidFill>
                <a:latin typeface="Georgia" pitchFamily="34" charset="0"/>
                <a:ea typeface="Georgia" pitchFamily="34" charset="-122"/>
                <a:cs typeface="Georgia" pitchFamily="34" charset="-120"/>
              </a:rPr>
              <a:t>$249</a:t>
            </a:r>
            <a:endParaRPr lang="en-US" sz="1200" dirty="0"/>
          </a:p>
        </p:txBody>
      </p:sp>
      <p:sp>
        <p:nvSpPr>
          <p:cNvPr id="18" name="Text 16"/>
          <p:cNvSpPr/>
          <p:nvPr/>
        </p:nvSpPr>
        <p:spPr>
          <a:xfrm>
            <a:off x="3530501" y="3449836"/>
            <a:ext cx="1261345" cy="119955"/>
          </a:xfrm>
          <a:prstGeom prst="rect">
            <a:avLst/>
          </a:prstGeom>
          <a:noFill/>
          <a:ln/>
        </p:spPr>
        <p:txBody>
          <a:bodyPr wrap="square" lIns="0" tIns="0" rIns="0" bIns="0" rtlCol="0" anchor="t"/>
          <a:lstStyle/>
          <a:p>
            <a:pPr algn="l" indent="0" marL="0">
              <a:lnSpc>
                <a:spcPts val="945"/>
              </a:lnSpc>
              <a:buNone/>
            </a:pPr>
            <a:r>
              <a:rPr lang="en-US" sz="675" dirty="0">
                <a:solidFill>
                  <a:srgbClr val="6B7280"/>
                </a:solidFill>
                <a:latin typeface="Arial" pitchFamily="34" charset="0"/>
                <a:ea typeface="Arial" pitchFamily="34" charset="-122"/>
                <a:cs typeface="Arial" pitchFamily="34" charset="-120"/>
              </a:rPr>
              <a:t>Lifetime option</a:t>
            </a:r>
            <a:endParaRPr lang="en-US" sz="675" dirty="0"/>
          </a:p>
        </p:txBody>
      </p:sp>
      <p:sp>
        <p:nvSpPr>
          <p:cNvPr id="19" name="Text 17"/>
          <p:cNvSpPr/>
          <p:nvPr/>
        </p:nvSpPr>
        <p:spPr>
          <a:xfrm>
            <a:off x="342900" y="3922216"/>
            <a:ext cx="4528989" cy="483691"/>
          </a:xfrm>
          <a:prstGeom prst="rect">
            <a:avLst/>
          </a:prstGeom>
          <a:solidFill>
            <a:srgbClr val="DCFCE7"/>
          </a:solidFill>
          <a:ln/>
        </p:spPr>
        <p:txBody>
          <a:bodyPr wrap="square" rtlCol="0" anchor="ctr"/>
          <a:lstStyle/>
          <a:p>
            <a:pPr indent="0" marL="0">
              <a:buNone/>
            </a:pPr>
            <a:endParaRPr lang="en-US" dirty="0"/>
          </a:p>
        </p:txBody>
      </p:sp>
      <p:sp>
        <p:nvSpPr>
          <p:cNvPr id="20" name="Shape 18"/>
          <p:cNvSpPr/>
          <p:nvPr/>
        </p:nvSpPr>
        <p:spPr>
          <a:xfrm>
            <a:off x="361950" y="3922216"/>
            <a:ext cx="0" cy="483691"/>
          </a:xfrm>
          <a:prstGeom prst="line">
            <a:avLst/>
          </a:prstGeom>
          <a:noFill/>
          <a:ln w="38100">
            <a:solidFill>
              <a:srgbClr val="059669"/>
            </a:solidFill>
            <a:prstDash val="solid"/>
          </a:ln>
        </p:spPr>
      </p:sp>
      <p:sp>
        <p:nvSpPr>
          <p:cNvPr id="21" name="Text 19"/>
          <p:cNvSpPr/>
          <p:nvPr/>
        </p:nvSpPr>
        <p:spPr>
          <a:xfrm>
            <a:off x="514350" y="4017466"/>
            <a:ext cx="4308672" cy="293191"/>
          </a:xfrm>
          <a:prstGeom prst="rect">
            <a:avLst/>
          </a:prstGeom>
          <a:noFill/>
          <a:ln/>
        </p:spPr>
        <p:txBody>
          <a:bodyPr wrap="square" lIns="0" tIns="0" rIns="0" bIns="0" rtlCol="0" anchor="t"/>
          <a:lstStyle/>
          <a:p>
            <a:pPr algn="l" indent="0" marL="0">
              <a:lnSpc>
                <a:spcPts val="1155"/>
              </a:lnSpc>
              <a:buNone/>
            </a:pPr>
            <a:r>
              <a:rPr lang="en-US" sz="825" b="1" dirty="0">
                <a:solidFill>
                  <a:srgbClr val="166534"/>
                </a:solidFill>
                <a:latin typeface="Arial" pitchFamily="34" charset="0"/>
                <a:ea typeface="Arial" pitchFamily="34" charset="-122"/>
                <a:cs typeface="Arial" pitchFamily="34" charset="-120"/>
              </a:rPr>
              <a:t>Local Processing Available:</a:t>
            </a:r>
            <a:pPr algn="l" indent="0" marL="0">
              <a:lnSpc>
                <a:spcPts val="1155"/>
              </a:lnSpc>
              <a:buNone/>
            </a:pPr>
            <a:r>
              <a:rPr lang="en-US" sz="825" dirty="0">
                <a:solidFill>
                  <a:srgbClr val="166534"/>
                </a:solidFill>
                <a:latin typeface="Arial" pitchFamily="34" charset="0"/>
                <a:ea typeface="Arial" pitchFamily="34" charset="-122"/>
                <a:cs typeface="Arial" pitchFamily="34" charset="-120"/>
              </a:rPr>
              <a:t> Use on-device models for complete privacy. Voice data never leaves your machine when using local models.</a:t>
            </a:r>
            <a:endParaRPr lang="en-US" sz="825" dirty="0"/>
          </a:p>
        </p:txBody>
      </p:sp>
      <p:sp>
        <p:nvSpPr>
          <p:cNvPr id="22" name="Text 20"/>
          <p:cNvSpPr/>
          <p:nvPr/>
        </p:nvSpPr>
        <p:spPr>
          <a:xfrm>
            <a:off x="5367189" y="0"/>
            <a:ext cx="3776811" cy="5143500"/>
          </a:xfrm>
          <a:prstGeom prst="rect">
            <a:avLst/>
          </a:prstGeom>
          <a:solidFill>
            <a:srgbClr val="1A1F2E"/>
          </a:solidFill>
          <a:ln/>
        </p:spPr>
        <p:txBody>
          <a:bodyPr wrap="square" rtlCol="0" anchor="ctr"/>
          <a:lstStyle/>
          <a:p>
            <a:pPr indent="0" marL="0">
              <a:buNone/>
            </a:pPr>
            <a:endParaRPr lang="en-US" dirty="0"/>
          </a:p>
        </p:txBody>
      </p:sp>
      <p:sp>
        <p:nvSpPr>
          <p:cNvPr id="23" name="Text 21"/>
          <p:cNvSpPr/>
          <p:nvPr/>
        </p:nvSpPr>
        <p:spPr>
          <a:xfrm>
            <a:off x="5633889" y="342900"/>
            <a:ext cx="3308280" cy="146596"/>
          </a:xfrm>
          <a:prstGeom prst="rect">
            <a:avLst/>
          </a:prstGeom>
          <a:noFill/>
          <a:ln/>
        </p:spPr>
        <p:txBody>
          <a:bodyPr wrap="square" lIns="0" tIns="0" rIns="0" bIns="0" rtlCol="0" anchor="t"/>
          <a:lstStyle/>
          <a:p>
            <a:pPr algn="l" indent="0" marL="0">
              <a:lnSpc>
                <a:spcPts val="1155"/>
              </a:lnSpc>
              <a:spcAft>
                <a:spcPts val="1050"/>
              </a:spcAft>
              <a:buNone/>
            </a:pPr>
            <a:r>
              <a:rPr lang="en-US" sz="825" dirty="0">
                <a:solidFill>
                  <a:srgbClr val="C9A227"/>
                </a:solidFill>
                <a:latin typeface="Arial" pitchFamily="34" charset="0"/>
                <a:ea typeface="Arial" pitchFamily="34" charset="-122"/>
                <a:cs typeface="Arial" pitchFamily="34" charset="-120"/>
              </a:rPr>
              <a:t>PLATFORM SUPPORT</a:t>
            </a:r>
            <a:endParaRPr lang="en-US" sz="825" dirty="0"/>
          </a:p>
        </p:txBody>
      </p:sp>
      <p:sp>
        <p:nvSpPr>
          <p:cNvPr id="24" name="Text 22"/>
          <p:cNvSpPr/>
          <p:nvPr/>
        </p:nvSpPr>
        <p:spPr>
          <a:xfrm>
            <a:off x="5633889" y="775246"/>
            <a:ext cx="3243411" cy="546646"/>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25" name="Text 23"/>
          <p:cNvSpPr/>
          <p:nvPr/>
        </p:nvSpPr>
        <p:spPr>
          <a:xfrm>
            <a:off x="5757714" y="915144"/>
            <a:ext cx="266700" cy="266700"/>
          </a:xfrm>
          <a:prstGeom prst="rect">
            <a:avLst/>
          </a:prstGeom>
          <a:solidFill>
            <a:srgbClr val="C9A227"/>
          </a:solidFill>
          <a:ln/>
        </p:spPr>
        <p:txBody>
          <a:bodyPr wrap="square" rtlCol="0" anchor="ctr"/>
          <a:lstStyle/>
          <a:p>
            <a:pPr indent="0" marL="0">
              <a:buNone/>
            </a:pPr>
            <a:endParaRPr lang="en-US" dirty="0"/>
          </a:p>
        </p:txBody>
      </p:sp>
      <p:sp>
        <p:nvSpPr>
          <p:cNvPr id="26" name="Text 24"/>
          <p:cNvSpPr/>
          <p:nvPr/>
        </p:nvSpPr>
        <p:spPr>
          <a:xfrm>
            <a:off x="5837039" y="968425"/>
            <a:ext cx="110058" cy="159990"/>
          </a:xfrm>
          <a:prstGeom prst="rect">
            <a:avLst/>
          </a:prstGeom>
          <a:noFill/>
          <a:ln/>
        </p:spPr>
        <p:txBody>
          <a:bodyPr wrap="square" lIns="0" tIns="0" rIns="0" bIns="0" rtlCol="0" anchor="t"/>
          <a:lstStyle/>
          <a:p>
            <a:pPr algn="l" indent="0" marL="0">
              <a:lnSpc>
                <a:spcPts val="1260"/>
              </a:lnSpc>
              <a:buNone/>
            </a:pPr>
            <a:r>
              <a:rPr lang="en-US" sz="900" dirty="0">
                <a:solidFill>
                  <a:srgbClr val="1A1F2E"/>
                </a:solidFill>
                <a:latin typeface="Arial" pitchFamily="34" charset="0"/>
                <a:ea typeface="Arial" pitchFamily="34" charset="-122"/>
                <a:cs typeface="Arial" pitchFamily="34" charset="-120"/>
              </a:rPr>
              <a:t>W</a:t>
            </a:r>
            <a:endParaRPr lang="en-US" sz="900" dirty="0"/>
          </a:p>
        </p:txBody>
      </p:sp>
      <p:sp>
        <p:nvSpPr>
          <p:cNvPr id="27" name="Text 25"/>
          <p:cNvSpPr/>
          <p:nvPr/>
        </p:nvSpPr>
        <p:spPr>
          <a:xfrm>
            <a:off x="6119664" y="899071"/>
            <a:ext cx="788474" cy="159990"/>
          </a:xfrm>
          <a:prstGeom prst="rect">
            <a:avLst/>
          </a:prstGeom>
          <a:noFill/>
          <a:ln/>
        </p:spPr>
        <p:txBody>
          <a:bodyPr wrap="square" lIns="0" tIns="0" rIns="0" bIns="0" rtlCol="0" anchor="t"/>
          <a:lstStyle/>
          <a:p>
            <a:pPr algn="l" indent="0" marL="0">
              <a:lnSpc>
                <a:spcPts val="1260"/>
              </a:lnSpc>
              <a:buNone/>
            </a:pPr>
            <a:r>
              <a:rPr lang="en-US" sz="900" dirty="0">
                <a:solidFill>
                  <a:srgbClr val="FFFFFF"/>
                </a:solidFill>
                <a:latin typeface="Arial" pitchFamily="34" charset="0"/>
                <a:ea typeface="Arial" pitchFamily="34" charset="-122"/>
                <a:cs typeface="Arial" pitchFamily="34" charset="-120"/>
              </a:rPr>
              <a:t>Windows 10/11</a:t>
            </a:r>
            <a:endParaRPr lang="en-US" sz="900" dirty="0"/>
          </a:p>
        </p:txBody>
      </p:sp>
      <p:sp>
        <p:nvSpPr>
          <p:cNvPr id="28" name="Text 26"/>
          <p:cNvSpPr/>
          <p:nvPr/>
        </p:nvSpPr>
        <p:spPr>
          <a:xfrm>
            <a:off x="6119664" y="1078111"/>
            <a:ext cx="788474" cy="119955"/>
          </a:xfrm>
          <a:prstGeom prst="rect">
            <a:avLst/>
          </a:prstGeom>
          <a:noFill/>
          <a:ln/>
        </p:spPr>
        <p:txBody>
          <a:bodyPr wrap="square" lIns="0" tIns="0" rIns="0" bIns="0" rtlCol="0" anchor="t"/>
          <a:lstStyle/>
          <a:p>
            <a:pPr algn="l" indent="0" marL="0">
              <a:lnSpc>
                <a:spcPts val="945"/>
              </a:lnSpc>
              <a:spcBef>
                <a:spcPts val="150"/>
              </a:spcBef>
              <a:buNone/>
            </a:pPr>
            <a:r>
              <a:rPr lang="en-US" sz="675" dirty="0">
                <a:solidFill>
                  <a:srgbClr val="FFFFFF">
                    <a:alpha val="50000"/>
                  </a:srgbClr>
                </a:solidFill>
                <a:latin typeface="Arial" pitchFamily="34" charset="0"/>
                <a:ea typeface="Arial" pitchFamily="34" charset="-122"/>
                <a:cs typeface="Arial" pitchFamily="34" charset="-120"/>
              </a:rPr>
              <a:t>Launched Dec 2025</a:t>
            </a:r>
            <a:endParaRPr lang="en-US" sz="675" dirty="0"/>
          </a:p>
        </p:txBody>
      </p:sp>
      <p:sp>
        <p:nvSpPr>
          <p:cNvPr id="29" name="Text 27"/>
          <p:cNvSpPr/>
          <p:nvPr/>
        </p:nvSpPr>
        <p:spPr>
          <a:xfrm>
            <a:off x="5633889" y="1569541"/>
            <a:ext cx="3243411" cy="546646"/>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30" name="Text 28"/>
          <p:cNvSpPr/>
          <p:nvPr/>
        </p:nvSpPr>
        <p:spPr>
          <a:xfrm>
            <a:off x="5757714" y="1709440"/>
            <a:ext cx="266700" cy="266700"/>
          </a:xfrm>
          <a:prstGeom prst="rect">
            <a:avLst/>
          </a:prstGeom>
          <a:solidFill>
            <a:srgbClr val="C9A227"/>
          </a:solidFill>
          <a:ln/>
        </p:spPr>
        <p:txBody>
          <a:bodyPr wrap="square" rtlCol="0" anchor="ctr"/>
          <a:lstStyle/>
          <a:p>
            <a:pPr indent="0" marL="0">
              <a:buNone/>
            </a:pPr>
            <a:endParaRPr lang="en-US" dirty="0"/>
          </a:p>
        </p:txBody>
      </p:sp>
      <p:sp>
        <p:nvSpPr>
          <p:cNvPr id="31" name="Text 29"/>
          <p:cNvSpPr/>
          <p:nvPr/>
        </p:nvSpPr>
        <p:spPr>
          <a:xfrm>
            <a:off x="5843439" y="1762720"/>
            <a:ext cx="97155" cy="159990"/>
          </a:xfrm>
          <a:prstGeom prst="rect">
            <a:avLst/>
          </a:prstGeom>
          <a:noFill/>
          <a:ln/>
        </p:spPr>
        <p:txBody>
          <a:bodyPr wrap="square" lIns="0" tIns="0" rIns="0" bIns="0" rtlCol="0" anchor="t"/>
          <a:lstStyle/>
          <a:p>
            <a:pPr algn="l" indent="0" marL="0">
              <a:lnSpc>
                <a:spcPts val="1260"/>
              </a:lnSpc>
              <a:buNone/>
            </a:pPr>
            <a:r>
              <a:rPr lang="en-US" sz="900" dirty="0">
                <a:solidFill>
                  <a:srgbClr val="1A1F2E"/>
                </a:solidFill>
                <a:latin typeface="Arial" pitchFamily="34" charset="0"/>
                <a:ea typeface="Arial" pitchFamily="34" charset="-122"/>
                <a:cs typeface="Arial" pitchFamily="34" charset="-120"/>
              </a:rPr>
              <a:t>M</a:t>
            </a:r>
            <a:endParaRPr lang="en-US" sz="900" dirty="0"/>
          </a:p>
        </p:txBody>
      </p:sp>
      <p:sp>
        <p:nvSpPr>
          <p:cNvPr id="32" name="Text 30"/>
          <p:cNvSpPr/>
          <p:nvPr/>
        </p:nvSpPr>
        <p:spPr>
          <a:xfrm>
            <a:off x="6119664" y="1693366"/>
            <a:ext cx="811700" cy="159990"/>
          </a:xfrm>
          <a:prstGeom prst="rect">
            <a:avLst/>
          </a:prstGeom>
          <a:noFill/>
          <a:ln/>
        </p:spPr>
        <p:txBody>
          <a:bodyPr wrap="square" lIns="0" tIns="0" rIns="0" bIns="0" rtlCol="0" anchor="t"/>
          <a:lstStyle/>
          <a:p>
            <a:pPr algn="l" indent="0" marL="0">
              <a:lnSpc>
                <a:spcPts val="1260"/>
              </a:lnSpc>
              <a:buNone/>
            </a:pPr>
            <a:r>
              <a:rPr lang="en-US" sz="900" dirty="0">
                <a:solidFill>
                  <a:srgbClr val="FFFFFF"/>
                </a:solidFill>
                <a:latin typeface="Arial" pitchFamily="34" charset="0"/>
                <a:ea typeface="Arial" pitchFamily="34" charset="-122"/>
                <a:cs typeface="Arial" pitchFamily="34" charset="-120"/>
              </a:rPr>
              <a:t>macOS 13+</a:t>
            </a:r>
            <a:endParaRPr lang="en-US" sz="900" dirty="0"/>
          </a:p>
        </p:txBody>
      </p:sp>
      <p:sp>
        <p:nvSpPr>
          <p:cNvPr id="33" name="Text 31"/>
          <p:cNvSpPr/>
          <p:nvPr/>
        </p:nvSpPr>
        <p:spPr>
          <a:xfrm>
            <a:off x="6119664" y="1872407"/>
            <a:ext cx="811700" cy="119955"/>
          </a:xfrm>
          <a:prstGeom prst="rect">
            <a:avLst/>
          </a:prstGeom>
          <a:noFill/>
          <a:ln/>
        </p:spPr>
        <p:txBody>
          <a:bodyPr wrap="square" lIns="0" tIns="0" rIns="0" bIns="0" rtlCol="0" anchor="t"/>
          <a:lstStyle/>
          <a:p>
            <a:pPr algn="l" indent="0" marL="0">
              <a:lnSpc>
                <a:spcPts val="945"/>
              </a:lnSpc>
              <a:spcBef>
                <a:spcPts val="150"/>
              </a:spcBef>
              <a:buNone/>
            </a:pPr>
            <a:r>
              <a:rPr lang="en-US" sz="675" dirty="0">
                <a:solidFill>
                  <a:srgbClr val="FFFFFF">
                    <a:alpha val="50000"/>
                  </a:srgbClr>
                </a:solidFill>
                <a:latin typeface="Arial" pitchFamily="34" charset="0"/>
                <a:ea typeface="Arial" pitchFamily="34" charset="-122"/>
                <a:cs typeface="Arial" pitchFamily="34" charset="-120"/>
              </a:rPr>
              <a:t>Apple Silicon optimal</a:t>
            </a:r>
            <a:endParaRPr lang="en-US" sz="675" dirty="0"/>
          </a:p>
        </p:txBody>
      </p:sp>
      <p:sp>
        <p:nvSpPr>
          <p:cNvPr id="34" name="Text 32"/>
          <p:cNvSpPr/>
          <p:nvPr/>
        </p:nvSpPr>
        <p:spPr>
          <a:xfrm>
            <a:off x="5633889" y="2363837"/>
            <a:ext cx="3243411" cy="546646"/>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35" name="Text 33"/>
          <p:cNvSpPr/>
          <p:nvPr/>
        </p:nvSpPr>
        <p:spPr>
          <a:xfrm>
            <a:off x="5757714" y="2503736"/>
            <a:ext cx="266700" cy="266700"/>
          </a:xfrm>
          <a:prstGeom prst="rect">
            <a:avLst/>
          </a:prstGeom>
          <a:solidFill>
            <a:srgbClr val="C9A227"/>
          </a:solidFill>
          <a:ln/>
        </p:spPr>
        <p:txBody>
          <a:bodyPr wrap="square" rtlCol="0" anchor="ctr"/>
          <a:lstStyle/>
          <a:p>
            <a:pPr indent="0" marL="0">
              <a:buNone/>
            </a:pPr>
            <a:endParaRPr lang="en-US" dirty="0"/>
          </a:p>
        </p:txBody>
      </p:sp>
      <p:sp>
        <p:nvSpPr>
          <p:cNvPr id="36" name="Text 34"/>
          <p:cNvSpPr/>
          <p:nvPr/>
        </p:nvSpPr>
        <p:spPr>
          <a:xfrm>
            <a:off x="5878264" y="2557016"/>
            <a:ext cx="25959" cy="159990"/>
          </a:xfrm>
          <a:prstGeom prst="rect">
            <a:avLst/>
          </a:prstGeom>
          <a:noFill/>
          <a:ln/>
        </p:spPr>
        <p:txBody>
          <a:bodyPr wrap="square" lIns="0" tIns="0" rIns="0" bIns="0" rtlCol="0" anchor="t"/>
          <a:lstStyle/>
          <a:p>
            <a:pPr algn="l" indent="0" marL="0">
              <a:lnSpc>
                <a:spcPts val="1260"/>
              </a:lnSpc>
              <a:buNone/>
            </a:pPr>
            <a:r>
              <a:rPr lang="en-US" sz="900" dirty="0">
                <a:solidFill>
                  <a:srgbClr val="1A1F2E"/>
                </a:solidFill>
                <a:latin typeface="Arial" pitchFamily="34" charset="0"/>
                <a:ea typeface="Arial" pitchFamily="34" charset="-122"/>
                <a:cs typeface="Arial" pitchFamily="34" charset="-120"/>
              </a:rPr>
              <a:t>i</a:t>
            </a:r>
            <a:endParaRPr lang="en-US" sz="900" dirty="0"/>
          </a:p>
        </p:txBody>
      </p:sp>
      <p:sp>
        <p:nvSpPr>
          <p:cNvPr id="37" name="Text 35"/>
          <p:cNvSpPr/>
          <p:nvPr/>
        </p:nvSpPr>
        <p:spPr>
          <a:xfrm>
            <a:off x="6119664" y="2487662"/>
            <a:ext cx="1088743" cy="159990"/>
          </a:xfrm>
          <a:prstGeom prst="rect">
            <a:avLst/>
          </a:prstGeom>
          <a:noFill/>
          <a:ln/>
        </p:spPr>
        <p:txBody>
          <a:bodyPr wrap="square" lIns="0" tIns="0" rIns="0" bIns="0" rtlCol="0" anchor="t"/>
          <a:lstStyle/>
          <a:p>
            <a:pPr algn="l" indent="0" marL="0">
              <a:lnSpc>
                <a:spcPts val="1260"/>
              </a:lnSpc>
              <a:buNone/>
            </a:pPr>
            <a:r>
              <a:rPr lang="en-US" sz="900" dirty="0">
                <a:solidFill>
                  <a:srgbClr val="FFFFFF"/>
                </a:solidFill>
                <a:latin typeface="Arial" pitchFamily="34" charset="0"/>
                <a:ea typeface="Arial" pitchFamily="34" charset="-122"/>
                <a:cs typeface="Arial" pitchFamily="34" charset="-120"/>
              </a:rPr>
              <a:t>iOS / iPadOS</a:t>
            </a:r>
            <a:endParaRPr lang="en-US" sz="900" dirty="0"/>
          </a:p>
        </p:txBody>
      </p:sp>
      <p:sp>
        <p:nvSpPr>
          <p:cNvPr id="38" name="Text 36"/>
          <p:cNvSpPr/>
          <p:nvPr/>
        </p:nvSpPr>
        <p:spPr>
          <a:xfrm>
            <a:off x="6119664" y="2666702"/>
            <a:ext cx="1088743" cy="119955"/>
          </a:xfrm>
          <a:prstGeom prst="rect">
            <a:avLst/>
          </a:prstGeom>
          <a:noFill/>
          <a:ln/>
        </p:spPr>
        <p:txBody>
          <a:bodyPr wrap="square" lIns="0" tIns="0" rIns="0" bIns="0" rtlCol="0" anchor="t"/>
          <a:lstStyle/>
          <a:p>
            <a:pPr algn="l" indent="0" marL="0">
              <a:lnSpc>
                <a:spcPts val="945"/>
              </a:lnSpc>
              <a:spcBef>
                <a:spcPts val="150"/>
              </a:spcBef>
              <a:buNone/>
            </a:pPr>
            <a:r>
              <a:rPr lang="en-US" sz="675" dirty="0">
                <a:solidFill>
                  <a:srgbClr val="FFFFFF">
                    <a:alpha val="50000"/>
                  </a:srgbClr>
                </a:solidFill>
                <a:latin typeface="Arial" pitchFamily="34" charset="0"/>
                <a:ea typeface="Arial" pitchFamily="34" charset="-122"/>
                <a:cs typeface="Arial" pitchFamily="34" charset="-120"/>
              </a:rPr>
              <a:t>Same license covers mobile</a:t>
            </a:r>
            <a:endParaRPr lang="en-US" sz="675" dirty="0"/>
          </a:p>
        </p:txBody>
      </p:sp>
      <p:sp>
        <p:nvSpPr>
          <p:cNvPr id="39" name="Text 37"/>
          <p:cNvSpPr/>
          <p:nvPr/>
        </p:nvSpPr>
        <p:spPr>
          <a:xfrm>
            <a:off x="5633889" y="4476750"/>
            <a:ext cx="3243411" cy="361950"/>
          </a:xfrm>
          <a:prstGeom prst="rect">
            <a:avLst/>
          </a:prstGeom>
          <a:solidFill>
            <a:srgbClr val="059669"/>
          </a:solidFill>
          <a:ln/>
        </p:spPr>
        <p:txBody>
          <a:bodyPr wrap="square" rtlCol="0" anchor="ctr"/>
          <a:lstStyle/>
          <a:p>
            <a:pPr indent="0" marL="0">
              <a:buNone/>
            </a:pPr>
            <a:endParaRPr lang="en-US" dirty="0"/>
          </a:p>
        </p:txBody>
      </p:sp>
      <p:sp>
        <p:nvSpPr>
          <p:cNvPr id="40" name="Text 38"/>
          <p:cNvSpPr/>
          <p:nvPr/>
        </p:nvSpPr>
        <p:spPr>
          <a:xfrm>
            <a:off x="5718041" y="4591050"/>
            <a:ext cx="3075108" cy="133350"/>
          </a:xfrm>
          <a:prstGeom prst="rect">
            <a:avLst/>
          </a:prstGeom>
          <a:noFill/>
          <a:ln/>
        </p:spPr>
        <p:txBody>
          <a:bodyPr wrap="square" lIns="0" tIns="0" rIns="0" bIns="0" rtlCol="0" anchor="t"/>
          <a:lstStyle/>
          <a:p>
            <a:pPr algn="ctr" indent="0" marL="0">
              <a:lnSpc>
                <a:spcPts val="1050"/>
              </a:lnSpc>
              <a:buNone/>
            </a:pPr>
            <a:r>
              <a:rPr lang="en-US" sz="750" dirty="0">
                <a:solidFill>
                  <a:srgbClr val="FFFFFF"/>
                </a:solidFill>
                <a:latin typeface="Arial" pitchFamily="34" charset="0"/>
                <a:ea typeface="Arial" pitchFamily="34" charset="-122"/>
                <a:cs typeface="Arial" pitchFamily="34" charset="-120"/>
              </a:rPr>
              <a:t>Local models = Safe for PHI and sensitive data</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457200" y="266700"/>
            <a:ext cx="8394192" cy="146596"/>
          </a:xfrm>
          <a:prstGeom prst="rect">
            <a:avLst/>
          </a:prstGeom>
          <a:noFill/>
          <a:ln/>
        </p:spPr>
        <p:txBody>
          <a:bodyPr wrap="square" lIns="0" tIns="0" rIns="0" bIns="0" rtlCol="0" anchor="t"/>
          <a:lstStyle/>
          <a:p>
            <a:pPr algn="l" indent="0" marL="0">
              <a:lnSpc>
                <a:spcPts val="1155"/>
              </a:lnSpc>
              <a:spcAft>
                <a:spcPts val="450"/>
              </a:spcAft>
              <a:buNone/>
            </a:pPr>
            <a:r>
              <a:rPr lang="en-US" sz="825" dirty="0">
                <a:solidFill>
                  <a:srgbClr val="C9A227"/>
                </a:solidFill>
                <a:latin typeface="Arial" pitchFamily="34" charset="0"/>
                <a:ea typeface="Arial" pitchFamily="34" charset="-122"/>
                <a:cs typeface="Arial" pitchFamily="34" charset="-120"/>
              </a:rPr>
              <a:t>DATA FLOW ARCHITECTURE</a:t>
            </a:r>
            <a:endParaRPr lang="en-US" sz="825" dirty="0"/>
          </a:p>
        </p:txBody>
      </p:sp>
      <p:sp>
        <p:nvSpPr>
          <p:cNvPr id="3" name="Text 1"/>
          <p:cNvSpPr/>
          <p:nvPr/>
        </p:nvSpPr>
        <p:spPr>
          <a:xfrm>
            <a:off x="457200" y="470446"/>
            <a:ext cx="4206812" cy="285750"/>
          </a:xfrm>
          <a:prstGeom prst="rect">
            <a:avLst/>
          </a:prstGeom>
          <a:noFill/>
          <a:ln/>
        </p:spPr>
        <p:txBody>
          <a:bodyPr wrap="square" lIns="0" tIns="0" rIns="0" bIns="0" rtlCol="0" anchor="t"/>
          <a:lstStyle/>
          <a:p>
            <a:pPr algn="l" indent="0" marL="0">
              <a:lnSpc>
                <a:spcPts val="2250"/>
              </a:lnSpc>
              <a:buNone/>
            </a:pPr>
            <a:r>
              <a:rPr lang="en-US" sz="2250" dirty="0">
                <a:solidFill>
                  <a:srgbClr val="1A1F2E"/>
                </a:solidFill>
                <a:latin typeface="Georgia" pitchFamily="34" charset="0"/>
                <a:ea typeface="Georgia" pitchFamily="34" charset="-122"/>
                <a:cs typeface="Georgia" pitchFamily="34" charset="-120"/>
              </a:rPr>
              <a:t>Why Local Processing Matters</a:t>
            </a:r>
            <a:endParaRPr lang="en-US" sz="2250" dirty="0"/>
          </a:p>
        </p:txBody>
      </p:sp>
      <p:sp>
        <p:nvSpPr>
          <p:cNvPr id="4" name="Text 2"/>
          <p:cNvSpPr/>
          <p:nvPr/>
        </p:nvSpPr>
        <p:spPr>
          <a:xfrm>
            <a:off x="457200" y="1060996"/>
            <a:ext cx="8394192" cy="146596"/>
          </a:xfrm>
          <a:prstGeom prst="rect">
            <a:avLst/>
          </a:prstGeom>
          <a:noFill/>
          <a:ln/>
        </p:spPr>
        <p:txBody>
          <a:bodyPr wrap="square" lIns="0" tIns="0" rIns="0" bIns="0" rtlCol="0" anchor="t"/>
          <a:lstStyle/>
          <a:p>
            <a:pPr algn="l" indent="0" marL="0">
              <a:lnSpc>
                <a:spcPts val="1155"/>
              </a:lnSpc>
              <a:spcAft>
                <a:spcPts val="600"/>
              </a:spcAft>
              <a:buNone/>
            </a:pPr>
            <a:r>
              <a:rPr lang="en-US" sz="825" b="1" dirty="0">
                <a:solidFill>
                  <a:srgbClr val="059669"/>
                </a:solidFill>
                <a:latin typeface="Arial" pitchFamily="34" charset="0"/>
                <a:ea typeface="Arial" pitchFamily="34" charset="-122"/>
                <a:cs typeface="Arial" pitchFamily="34" charset="-120"/>
              </a:rPr>
              <a:t>LOCAL PROCESSING (SuperWhisper)</a:t>
            </a:r>
            <a:endParaRPr lang="en-US" sz="825" dirty="0"/>
          </a:p>
        </p:txBody>
      </p:sp>
      <p:sp>
        <p:nvSpPr>
          <p:cNvPr id="5" name="Text 3"/>
          <p:cNvSpPr/>
          <p:nvPr/>
        </p:nvSpPr>
        <p:spPr>
          <a:xfrm>
            <a:off x="457200" y="1524744"/>
            <a:ext cx="1047750" cy="323850"/>
          </a:xfrm>
          <a:prstGeom prst="rect">
            <a:avLst/>
          </a:prstGeom>
          <a:solidFill>
            <a:srgbClr val="DBEAFE"/>
          </a:solidFill>
          <a:ln/>
        </p:spPr>
        <p:txBody>
          <a:bodyPr wrap="square" rtlCol="0" anchor="ctr"/>
          <a:lstStyle/>
          <a:p>
            <a:pPr indent="0" marL="0">
              <a:buNone/>
            </a:pPr>
            <a:endParaRPr lang="en-US" dirty="0"/>
          </a:p>
        </p:txBody>
      </p:sp>
      <p:sp>
        <p:nvSpPr>
          <p:cNvPr id="6" name="Text 4"/>
          <p:cNvSpPr/>
          <p:nvPr/>
        </p:nvSpPr>
        <p:spPr>
          <a:xfrm>
            <a:off x="582740" y="1619994"/>
            <a:ext cx="796671" cy="133350"/>
          </a:xfrm>
          <a:prstGeom prst="rect">
            <a:avLst/>
          </a:prstGeom>
          <a:noFill/>
          <a:ln/>
        </p:spPr>
        <p:txBody>
          <a:bodyPr wrap="square" lIns="0" tIns="0" rIns="0" bIns="0" rtlCol="0" anchor="t"/>
          <a:lstStyle/>
          <a:p>
            <a:pPr algn="ctr" indent="0" marL="0">
              <a:lnSpc>
                <a:spcPts val="1050"/>
              </a:lnSpc>
              <a:buNone/>
            </a:pPr>
            <a:r>
              <a:rPr lang="en-US" sz="750" dirty="0">
                <a:solidFill>
                  <a:srgbClr val="1A1F2E"/>
                </a:solidFill>
                <a:latin typeface="Arial" pitchFamily="34" charset="0"/>
                <a:ea typeface="Arial" pitchFamily="34" charset="-122"/>
                <a:cs typeface="Arial" pitchFamily="34" charset="-120"/>
              </a:rPr>
              <a:t>Your Voice</a:t>
            </a:r>
            <a:endParaRPr lang="en-US" sz="750" dirty="0"/>
          </a:p>
        </p:txBody>
      </p:sp>
      <p:sp>
        <p:nvSpPr>
          <p:cNvPr id="7" name="Text 5"/>
          <p:cNvSpPr/>
          <p:nvPr/>
        </p:nvSpPr>
        <p:spPr>
          <a:xfrm>
            <a:off x="1562100" y="1579959"/>
            <a:ext cx="142545" cy="213271"/>
          </a:xfrm>
          <a:prstGeom prst="rect">
            <a:avLst/>
          </a:prstGeom>
          <a:noFill/>
          <a:ln/>
        </p:spPr>
        <p:txBody>
          <a:bodyPr wrap="square" lIns="0" tIns="0" rIns="0" bIns="0" rtlCol="0" anchor="t"/>
          <a:lstStyle/>
          <a:p>
            <a:pPr algn="l" indent="0" marL="0">
              <a:lnSpc>
                <a:spcPts val="1680"/>
              </a:lnSpc>
              <a:buNone/>
            </a:pPr>
            <a:r>
              <a:rPr lang="en-US" sz="1200" dirty="0">
                <a:solidFill>
                  <a:srgbClr val="059669"/>
                </a:solidFill>
                <a:latin typeface="Arial" pitchFamily="34" charset="0"/>
                <a:ea typeface="Arial" pitchFamily="34" charset="-122"/>
                <a:cs typeface="Arial" pitchFamily="34" charset="-120"/>
              </a:rPr>
              <a:t>-&gt;</a:t>
            </a:r>
            <a:endParaRPr lang="en-US" sz="1200" dirty="0"/>
          </a:p>
        </p:txBody>
      </p:sp>
      <p:sp>
        <p:nvSpPr>
          <p:cNvPr id="8" name="Text 6"/>
          <p:cNvSpPr/>
          <p:nvPr/>
        </p:nvSpPr>
        <p:spPr>
          <a:xfrm>
            <a:off x="1759000" y="1436191"/>
            <a:ext cx="1238250" cy="500955"/>
          </a:xfrm>
          <a:prstGeom prst="rect">
            <a:avLst/>
          </a:prstGeom>
          <a:solidFill>
            <a:srgbClr val="DCFCE7"/>
          </a:solidFill>
          <a:ln w="19050">
            <a:solidFill>
              <a:srgbClr val="059669"/>
            </a:solidFill>
          </a:ln>
        </p:spPr>
        <p:txBody>
          <a:bodyPr wrap="square" rtlCol="0" anchor="ctr"/>
          <a:lstStyle/>
          <a:p>
            <a:pPr indent="0" marL="0">
              <a:buNone/>
            </a:pPr>
            <a:endParaRPr lang="en-US" dirty="0"/>
          </a:p>
        </p:txBody>
      </p:sp>
      <p:sp>
        <p:nvSpPr>
          <p:cNvPr id="9" name="Text 7"/>
          <p:cNvSpPr/>
          <p:nvPr/>
        </p:nvSpPr>
        <p:spPr>
          <a:xfrm>
            <a:off x="1902065" y="1550491"/>
            <a:ext cx="952119" cy="133350"/>
          </a:xfrm>
          <a:prstGeom prst="rect">
            <a:avLst/>
          </a:prstGeom>
          <a:noFill/>
          <a:ln/>
        </p:spPr>
        <p:txBody>
          <a:bodyPr wrap="square" lIns="0" tIns="0" rIns="0" bIns="0" rtlCol="0" anchor="t"/>
          <a:lstStyle/>
          <a:p>
            <a:pPr algn="ctr" indent="0" marL="0">
              <a:lnSpc>
                <a:spcPts val="1050"/>
              </a:lnSpc>
              <a:buNone/>
            </a:pPr>
            <a:r>
              <a:rPr lang="en-US" sz="750" b="1" dirty="0">
                <a:solidFill>
                  <a:srgbClr val="166534"/>
                </a:solidFill>
                <a:latin typeface="Arial" pitchFamily="34" charset="0"/>
                <a:ea typeface="Arial" pitchFamily="34" charset="-122"/>
                <a:cs typeface="Arial" pitchFamily="34" charset="-120"/>
              </a:rPr>
              <a:t>SuperWhisper</a:t>
            </a:r>
            <a:endParaRPr lang="en-US" sz="750" dirty="0"/>
          </a:p>
        </p:txBody>
      </p:sp>
      <p:sp>
        <p:nvSpPr>
          <p:cNvPr id="10" name="Text 8"/>
          <p:cNvSpPr/>
          <p:nvPr/>
        </p:nvSpPr>
        <p:spPr>
          <a:xfrm>
            <a:off x="1902065" y="1702891"/>
            <a:ext cx="952119" cy="119955"/>
          </a:xfrm>
          <a:prstGeom prst="rect">
            <a:avLst/>
          </a:prstGeom>
          <a:noFill/>
          <a:ln/>
        </p:spPr>
        <p:txBody>
          <a:bodyPr wrap="square" lIns="0" tIns="0" rIns="0" bIns="0" rtlCol="0" anchor="t"/>
          <a:lstStyle/>
          <a:p>
            <a:pPr algn="ctr" indent="0" marL="0">
              <a:lnSpc>
                <a:spcPts val="945"/>
              </a:lnSpc>
              <a:spcBef>
                <a:spcPts val="150"/>
              </a:spcBef>
              <a:buNone/>
            </a:pPr>
            <a:r>
              <a:rPr lang="en-US" sz="675" dirty="0">
                <a:solidFill>
                  <a:srgbClr val="166534"/>
                </a:solidFill>
                <a:latin typeface="Arial" pitchFamily="34" charset="0"/>
                <a:ea typeface="Arial" pitchFamily="34" charset="-122"/>
                <a:cs typeface="Arial" pitchFamily="34" charset="-120"/>
              </a:rPr>
              <a:t>(On Your Device)</a:t>
            </a:r>
            <a:endParaRPr lang="en-US" sz="675" dirty="0"/>
          </a:p>
        </p:txBody>
      </p:sp>
      <p:sp>
        <p:nvSpPr>
          <p:cNvPr id="11" name="Text 9"/>
          <p:cNvSpPr/>
          <p:nvPr/>
        </p:nvSpPr>
        <p:spPr>
          <a:xfrm>
            <a:off x="3054400" y="1579959"/>
            <a:ext cx="142545" cy="213271"/>
          </a:xfrm>
          <a:prstGeom prst="rect">
            <a:avLst/>
          </a:prstGeom>
          <a:noFill/>
          <a:ln/>
        </p:spPr>
        <p:txBody>
          <a:bodyPr wrap="square" lIns="0" tIns="0" rIns="0" bIns="0" rtlCol="0" anchor="t"/>
          <a:lstStyle/>
          <a:p>
            <a:pPr algn="l" indent="0" marL="0">
              <a:lnSpc>
                <a:spcPts val="1680"/>
              </a:lnSpc>
              <a:buNone/>
            </a:pPr>
            <a:r>
              <a:rPr lang="en-US" sz="1200" dirty="0">
                <a:solidFill>
                  <a:srgbClr val="059669"/>
                </a:solidFill>
                <a:latin typeface="Arial" pitchFamily="34" charset="0"/>
                <a:ea typeface="Arial" pitchFamily="34" charset="-122"/>
                <a:cs typeface="Arial" pitchFamily="34" charset="-120"/>
              </a:rPr>
              <a:t>-&gt;</a:t>
            </a:r>
            <a:endParaRPr lang="en-US" sz="1200" dirty="0"/>
          </a:p>
        </p:txBody>
      </p:sp>
      <p:sp>
        <p:nvSpPr>
          <p:cNvPr id="12" name="Text 10"/>
          <p:cNvSpPr/>
          <p:nvPr/>
        </p:nvSpPr>
        <p:spPr>
          <a:xfrm>
            <a:off x="3251299" y="1524744"/>
            <a:ext cx="1047750" cy="323850"/>
          </a:xfrm>
          <a:prstGeom prst="rect">
            <a:avLst/>
          </a:prstGeom>
          <a:solidFill>
            <a:srgbClr val="DCFCE7"/>
          </a:solidFill>
          <a:ln/>
        </p:spPr>
        <p:txBody>
          <a:bodyPr wrap="square" rtlCol="0" anchor="ctr"/>
          <a:lstStyle/>
          <a:p>
            <a:pPr indent="0" marL="0">
              <a:buNone/>
            </a:pPr>
            <a:endParaRPr lang="en-US" dirty="0"/>
          </a:p>
        </p:txBody>
      </p:sp>
      <p:sp>
        <p:nvSpPr>
          <p:cNvPr id="13" name="Text 11"/>
          <p:cNvSpPr/>
          <p:nvPr/>
        </p:nvSpPr>
        <p:spPr>
          <a:xfrm>
            <a:off x="3376839" y="1619994"/>
            <a:ext cx="796671" cy="133350"/>
          </a:xfrm>
          <a:prstGeom prst="rect">
            <a:avLst/>
          </a:prstGeom>
          <a:noFill/>
          <a:ln/>
        </p:spPr>
        <p:txBody>
          <a:bodyPr wrap="square" lIns="0" tIns="0" rIns="0" bIns="0" rtlCol="0" anchor="t"/>
          <a:lstStyle/>
          <a:p>
            <a:pPr algn="ctr" indent="0" marL="0">
              <a:lnSpc>
                <a:spcPts val="1050"/>
              </a:lnSpc>
              <a:buNone/>
            </a:pPr>
            <a:r>
              <a:rPr lang="en-US" sz="750" dirty="0">
                <a:solidFill>
                  <a:srgbClr val="166534"/>
                </a:solidFill>
                <a:latin typeface="Arial" pitchFamily="34" charset="0"/>
                <a:ea typeface="Arial" pitchFamily="34" charset="-122"/>
                <a:cs typeface="Arial" pitchFamily="34" charset="-120"/>
              </a:rPr>
              <a:t>Text Output</a:t>
            </a:r>
            <a:endParaRPr lang="en-US" sz="750" dirty="0"/>
          </a:p>
        </p:txBody>
      </p:sp>
      <p:sp>
        <p:nvSpPr>
          <p:cNvPr id="14" name="Text 12"/>
          <p:cNvSpPr/>
          <p:nvPr/>
        </p:nvSpPr>
        <p:spPr>
          <a:xfrm>
            <a:off x="4356199" y="1579959"/>
            <a:ext cx="142545" cy="213271"/>
          </a:xfrm>
          <a:prstGeom prst="rect">
            <a:avLst/>
          </a:prstGeom>
          <a:noFill/>
          <a:ln/>
        </p:spPr>
        <p:txBody>
          <a:bodyPr wrap="square" lIns="0" tIns="0" rIns="0" bIns="0" rtlCol="0" anchor="t"/>
          <a:lstStyle/>
          <a:p>
            <a:pPr algn="l" indent="0" marL="0">
              <a:lnSpc>
                <a:spcPts val="1680"/>
              </a:lnSpc>
              <a:buNone/>
            </a:pPr>
            <a:r>
              <a:rPr lang="en-US" sz="1200" dirty="0">
                <a:solidFill>
                  <a:srgbClr val="059669"/>
                </a:solidFill>
                <a:latin typeface="Arial" pitchFamily="34" charset="0"/>
                <a:ea typeface="Arial" pitchFamily="34" charset="-122"/>
                <a:cs typeface="Arial" pitchFamily="34" charset="-120"/>
              </a:rPr>
              <a:t>-&gt;</a:t>
            </a:r>
            <a:endParaRPr lang="en-US" sz="1200" dirty="0"/>
          </a:p>
        </p:txBody>
      </p:sp>
      <p:sp>
        <p:nvSpPr>
          <p:cNvPr id="15" name="Text 13"/>
          <p:cNvSpPr/>
          <p:nvPr/>
        </p:nvSpPr>
        <p:spPr>
          <a:xfrm>
            <a:off x="4553099" y="1524744"/>
            <a:ext cx="1047750" cy="323850"/>
          </a:xfrm>
          <a:prstGeom prst="rect">
            <a:avLst/>
          </a:prstGeom>
          <a:solidFill>
            <a:srgbClr val="DBEAFE"/>
          </a:solidFill>
          <a:ln/>
        </p:spPr>
        <p:txBody>
          <a:bodyPr wrap="square" rtlCol="0" anchor="ctr"/>
          <a:lstStyle/>
          <a:p>
            <a:pPr indent="0" marL="0">
              <a:buNone/>
            </a:pPr>
            <a:endParaRPr lang="en-US" dirty="0"/>
          </a:p>
        </p:txBody>
      </p:sp>
      <p:sp>
        <p:nvSpPr>
          <p:cNvPr id="16" name="Text 14"/>
          <p:cNvSpPr/>
          <p:nvPr/>
        </p:nvSpPr>
        <p:spPr>
          <a:xfrm>
            <a:off x="4678638" y="1619994"/>
            <a:ext cx="796671" cy="133350"/>
          </a:xfrm>
          <a:prstGeom prst="rect">
            <a:avLst/>
          </a:prstGeom>
          <a:noFill/>
          <a:ln/>
        </p:spPr>
        <p:txBody>
          <a:bodyPr wrap="square" lIns="0" tIns="0" rIns="0" bIns="0" rtlCol="0" anchor="t"/>
          <a:lstStyle/>
          <a:p>
            <a:pPr algn="ctr" indent="0" marL="0">
              <a:lnSpc>
                <a:spcPts val="1050"/>
              </a:lnSpc>
              <a:buNone/>
            </a:pPr>
            <a:r>
              <a:rPr lang="en-US" sz="750" dirty="0">
                <a:solidFill>
                  <a:srgbClr val="1A1F2E"/>
                </a:solidFill>
                <a:latin typeface="Arial" pitchFamily="34" charset="0"/>
                <a:ea typeface="Arial" pitchFamily="34" charset="-122"/>
                <a:cs typeface="Arial" pitchFamily="34" charset="-120"/>
              </a:rPr>
              <a:t>Your App</a:t>
            </a:r>
            <a:endParaRPr lang="en-US" sz="750" dirty="0"/>
          </a:p>
        </p:txBody>
      </p:sp>
      <p:sp>
        <p:nvSpPr>
          <p:cNvPr id="17" name="Text 15"/>
          <p:cNvSpPr/>
          <p:nvPr/>
        </p:nvSpPr>
        <p:spPr>
          <a:xfrm>
            <a:off x="5772299" y="1550491"/>
            <a:ext cx="685800" cy="272355"/>
          </a:xfrm>
          <a:prstGeom prst="rect">
            <a:avLst/>
          </a:prstGeom>
          <a:solidFill>
            <a:srgbClr val="DCFCE7"/>
          </a:solidFill>
          <a:ln/>
        </p:spPr>
        <p:txBody>
          <a:bodyPr wrap="square" rtlCol="0" anchor="ctr"/>
          <a:lstStyle/>
          <a:p>
            <a:pPr indent="0" marL="0">
              <a:buNone/>
            </a:pPr>
            <a:endParaRPr lang="en-US" dirty="0"/>
          </a:p>
        </p:txBody>
      </p:sp>
      <p:sp>
        <p:nvSpPr>
          <p:cNvPr id="18" name="Text 16"/>
          <p:cNvSpPr/>
          <p:nvPr/>
        </p:nvSpPr>
        <p:spPr>
          <a:xfrm>
            <a:off x="5886599" y="1626691"/>
            <a:ext cx="466344" cy="119955"/>
          </a:xfrm>
          <a:prstGeom prst="rect">
            <a:avLst/>
          </a:prstGeom>
          <a:noFill/>
          <a:ln/>
        </p:spPr>
        <p:txBody>
          <a:bodyPr wrap="square" lIns="0" tIns="0" rIns="0" bIns="0" rtlCol="0" anchor="t"/>
          <a:lstStyle/>
          <a:p>
            <a:pPr algn="l" indent="0" marL="0">
              <a:lnSpc>
                <a:spcPts val="945"/>
              </a:lnSpc>
              <a:buNone/>
            </a:pPr>
            <a:r>
              <a:rPr lang="en-US" sz="675" b="1" dirty="0">
                <a:solidFill>
                  <a:srgbClr val="166534"/>
                </a:solidFill>
                <a:latin typeface="Arial" pitchFamily="34" charset="0"/>
                <a:ea typeface="Arial" pitchFamily="34" charset="-122"/>
                <a:cs typeface="Arial" pitchFamily="34" charset="-120"/>
              </a:rPr>
              <a:t>NO CLOUD</a:t>
            </a:r>
            <a:endParaRPr lang="en-US" sz="675" dirty="0"/>
          </a:p>
        </p:txBody>
      </p:sp>
      <p:sp>
        <p:nvSpPr>
          <p:cNvPr id="19" name="Text 17"/>
          <p:cNvSpPr/>
          <p:nvPr/>
        </p:nvSpPr>
        <p:spPr>
          <a:xfrm>
            <a:off x="457200" y="2203847"/>
            <a:ext cx="8394192" cy="146596"/>
          </a:xfrm>
          <a:prstGeom prst="rect">
            <a:avLst/>
          </a:prstGeom>
          <a:noFill/>
          <a:ln/>
        </p:spPr>
        <p:txBody>
          <a:bodyPr wrap="square" lIns="0" tIns="0" rIns="0" bIns="0" rtlCol="0" anchor="t"/>
          <a:lstStyle/>
          <a:p>
            <a:pPr algn="l" indent="0" marL="0">
              <a:lnSpc>
                <a:spcPts val="1155"/>
              </a:lnSpc>
              <a:spcAft>
                <a:spcPts val="600"/>
              </a:spcAft>
              <a:buNone/>
            </a:pPr>
            <a:r>
              <a:rPr lang="en-US" sz="825" b="1" dirty="0">
                <a:solidFill>
                  <a:srgbClr val="DC2626"/>
                </a:solidFill>
                <a:latin typeface="Arial" pitchFamily="34" charset="0"/>
                <a:ea typeface="Arial" pitchFamily="34" charset="-122"/>
                <a:cs typeface="Arial" pitchFamily="34" charset="-120"/>
              </a:rPr>
              <a:t>CLOUD PROCESSING (Traditional)</a:t>
            </a:r>
            <a:endParaRPr lang="en-US" sz="825" dirty="0"/>
          </a:p>
        </p:txBody>
      </p:sp>
      <p:sp>
        <p:nvSpPr>
          <p:cNvPr id="20" name="Text 18"/>
          <p:cNvSpPr/>
          <p:nvPr/>
        </p:nvSpPr>
        <p:spPr>
          <a:xfrm>
            <a:off x="457200" y="2667595"/>
            <a:ext cx="1047750" cy="323850"/>
          </a:xfrm>
          <a:prstGeom prst="rect">
            <a:avLst/>
          </a:prstGeom>
          <a:solidFill>
            <a:srgbClr val="DBEAFE"/>
          </a:solidFill>
          <a:ln/>
        </p:spPr>
        <p:txBody>
          <a:bodyPr wrap="square" rtlCol="0" anchor="ctr"/>
          <a:lstStyle/>
          <a:p>
            <a:pPr indent="0" marL="0">
              <a:buNone/>
            </a:pPr>
            <a:endParaRPr lang="en-US" dirty="0"/>
          </a:p>
        </p:txBody>
      </p:sp>
      <p:sp>
        <p:nvSpPr>
          <p:cNvPr id="21" name="Text 19"/>
          <p:cNvSpPr/>
          <p:nvPr/>
        </p:nvSpPr>
        <p:spPr>
          <a:xfrm>
            <a:off x="582740" y="2762845"/>
            <a:ext cx="796671" cy="133350"/>
          </a:xfrm>
          <a:prstGeom prst="rect">
            <a:avLst/>
          </a:prstGeom>
          <a:noFill/>
          <a:ln/>
        </p:spPr>
        <p:txBody>
          <a:bodyPr wrap="square" lIns="0" tIns="0" rIns="0" bIns="0" rtlCol="0" anchor="t"/>
          <a:lstStyle/>
          <a:p>
            <a:pPr algn="ctr" indent="0" marL="0">
              <a:lnSpc>
                <a:spcPts val="1050"/>
              </a:lnSpc>
              <a:buNone/>
            </a:pPr>
            <a:r>
              <a:rPr lang="en-US" sz="750" dirty="0">
                <a:solidFill>
                  <a:srgbClr val="1A1F2E"/>
                </a:solidFill>
                <a:latin typeface="Arial" pitchFamily="34" charset="0"/>
                <a:ea typeface="Arial" pitchFamily="34" charset="-122"/>
                <a:cs typeface="Arial" pitchFamily="34" charset="-120"/>
              </a:rPr>
              <a:t>Your Voice</a:t>
            </a:r>
            <a:endParaRPr lang="en-US" sz="750" dirty="0"/>
          </a:p>
        </p:txBody>
      </p:sp>
      <p:sp>
        <p:nvSpPr>
          <p:cNvPr id="22" name="Text 20"/>
          <p:cNvSpPr/>
          <p:nvPr/>
        </p:nvSpPr>
        <p:spPr>
          <a:xfrm>
            <a:off x="1562100" y="2722811"/>
            <a:ext cx="142545" cy="213271"/>
          </a:xfrm>
          <a:prstGeom prst="rect">
            <a:avLst/>
          </a:prstGeom>
          <a:noFill/>
          <a:ln/>
        </p:spPr>
        <p:txBody>
          <a:bodyPr wrap="square" lIns="0" tIns="0" rIns="0" bIns="0" rtlCol="0" anchor="t"/>
          <a:lstStyle/>
          <a:p>
            <a:pPr algn="l" indent="0" marL="0">
              <a:lnSpc>
                <a:spcPts val="1680"/>
              </a:lnSpc>
              <a:buNone/>
            </a:pPr>
            <a:r>
              <a:rPr lang="en-US" sz="1200" dirty="0">
                <a:solidFill>
                  <a:srgbClr val="DC2626"/>
                </a:solidFill>
                <a:latin typeface="Arial" pitchFamily="34" charset="0"/>
                <a:ea typeface="Arial" pitchFamily="34" charset="-122"/>
                <a:cs typeface="Arial" pitchFamily="34" charset="-120"/>
              </a:rPr>
              <a:t>-&gt;</a:t>
            </a:r>
            <a:endParaRPr lang="en-US" sz="1200" dirty="0"/>
          </a:p>
        </p:txBody>
      </p:sp>
      <p:sp>
        <p:nvSpPr>
          <p:cNvPr id="23" name="Text 21"/>
          <p:cNvSpPr/>
          <p:nvPr/>
        </p:nvSpPr>
        <p:spPr>
          <a:xfrm>
            <a:off x="1759000" y="2579043"/>
            <a:ext cx="1238250" cy="500955"/>
          </a:xfrm>
          <a:prstGeom prst="rect">
            <a:avLst/>
          </a:prstGeom>
          <a:solidFill>
            <a:srgbClr val="FEE2E2"/>
          </a:solidFill>
          <a:ln w="19050">
            <a:solidFill>
              <a:srgbClr val="DC2626"/>
            </a:solidFill>
          </a:ln>
        </p:spPr>
        <p:txBody>
          <a:bodyPr wrap="square" rtlCol="0" anchor="ctr"/>
          <a:lstStyle/>
          <a:p>
            <a:pPr indent="0" marL="0">
              <a:buNone/>
            </a:pPr>
            <a:endParaRPr lang="en-US" dirty="0"/>
          </a:p>
        </p:txBody>
      </p:sp>
      <p:sp>
        <p:nvSpPr>
          <p:cNvPr id="24" name="Text 22"/>
          <p:cNvSpPr/>
          <p:nvPr/>
        </p:nvSpPr>
        <p:spPr>
          <a:xfrm>
            <a:off x="1902065" y="2693343"/>
            <a:ext cx="952119" cy="133350"/>
          </a:xfrm>
          <a:prstGeom prst="rect">
            <a:avLst/>
          </a:prstGeom>
          <a:noFill/>
          <a:ln/>
        </p:spPr>
        <p:txBody>
          <a:bodyPr wrap="square" lIns="0" tIns="0" rIns="0" bIns="0" rtlCol="0" anchor="t"/>
          <a:lstStyle/>
          <a:p>
            <a:pPr algn="ctr" indent="0" marL="0">
              <a:lnSpc>
                <a:spcPts val="1050"/>
              </a:lnSpc>
              <a:buNone/>
            </a:pPr>
            <a:r>
              <a:rPr lang="en-US" sz="750" b="1" dirty="0">
                <a:solidFill>
                  <a:srgbClr val="DC2626"/>
                </a:solidFill>
                <a:latin typeface="Arial" pitchFamily="34" charset="0"/>
                <a:ea typeface="Arial" pitchFamily="34" charset="-122"/>
                <a:cs typeface="Arial" pitchFamily="34" charset="-120"/>
              </a:rPr>
              <a:t>Cloud Server</a:t>
            </a:r>
            <a:endParaRPr lang="en-US" sz="750" dirty="0"/>
          </a:p>
        </p:txBody>
      </p:sp>
      <p:sp>
        <p:nvSpPr>
          <p:cNvPr id="25" name="Text 23"/>
          <p:cNvSpPr/>
          <p:nvPr/>
        </p:nvSpPr>
        <p:spPr>
          <a:xfrm>
            <a:off x="1902065" y="2845743"/>
            <a:ext cx="952119" cy="119955"/>
          </a:xfrm>
          <a:prstGeom prst="rect">
            <a:avLst/>
          </a:prstGeom>
          <a:noFill/>
          <a:ln/>
        </p:spPr>
        <p:txBody>
          <a:bodyPr wrap="square" lIns="0" tIns="0" rIns="0" bIns="0" rtlCol="0" anchor="t"/>
          <a:lstStyle/>
          <a:p>
            <a:pPr algn="ctr" indent="0" marL="0">
              <a:lnSpc>
                <a:spcPts val="945"/>
              </a:lnSpc>
              <a:spcBef>
                <a:spcPts val="150"/>
              </a:spcBef>
              <a:buNone/>
            </a:pPr>
            <a:r>
              <a:rPr lang="en-US" sz="675" dirty="0">
                <a:solidFill>
                  <a:srgbClr val="DC2626"/>
                </a:solidFill>
                <a:latin typeface="Arial" pitchFamily="34" charset="0"/>
                <a:ea typeface="Arial" pitchFamily="34" charset="-122"/>
                <a:cs typeface="Arial" pitchFamily="34" charset="-120"/>
              </a:rPr>
              <a:t>(3rd Party)</a:t>
            </a:r>
            <a:endParaRPr lang="en-US" sz="675" dirty="0"/>
          </a:p>
        </p:txBody>
      </p:sp>
      <p:sp>
        <p:nvSpPr>
          <p:cNvPr id="26" name="Text 24"/>
          <p:cNvSpPr/>
          <p:nvPr/>
        </p:nvSpPr>
        <p:spPr>
          <a:xfrm>
            <a:off x="3054400" y="2722811"/>
            <a:ext cx="142545" cy="213271"/>
          </a:xfrm>
          <a:prstGeom prst="rect">
            <a:avLst/>
          </a:prstGeom>
          <a:noFill/>
          <a:ln/>
        </p:spPr>
        <p:txBody>
          <a:bodyPr wrap="square" lIns="0" tIns="0" rIns="0" bIns="0" rtlCol="0" anchor="t"/>
          <a:lstStyle/>
          <a:p>
            <a:pPr algn="l" indent="0" marL="0">
              <a:lnSpc>
                <a:spcPts val="1680"/>
              </a:lnSpc>
              <a:buNone/>
            </a:pPr>
            <a:r>
              <a:rPr lang="en-US" sz="1200" dirty="0">
                <a:solidFill>
                  <a:srgbClr val="DC2626"/>
                </a:solidFill>
                <a:latin typeface="Arial" pitchFamily="34" charset="0"/>
                <a:ea typeface="Arial" pitchFamily="34" charset="-122"/>
                <a:cs typeface="Arial" pitchFamily="34" charset="-120"/>
              </a:rPr>
              <a:t>-&gt;</a:t>
            </a:r>
            <a:endParaRPr lang="en-US" sz="1200" dirty="0"/>
          </a:p>
        </p:txBody>
      </p:sp>
      <p:sp>
        <p:nvSpPr>
          <p:cNvPr id="27" name="Text 25"/>
          <p:cNvSpPr/>
          <p:nvPr/>
        </p:nvSpPr>
        <p:spPr>
          <a:xfrm>
            <a:off x="3251299" y="2667595"/>
            <a:ext cx="1047750" cy="323850"/>
          </a:xfrm>
          <a:prstGeom prst="rect">
            <a:avLst/>
          </a:prstGeom>
          <a:solidFill>
            <a:srgbClr val="FEE2E2"/>
          </a:solidFill>
          <a:ln/>
        </p:spPr>
        <p:txBody>
          <a:bodyPr wrap="square" rtlCol="0" anchor="ctr"/>
          <a:lstStyle/>
          <a:p>
            <a:pPr indent="0" marL="0">
              <a:buNone/>
            </a:pPr>
            <a:endParaRPr lang="en-US" dirty="0"/>
          </a:p>
        </p:txBody>
      </p:sp>
      <p:sp>
        <p:nvSpPr>
          <p:cNvPr id="28" name="Text 26"/>
          <p:cNvSpPr/>
          <p:nvPr/>
        </p:nvSpPr>
        <p:spPr>
          <a:xfrm>
            <a:off x="3376839" y="2762845"/>
            <a:ext cx="796671" cy="133350"/>
          </a:xfrm>
          <a:prstGeom prst="rect">
            <a:avLst/>
          </a:prstGeom>
          <a:noFill/>
          <a:ln/>
        </p:spPr>
        <p:txBody>
          <a:bodyPr wrap="square" lIns="0" tIns="0" rIns="0" bIns="0" rtlCol="0" anchor="t"/>
          <a:lstStyle/>
          <a:p>
            <a:pPr algn="ctr" indent="0" marL="0">
              <a:lnSpc>
                <a:spcPts val="1050"/>
              </a:lnSpc>
              <a:buNone/>
            </a:pPr>
            <a:r>
              <a:rPr lang="en-US" sz="750" dirty="0">
                <a:solidFill>
                  <a:srgbClr val="DC2626"/>
                </a:solidFill>
                <a:latin typeface="Arial" pitchFamily="34" charset="0"/>
                <a:ea typeface="Arial" pitchFamily="34" charset="-122"/>
                <a:cs typeface="Arial" pitchFamily="34" charset="-120"/>
              </a:rPr>
              <a:t>Text Output</a:t>
            </a:r>
            <a:endParaRPr lang="en-US" sz="750" dirty="0"/>
          </a:p>
        </p:txBody>
      </p:sp>
      <p:sp>
        <p:nvSpPr>
          <p:cNvPr id="29" name="Text 27"/>
          <p:cNvSpPr/>
          <p:nvPr/>
        </p:nvSpPr>
        <p:spPr>
          <a:xfrm>
            <a:off x="4356199" y="2722811"/>
            <a:ext cx="142545" cy="213271"/>
          </a:xfrm>
          <a:prstGeom prst="rect">
            <a:avLst/>
          </a:prstGeom>
          <a:noFill/>
          <a:ln/>
        </p:spPr>
        <p:txBody>
          <a:bodyPr wrap="square" lIns="0" tIns="0" rIns="0" bIns="0" rtlCol="0" anchor="t"/>
          <a:lstStyle/>
          <a:p>
            <a:pPr algn="l" indent="0" marL="0">
              <a:lnSpc>
                <a:spcPts val="1680"/>
              </a:lnSpc>
              <a:buNone/>
            </a:pPr>
            <a:r>
              <a:rPr lang="en-US" sz="1200" dirty="0">
                <a:solidFill>
                  <a:srgbClr val="DC2626"/>
                </a:solidFill>
                <a:latin typeface="Arial" pitchFamily="34" charset="0"/>
                <a:ea typeface="Arial" pitchFamily="34" charset="-122"/>
                <a:cs typeface="Arial" pitchFamily="34" charset="-120"/>
              </a:rPr>
              <a:t>-&gt;</a:t>
            </a:r>
            <a:endParaRPr lang="en-US" sz="1200" dirty="0"/>
          </a:p>
        </p:txBody>
      </p:sp>
      <p:sp>
        <p:nvSpPr>
          <p:cNvPr id="30" name="Text 28"/>
          <p:cNvSpPr/>
          <p:nvPr/>
        </p:nvSpPr>
        <p:spPr>
          <a:xfrm>
            <a:off x="4553099" y="2667595"/>
            <a:ext cx="1047750" cy="323850"/>
          </a:xfrm>
          <a:prstGeom prst="rect">
            <a:avLst/>
          </a:prstGeom>
          <a:solidFill>
            <a:srgbClr val="DBEAFE"/>
          </a:solidFill>
          <a:ln/>
        </p:spPr>
        <p:txBody>
          <a:bodyPr wrap="square" rtlCol="0" anchor="ctr"/>
          <a:lstStyle/>
          <a:p>
            <a:pPr indent="0" marL="0">
              <a:buNone/>
            </a:pPr>
            <a:endParaRPr lang="en-US" dirty="0"/>
          </a:p>
        </p:txBody>
      </p:sp>
      <p:sp>
        <p:nvSpPr>
          <p:cNvPr id="31" name="Text 29"/>
          <p:cNvSpPr/>
          <p:nvPr/>
        </p:nvSpPr>
        <p:spPr>
          <a:xfrm>
            <a:off x="4678638" y="2762845"/>
            <a:ext cx="796671" cy="133350"/>
          </a:xfrm>
          <a:prstGeom prst="rect">
            <a:avLst/>
          </a:prstGeom>
          <a:noFill/>
          <a:ln/>
        </p:spPr>
        <p:txBody>
          <a:bodyPr wrap="square" lIns="0" tIns="0" rIns="0" bIns="0" rtlCol="0" anchor="t"/>
          <a:lstStyle/>
          <a:p>
            <a:pPr algn="ctr" indent="0" marL="0">
              <a:lnSpc>
                <a:spcPts val="1050"/>
              </a:lnSpc>
              <a:buNone/>
            </a:pPr>
            <a:r>
              <a:rPr lang="en-US" sz="750" dirty="0">
                <a:solidFill>
                  <a:srgbClr val="1A1F2E"/>
                </a:solidFill>
                <a:latin typeface="Arial" pitchFamily="34" charset="0"/>
                <a:ea typeface="Arial" pitchFamily="34" charset="-122"/>
                <a:cs typeface="Arial" pitchFamily="34" charset="-120"/>
              </a:rPr>
              <a:t>Your App</a:t>
            </a:r>
            <a:endParaRPr lang="en-US" sz="750" dirty="0"/>
          </a:p>
        </p:txBody>
      </p:sp>
      <p:sp>
        <p:nvSpPr>
          <p:cNvPr id="32" name="Text 30"/>
          <p:cNvSpPr/>
          <p:nvPr/>
        </p:nvSpPr>
        <p:spPr>
          <a:xfrm>
            <a:off x="5772299" y="2693343"/>
            <a:ext cx="811262" cy="272355"/>
          </a:xfrm>
          <a:prstGeom prst="rect">
            <a:avLst/>
          </a:prstGeom>
          <a:solidFill>
            <a:srgbClr val="FEE2E2"/>
          </a:solidFill>
          <a:ln/>
        </p:spPr>
        <p:txBody>
          <a:bodyPr wrap="square" rtlCol="0" anchor="ctr"/>
          <a:lstStyle/>
          <a:p>
            <a:pPr indent="0" marL="0">
              <a:buNone/>
            </a:pPr>
            <a:endParaRPr lang="en-US" dirty="0"/>
          </a:p>
        </p:txBody>
      </p:sp>
      <p:sp>
        <p:nvSpPr>
          <p:cNvPr id="33" name="Text 31"/>
          <p:cNvSpPr/>
          <p:nvPr/>
        </p:nvSpPr>
        <p:spPr>
          <a:xfrm>
            <a:off x="5886599" y="2769543"/>
            <a:ext cx="594315" cy="119955"/>
          </a:xfrm>
          <a:prstGeom prst="rect">
            <a:avLst/>
          </a:prstGeom>
          <a:noFill/>
          <a:ln/>
        </p:spPr>
        <p:txBody>
          <a:bodyPr wrap="square" lIns="0" tIns="0" rIns="0" bIns="0" rtlCol="0" anchor="t"/>
          <a:lstStyle/>
          <a:p>
            <a:pPr algn="l" indent="0" marL="0">
              <a:lnSpc>
                <a:spcPts val="945"/>
              </a:lnSpc>
              <a:buNone/>
            </a:pPr>
            <a:r>
              <a:rPr lang="en-US" sz="675" b="1" dirty="0">
                <a:solidFill>
                  <a:srgbClr val="DC2626"/>
                </a:solidFill>
                <a:latin typeface="Arial" pitchFamily="34" charset="0"/>
                <a:ea typeface="Arial" pitchFamily="34" charset="-122"/>
                <a:cs typeface="Arial" pitchFamily="34" charset="-120"/>
              </a:rPr>
              <a:t>DATA LEAVES</a:t>
            </a:r>
            <a:endParaRPr lang="en-US" sz="675" dirty="0"/>
          </a:p>
        </p:txBody>
      </p:sp>
      <p:sp>
        <p:nvSpPr>
          <p:cNvPr id="34" name="Text 32"/>
          <p:cNvSpPr/>
          <p:nvPr/>
        </p:nvSpPr>
        <p:spPr>
          <a:xfrm>
            <a:off x="457200" y="3447157"/>
            <a:ext cx="2667000" cy="1367284"/>
          </a:xfrm>
          <a:prstGeom prst="rect">
            <a:avLst/>
          </a:prstGeom>
          <a:solidFill>
            <a:srgbClr val="FFFFFF"/>
          </a:solidFill>
          <a:ln/>
        </p:spPr>
        <p:txBody>
          <a:bodyPr wrap="square" rtlCol="0" anchor="ctr"/>
          <a:lstStyle/>
          <a:p>
            <a:pPr indent="0" marL="0">
              <a:buNone/>
            </a:pPr>
            <a:endParaRPr lang="en-US" dirty="0"/>
          </a:p>
        </p:txBody>
      </p:sp>
      <p:sp>
        <p:nvSpPr>
          <p:cNvPr id="35" name="Shape 33"/>
          <p:cNvSpPr/>
          <p:nvPr/>
        </p:nvSpPr>
        <p:spPr>
          <a:xfrm>
            <a:off x="476250" y="3447157"/>
            <a:ext cx="0" cy="1367284"/>
          </a:xfrm>
          <a:prstGeom prst="line">
            <a:avLst/>
          </a:prstGeom>
          <a:noFill/>
          <a:ln w="38100">
            <a:solidFill>
              <a:srgbClr val="C9A227"/>
            </a:solidFill>
            <a:prstDash val="solid"/>
          </a:ln>
        </p:spPr>
      </p:sp>
      <p:sp>
        <p:nvSpPr>
          <p:cNvPr id="36" name="Text 34"/>
          <p:cNvSpPr/>
          <p:nvPr/>
        </p:nvSpPr>
        <p:spPr>
          <a:xfrm>
            <a:off x="628650" y="3580507"/>
            <a:ext cx="2409444" cy="159990"/>
          </a:xfrm>
          <a:prstGeom prst="rect">
            <a:avLst/>
          </a:prstGeom>
          <a:noFill/>
          <a:ln/>
        </p:spPr>
        <p:txBody>
          <a:bodyPr wrap="square" lIns="0" tIns="0" rIns="0" bIns="0" rtlCol="0" anchor="t"/>
          <a:lstStyle/>
          <a:p>
            <a:pPr algn="l" indent="0" marL="0">
              <a:lnSpc>
                <a:spcPts val="1260"/>
              </a:lnSpc>
              <a:spcAft>
                <a:spcPts val="600"/>
              </a:spcAft>
              <a:buNone/>
            </a:pPr>
            <a:r>
              <a:rPr lang="en-US" sz="900" b="1" dirty="0">
                <a:solidFill>
                  <a:srgbClr val="1A1F2E"/>
                </a:solidFill>
                <a:latin typeface="Arial" pitchFamily="34" charset="0"/>
                <a:ea typeface="Arial" pitchFamily="34" charset="-122"/>
                <a:cs typeface="Arial" pitchFamily="34" charset="-120"/>
              </a:rPr>
              <a:t>Government Benefits</a:t>
            </a:r>
            <a:endParaRPr lang="en-US" sz="900" dirty="0"/>
          </a:p>
        </p:txBody>
      </p:sp>
      <p:sp>
        <p:nvSpPr>
          <p:cNvPr id="37" name="Text 35"/>
          <p:cNvSpPr/>
          <p:nvPr/>
        </p:nvSpPr>
        <p:spPr>
          <a:xfrm>
            <a:off x="628650" y="3969097"/>
            <a:ext cx="2409444" cy="711994"/>
          </a:xfrm>
          <a:prstGeom prst="rect">
            <a:avLst/>
          </a:prstGeom>
          <a:noFill/>
          <a:ln/>
        </p:spPr>
        <p:txBody>
          <a:bodyPr wrap="square" lIns="0" tIns="0" rIns="0" bIns="0" rtlCol="0" anchor="t"/>
          <a:lstStyle/>
          <a:p>
            <a:pPr algn="l" indent="0" marL="0">
              <a:lnSpc>
                <a:spcPts val="1402"/>
              </a:lnSpc>
              <a:buNone/>
            </a:pPr>
            <a:r>
              <a:rPr lang="en-US" sz="825" dirty="0">
                <a:solidFill>
                  <a:srgbClr val="6B7280"/>
                </a:solidFill>
                <a:latin typeface="Arial" pitchFamily="34" charset="0"/>
                <a:ea typeface="Arial" pitchFamily="34" charset="-122"/>
                <a:cs typeface="Arial" pitchFamily="34" charset="-120"/>
              </a:rPr>
              <a:t>No BAA required for voice data</a:t>
            </a:r>
            <a:endParaRPr lang="en-US" sz="825" dirty="0"/>
          </a:p>
          <a:p>
            <a:pPr algn="l" indent="0" marL="0">
              <a:lnSpc>
                <a:spcPts val="1402"/>
              </a:lnSpc>
              <a:buNone/>
            </a:pPr>
            <a:r>
              <a:rPr lang="en-US" sz="825" dirty="0">
                <a:solidFill>
                  <a:srgbClr val="6B7280"/>
                </a:solidFill>
                <a:latin typeface="Arial" pitchFamily="34" charset="0"/>
                <a:ea typeface="Arial" pitchFamily="34" charset="-122"/>
                <a:cs typeface="Arial" pitchFamily="34" charset="-120"/>
              </a:rPr>
              <a:t>No data egress concerns</a:t>
            </a:r>
            <a:endParaRPr lang="en-US" sz="825" dirty="0"/>
          </a:p>
          <a:p>
            <a:pPr algn="l" indent="0" marL="0">
              <a:lnSpc>
                <a:spcPts val="1402"/>
              </a:lnSpc>
              <a:buNone/>
            </a:pPr>
            <a:r>
              <a:rPr lang="en-US" sz="825" dirty="0">
                <a:solidFill>
                  <a:srgbClr val="6B7280"/>
                </a:solidFill>
                <a:latin typeface="Arial" pitchFamily="34" charset="0"/>
                <a:ea typeface="Arial" pitchFamily="34" charset="-122"/>
                <a:cs typeface="Arial" pitchFamily="34" charset="-120"/>
              </a:rPr>
              <a:t>Simplified compliance posture</a:t>
            </a:r>
            <a:endParaRPr lang="en-US" sz="825" dirty="0"/>
          </a:p>
          <a:p>
            <a:pPr algn="l" indent="0" marL="0">
              <a:lnSpc>
                <a:spcPts val="1402"/>
              </a:lnSpc>
              <a:buNone/>
            </a:pPr>
            <a:r>
              <a:rPr lang="en-US" sz="825" dirty="0">
                <a:solidFill>
                  <a:srgbClr val="6B7280"/>
                </a:solidFill>
                <a:latin typeface="Arial" pitchFamily="34" charset="0"/>
                <a:ea typeface="Arial" pitchFamily="34" charset="-122"/>
                <a:cs typeface="Arial" pitchFamily="34" charset="-120"/>
              </a:rPr>
              <a:t>IT-friendly deployment</a:t>
            </a:r>
            <a:endParaRPr lang="en-US" sz="825" dirty="0"/>
          </a:p>
        </p:txBody>
      </p:sp>
      <p:sp>
        <p:nvSpPr>
          <p:cNvPr id="38" name="Text 36"/>
          <p:cNvSpPr/>
          <p:nvPr/>
        </p:nvSpPr>
        <p:spPr>
          <a:xfrm>
            <a:off x="3257550" y="3447157"/>
            <a:ext cx="2667000" cy="1367284"/>
          </a:xfrm>
          <a:prstGeom prst="rect">
            <a:avLst/>
          </a:prstGeom>
          <a:solidFill>
            <a:srgbClr val="FFFFFF"/>
          </a:solidFill>
          <a:ln/>
        </p:spPr>
        <p:txBody>
          <a:bodyPr wrap="square" rtlCol="0" anchor="ctr"/>
          <a:lstStyle/>
          <a:p>
            <a:pPr indent="0" marL="0">
              <a:buNone/>
            </a:pPr>
            <a:endParaRPr lang="en-US" dirty="0"/>
          </a:p>
        </p:txBody>
      </p:sp>
      <p:sp>
        <p:nvSpPr>
          <p:cNvPr id="39" name="Shape 37"/>
          <p:cNvSpPr/>
          <p:nvPr/>
        </p:nvSpPr>
        <p:spPr>
          <a:xfrm>
            <a:off x="3276600" y="3447157"/>
            <a:ext cx="0" cy="1367284"/>
          </a:xfrm>
          <a:prstGeom prst="line">
            <a:avLst/>
          </a:prstGeom>
          <a:noFill/>
          <a:ln w="38100">
            <a:solidFill>
              <a:srgbClr val="C9A227"/>
            </a:solidFill>
            <a:prstDash val="solid"/>
          </a:ln>
        </p:spPr>
      </p:sp>
      <p:sp>
        <p:nvSpPr>
          <p:cNvPr id="40" name="Text 38"/>
          <p:cNvSpPr/>
          <p:nvPr/>
        </p:nvSpPr>
        <p:spPr>
          <a:xfrm>
            <a:off x="3429000" y="3580507"/>
            <a:ext cx="2409444" cy="159990"/>
          </a:xfrm>
          <a:prstGeom prst="rect">
            <a:avLst/>
          </a:prstGeom>
          <a:noFill/>
          <a:ln/>
        </p:spPr>
        <p:txBody>
          <a:bodyPr wrap="square" lIns="0" tIns="0" rIns="0" bIns="0" rtlCol="0" anchor="t"/>
          <a:lstStyle/>
          <a:p>
            <a:pPr algn="l" indent="0" marL="0">
              <a:lnSpc>
                <a:spcPts val="1260"/>
              </a:lnSpc>
              <a:spcAft>
                <a:spcPts val="600"/>
              </a:spcAft>
              <a:buNone/>
            </a:pPr>
            <a:r>
              <a:rPr lang="en-US" sz="900" b="1" dirty="0">
                <a:solidFill>
                  <a:srgbClr val="1A1F2E"/>
                </a:solidFill>
                <a:latin typeface="Arial" pitchFamily="34" charset="0"/>
                <a:ea typeface="Arial" pitchFamily="34" charset="-122"/>
                <a:cs typeface="Arial" pitchFamily="34" charset="-120"/>
              </a:rPr>
              <a:t>Security Benefits</a:t>
            </a:r>
            <a:endParaRPr lang="en-US" sz="900" dirty="0"/>
          </a:p>
        </p:txBody>
      </p:sp>
      <p:sp>
        <p:nvSpPr>
          <p:cNvPr id="41" name="Text 39"/>
          <p:cNvSpPr/>
          <p:nvPr/>
        </p:nvSpPr>
        <p:spPr>
          <a:xfrm>
            <a:off x="3429000" y="3969097"/>
            <a:ext cx="2409444" cy="711994"/>
          </a:xfrm>
          <a:prstGeom prst="rect">
            <a:avLst/>
          </a:prstGeom>
          <a:noFill/>
          <a:ln/>
        </p:spPr>
        <p:txBody>
          <a:bodyPr wrap="square" lIns="0" tIns="0" rIns="0" bIns="0" rtlCol="0" anchor="t"/>
          <a:lstStyle/>
          <a:p>
            <a:pPr algn="l" indent="0" marL="0">
              <a:lnSpc>
                <a:spcPts val="1402"/>
              </a:lnSpc>
              <a:buNone/>
            </a:pPr>
            <a:r>
              <a:rPr lang="en-US" sz="825" dirty="0">
                <a:solidFill>
                  <a:srgbClr val="6B7280"/>
                </a:solidFill>
                <a:latin typeface="Arial" pitchFamily="34" charset="0"/>
                <a:ea typeface="Arial" pitchFamily="34" charset="-122"/>
                <a:cs typeface="Arial" pitchFamily="34" charset="-120"/>
              </a:rPr>
              <a:t>Voice never leaves device</a:t>
            </a:r>
            <a:endParaRPr lang="en-US" sz="825" dirty="0"/>
          </a:p>
          <a:p>
            <a:pPr algn="l" indent="0" marL="0">
              <a:lnSpc>
                <a:spcPts val="1402"/>
              </a:lnSpc>
              <a:buNone/>
            </a:pPr>
            <a:r>
              <a:rPr lang="en-US" sz="825" dirty="0">
                <a:solidFill>
                  <a:srgbClr val="6B7280"/>
                </a:solidFill>
                <a:latin typeface="Arial" pitchFamily="34" charset="0"/>
                <a:ea typeface="Arial" pitchFamily="34" charset="-122"/>
                <a:cs typeface="Arial" pitchFamily="34" charset="-120"/>
              </a:rPr>
              <a:t>Works offline / air-gapped</a:t>
            </a:r>
            <a:endParaRPr lang="en-US" sz="825" dirty="0"/>
          </a:p>
          <a:p>
            <a:pPr algn="l" indent="0" marL="0">
              <a:lnSpc>
                <a:spcPts val="1402"/>
              </a:lnSpc>
              <a:buNone/>
            </a:pPr>
            <a:r>
              <a:rPr lang="en-US" sz="825" dirty="0">
                <a:solidFill>
                  <a:srgbClr val="6B7280"/>
                </a:solidFill>
                <a:latin typeface="Arial" pitchFamily="34" charset="0"/>
                <a:ea typeface="Arial" pitchFamily="34" charset="-122"/>
                <a:cs typeface="Arial" pitchFamily="34" charset="-120"/>
              </a:rPr>
              <a:t>No vendor data retention</a:t>
            </a:r>
            <a:endParaRPr lang="en-US" sz="825" dirty="0"/>
          </a:p>
          <a:p>
            <a:pPr algn="l" indent="0" marL="0">
              <a:lnSpc>
                <a:spcPts val="1402"/>
              </a:lnSpc>
              <a:buNone/>
            </a:pPr>
            <a:r>
              <a:rPr lang="en-US" sz="825" dirty="0">
                <a:solidFill>
                  <a:srgbClr val="6B7280"/>
                </a:solidFill>
                <a:latin typeface="Arial" pitchFamily="34" charset="0"/>
                <a:ea typeface="Arial" pitchFamily="34" charset="-122"/>
                <a:cs typeface="Arial" pitchFamily="34" charset="-120"/>
              </a:rPr>
              <a:t>Full audit control</a:t>
            </a:r>
            <a:endParaRPr lang="en-US" sz="825" dirty="0"/>
          </a:p>
        </p:txBody>
      </p:sp>
      <p:sp>
        <p:nvSpPr>
          <p:cNvPr id="42" name="Text 40"/>
          <p:cNvSpPr/>
          <p:nvPr/>
        </p:nvSpPr>
        <p:spPr>
          <a:xfrm>
            <a:off x="6057900" y="3536156"/>
            <a:ext cx="2628900" cy="1189286"/>
          </a:xfrm>
          <a:prstGeom prst="rect">
            <a:avLst/>
          </a:prstGeom>
          <a:solidFill>
            <a:srgbClr val="1A1F2E"/>
          </a:solidFill>
          <a:ln/>
        </p:spPr>
        <p:txBody>
          <a:bodyPr wrap="square" rtlCol="0" anchor="ctr"/>
          <a:lstStyle/>
          <a:p>
            <a:pPr indent="0" marL="0">
              <a:buNone/>
            </a:pPr>
            <a:endParaRPr lang="en-US" dirty="0"/>
          </a:p>
        </p:txBody>
      </p:sp>
      <p:sp>
        <p:nvSpPr>
          <p:cNvPr id="43" name="Text 41"/>
          <p:cNvSpPr/>
          <p:nvPr/>
        </p:nvSpPr>
        <p:spPr>
          <a:xfrm>
            <a:off x="6191250" y="3669506"/>
            <a:ext cx="2409444" cy="159990"/>
          </a:xfrm>
          <a:prstGeom prst="rect">
            <a:avLst/>
          </a:prstGeom>
          <a:noFill/>
          <a:ln/>
        </p:spPr>
        <p:txBody>
          <a:bodyPr wrap="square" lIns="0" tIns="0" rIns="0" bIns="0" rtlCol="0" anchor="t"/>
          <a:lstStyle/>
          <a:p>
            <a:pPr algn="l" indent="0" marL="0">
              <a:lnSpc>
                <a:spcPts val="1260"/>
              </a:lnSpc>
              <a:spcAft>
                <a:spcPts val="600"/>
              </a:spcAft>
              <a:buNone/>
            </a:pPr>
            <a:r>
              <a:rPr lang="en-US" sz="900" b="1" dirty="0">
                <a:solidFill>
                  <a:srgbClr val="C9A227"/>
                </a:solidFill>
                <a:latin typeface="Arial" pitchFamily="34" charset="0"/>
                <a:ea typeface="Arial" pitchFamily="34" charset="-122"/>
                <a:cs typeface="Arial" pitchFamily="34" charset="-120"/>
              </a:rPr>
              <a:t>Key Insight</a:t>
            </a:r>
            <a:endParaRPr lang="en-US" sz="900" dirty="0"/>
          </a:p>
        </p:txBody>
      </p:sp>
      <p:sp>
        <p:nvSpPr>
          <p:cNvPr id="44" name="Text 42"/>
          <p:cNvSpPr/>
          <p:nvPr/>
        </p:nvSpPr>
        <p:spPr>
          <a:xfrm>
            <a:off x="6191250" y="4058096"/>
            <a:ext cx="2409444" cy="533995"/>
          </a:xfrm>
          <a:prstGeom prst="rect">
            <a:avLst/>
          </a:prstGeom>
          <a:noFill/>
          <a:ln/>
        </p:spPr>
        <p:txBody>
          <a:bodyPr wrap="square" lIns="0" tIns="0" rIns="0" bIns="0" rtlCol="0" anchor="t"/>
          <a:lstStyle/>
          <a:p>
            <a:pPr algn="l" indent="0" marL="0">
              <a:lnSpc>
                <a:spcPts val="1402"/>
              </a:lnSpc>
              <a:buNone/>
            </a:pPr>
            <a:r>
              <a:rPr lang="en-US" sz="825" dirty="0">
                <a:solidFill>
                  <a:srgbClr val="FFFFFF">
                    <a:alpha val="80000"/>
                  </a:srgbClr>
                </a:solidFill>
                <a:latin typeface="Arial" pitchFamily="34" charset="0"/>
                <a:ea typeface="Arial" pitchFamily="34" charset="-122"/>
                <a:cs typeface="Arial" pitchFamily="34" charset="-120"/>
              </a:rPr>
              <a:t>Voice data is biometric and sensitive. Local processing means you maintain complete control over where your data goes.</a:t>
            </a:r>
            <a:endParaRPr lang="en-US" sz="82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5213896" cy="5143500"/>
          </a:xfrm>
          <a:prstGeom prst="rect">
            <a:avLst/>
          </a:prstGeom>
          <a:solidFill>
            <a:srgbClr val="F7F8FA"/>
          </a:solidFill>
          <a:ln/>
        </p:spPr>
        <p:txBody>
          <a:bodyPr wrap="square" rtlCol="0" anchor="ctr"/>
          <a:lstStyle/>
          <a:p>
            <a:pPr indent="0" marL="0">
              <a:buNone/>
            </a:pPr>
            <a:endParaRPr lang="en-US" dirty="0"/>
          </a:p>
        </p:txBody>
      </p:sp>
      <p:sp>
        <p:nvSpPr>
          <p:cNvPr id="3" name="Text 1"/>
          <p:cNvSpPr/>
          <p:nvPr/>
        </p:nvSpPr>
        <p:spPr>
          <a:xfrm>
            <a:off x="342900" y="532507"/>
            <a:ext cx="2041166" cy="146596"/>
          </a:xfrm>
          <a:prstGeom prst="rect">
            <a:avLst/>
          </a:prstGeom>
          <a:noFill/>
          <a:ln/>
        </p:spPr>
        <p:txBody>
          <a:bodyPr wrap="square" lIns="0" tIns="0" rIns="0" bIns="0" rtlCol="0" anchor="t"/>
          <a:lstStyle/>
          <a:p>
            <a:pPr algn="l" indent="0" marL="0">
              <a:lnSpc>
                <a:spcPts val="1155"/>
              </a:lnSpc>
              <a:buNone/>
            </a:pPr>
            <a:r>
              <a:rPr lang="en-US" sz="825" dirty="0">
                <a:solidFill>
                  <a:srgbClr val="C9A227"/>
                </a:solidFill>
                <a:latin typeface="Arial" pitchFamily="34" charset="0"/>
                <a:ea typeface="Arial" pitchFamily="34" charset="-122"/>
                <a:cs typeface="Arial" pitchFamily="34" charset="-120"/>
              </a:rPr>
              <a:t>CROSS-PLATFORM OPTION</a:t>
            </a:r>
            <a:endParaRPr lang="en-US" sz="825" dirty="0"/>
          </a:p>
        </p:txBody>
      </p:sp>
      <p:sp>
        <p:nvSpPr>
          <p:cNvPr id="4" name="Text 2"/>
          <p:cNvSpPr/>
          <p:nvPr/>
        </p:nvSpPr>
        <p:spPr>
          <a:xfrm>
            <a:off x="2420243" y="517327"/>
            <a:ext cx="971550" cy="177105"/>
          </a:xfrm>
          <a:prstGeom prst="rect">
            <a:avLst/>
          </a:prstGeom>
          <a:solidFill>
            <a:srgbClr val="DCFCE7"/>
          </a:solidFill>
          <a:ln/>
        </p:spPr>
        <p:txBody>
          <a:bodyPr wrap="square" rtlCol="0" anchor="ctr"/>
          <a:lstStyle/>
          <a:p>
            <a:pPr indent="0" marL="0">
              <a:buNone/>
            </a:pPr>
            <a:endParaRPr lang="en-US" dirty="0"/>
          </a:p>
        </p:txBody>
      </p:sp>
      <p:sp>
        <p:nvSpPr>
          <p:cNvPr id="5" name="Text 3"/>
          <p:cNvSpPr/>
          <p:nvPr/>
        </p:nvSpPr>
        <p:spPr>
          <a:xfrm>
            <a:off x="2496443" y="545902"/>
            <a:ext cx="835533" cy="119955"/>
          </a:xfrm>
          <a:prstGeom prst="rect">
            <a:avLst/>
          </a:prstGeom>
          <a:noFill/>
          <a:ln/>
        </p:spPr>
        <p:txBody>
          <a:bodyPr wrap="square" lIns="0" tIns="0" rIns="0" bIns="0" rtlCol="0" anchor="t"/>
          <a:lstStyle/>
          <a:p>
            <a:pPr algn="l" indent="0" marL="0">
              <a:lnSpc>
                <a:spcPts val="945"/>
              </a:lnSpc>
              <a:buNone/>
            </a:pPr>
            <a:r>
              <a:rPr lang="en-US" sz="675" b="1" dirty="0">
                <a:solidFill>
                  <a:srgbClr val="166534"/>
                </a:solidFill>
                <a:latin typeface="Arial" pitchFamily="34" charset="0"/>
                <a:ea typeface="Arial" pitchFamily="34" charset="-122"/>
                <a:cs typeface="Arial" pitchFamily="34" charset="-120"/>
              </a:rPr>
              <a:t>NOW ON WINDOWS</a:t>
            </a:r>
            <a:endParaRPr lang="en-US" sz="675" dirty="0"/>
          </a:p>
        </p:txBody>
      </p:sp>
      <p:sp>
        <p:nvSpPr>
          <p:cNvPr id="6" name="Text 4"/>
          <p:cNvSpPr/>
          <p:nvPr/>
        </p:nvSpPr>
        <p:spPr>
          <a:xfrm>
            <a:off x="342900" y="903982"/>
            <a:ext cx="2312289" cy="304800"/>
          </a:xfrm>
          <a:prstGeom prst="rect">
            <a:avLst/>
          </a:prstGeom>
          <a:noFill/>
          <a:ln/>
        </p:spPr>
        <p:txBody>
          <a:bodyPr wrap="square" lIns="0" tIns="0" rIns="0" bIns="0" rtlCol="0" anchor="t"/>
          <a:lstStyle/>
          <a:p>
            <a:pPr algn="l" indent="0" marL="0">
              <a:lnSpc>
                <a:spcPts val="2400"/>
              </a:lnSpc>
              <a:spcAft>
                <a:spcPts val="450"/>
              </a:spcAft>
              <a:buNone/>
            </a:pPr>
            <a:r>
              <a:rPr lang="en-US" sz="2400" dirty="0">
                <a:solidFill>
                  <a:srgbClr val="1A1F2E"/>
                </a:solidFill>
                <a:latin typeface="Georgia" pitchFamily="34" charset="0"/>
                <a:ea typeface="Georgia" pitchFamily="34" charset="-122"/>
                <a:cs typeface="Georgia" pitchFamily="34" charset="-120"/>
              </a:rPr>
              <a:t>Wispr Flow</a:t>
            </a:r>
            <a:endParaRPr lang="en-US" sz="2400" dirty="0"/>
          </a:p>
        </p:txBody>
      </p:sp>
      <p:sp>
        <p:nvSpPr>
          <p:cNvPr id="7" name="Text 5"/>
          <p:cNvSpPr/>
          <p:nvPr/>
        </p:nvSpPr>
        <p:spPr>
          <a:xfrm>
            <a:off x="342900" y="1418332"/>
            <a:ext cx="4618658" cy="173236"/>
          </a:xfrm>
          <a:prstGeom prst="rect">
            <a:avLst/>
          </a:prstGeom>
          <a:noFill/>
          <a:ln/>
        </p:spPr>
        <p:txBody>
          <a:bodyPr wrap="square" lIns="0" tIns="0" rIns="0" bIns="0" rtlCol="0" anchor="t"/>
          <a:lstStyle/>
          <a:p>
            <a:pPr algn="l" indent="0" marL="0">
              <a:lnSpc>
                <a:spcPts val="1365"/>
              </a:lnSpc>
              <a:spcAft>
                <a:spcPts val="1200"/>
              </a:spcAft>
              <a:buNone/>
            </a:pPr>
            <a:r>
              <a:rPr lang="en-US" sz="975" dirty="0">
                <a:solidFill>
                  <a:srgbClr val="6B7280"/>
                </a:solidFill>
                <a:latin typeface="Arial" pitchFamily="34" charset="0"/>
                <a:ea typeface="Arial" pitchFamily="34" charset="-122"/>
                <a:cs typeface="Arial" pitchFamily="34" charset="-120"/>
              </a:rPr>
              <a:t>Context-aware voice input for Mac, Windows, and iOS</a:t>
            </a:r>
            <a:endParaRPr lang="en-US" sz="975" dirty="0"/>
          </a:p>
        </p:txBody>
      </p:sp>
      <p:sp>
        <p:nvSpPr>
          <p:cNvPr id="8" name="Text 6"/>
          <p:cNvSpPr/>
          <p:nvPr/>
        </p:nvSpPr>
        <p:spPr>
          <a:xfrm>
            <a:off x="342900" y="1896368"/>
            <a:ext cx="4528096" cy="798165"/>
          </a:xfrm>
          <a:prstGeom prst="rect">
            <a:avLst/>
          </a:prstGeom>
          <a:solidFill>
            <a:srgbClr val="FFFFFF"/>
          </a:solidFill>
          <a:ln/>
        </p:spPr>
        <p:txBody>
          <a:bodyPr wrap="square" rtlCol="0" anchor="ctr"/>
          <a:lstStyle/>
          <a:p>
            <a:pPr indent="0" marL="0">
              <a:buNone/>
            </a:pPr>
            <a:endParaRPr lang="en-US" dirty="0"/>
          </a:p>
        </p:txBody>
      </p:sp>
      <p:sp>
        <p:nvSpPr>
          <p:cNvPr id="9" name="Shape 7"/>
          <p:cNvSpPr/>
          <p:nvPr/>
        </p:nvSpPr>
        <p:spPr>
          <a:xfrm>
            <a:off x="361950" y="1896368"/>
            <a:ext cx="0" cy="798165"/>
          </a:xfrm>
          <a:prstGeom prst="line">
            <a:avLst/>
          </a:prstGeom>
          <a:noFill/>
          <a:ln w="38100">
            <a:solidFill>
              <a:srgbClr val="C9A227"/>
            </a:solidFill>
            <a:prstDash val="solid"/>
          </a:ln>
        </p:spPr>
      </p:sp>
      <p:sp>
        <p:nvSpPr>
          <p:cNvPr id="10" name="Text 8"/>
          <p:cNvSpPr/>
          <p:nvPr/>
        </p:nvSpPr>
        <p:spPr>
          <a:xfrm>
            <a:off x="533400" y="2029718"/>
            <a:ext cx="4268900" cy="159990"/>
          </a:xfrm>
          <a:prstGeom prst="rect">
            <a:avLst/>
          </a:prstGeom>
          <a:noFill/>
          <a:ln/>
        </p:spPr>
        <p:txBody>
          <a:bodyPr wrap="square" lIns="0" tIns="0" rIns="0" bIns="0" rtlCol="0" anchor="t"/>
          <a:lstStyle/>
          <a:p>
            <a:pPr algn="l" indent="0" marL="0">
              <a:lnSpc>
                <a:spcPts val="1260"/>
              </a:lnSpc>
              <a:spcAft>
                <a:spcPts val="450"/>
              </a:spcAft>
              <a:buNone/>
            </a:pPr>
            <a:r>
              <a:rPr lang="en-US" sz="900" b="1" dirty="0">
                <a:solidFill>
                  <a:srgbClr val="1A1F2E"/>
                </a:solidFill>
                <a:latin typeface="Arial" pitchFamily="34" charset="0"/>
                <a:ea typeface="Arial" pitchFamily="34" charset="-122"/>
                <a:cs typeface="Arial" pitchFamily="34" charset="-120"/>
              </a:rPr>
              <a:t>What It Is</a:t>
            </a:r>
            <a:endParaRPr lang="en-US" sz="900" dirty="0"/>
          </a:p>
        </p:txBody>
      </p:sp>
      <p:sp>
        <p:nvSpPr>
          <p:cNvPr id="11" name="Text 9"/>
          <p:cNvSpPr/>
          <p:nvPr/>
        </p:nvSpPr>
        <p:spPr>
          <a:xfrm>
            <a:off x="533400" y="2246858"/>
            <a:ext cx="4268900" cy="314325"/>
          </a:xfrm>
          <a:prstGeom prst="rect">
            <a:avLst/>
          </a:prstGeom>
          <a:noFill/>
          <a:ln/>
        </p:spPr>
        <p:txBody>
          <a:bodyPr wrap="square" lIns="0" tIns="0" rIns="0" bIns="0" rtlCol="0" anchor="t"/>
          <a:lstStyle/>
          <a:p>
            <a:pPr algn="l" indent="0" marL="0">
              <a:lnSpc>
                <a:spcPts val="1238"/>
              </a:lnSpc>
              <a:buNone/>
            </a:pPr>
            <a:r>
              <a:rPr lang="en-US" sz="825" dirty="0">
                <a:solidFill>
                  <a:srgbClr val="6B7280"/>
                </a:solidFill>
                <a:latin typeface="Arial" pitchFamily="34" charset="0"/>
                <a:ea typeface="Arial" pitchFamily="34" charset="-122"/>
                <a:cs typeface="Arial" pitchFamily="34" charset="-120"/>
              </a:rPr>
              <a:t>An intelligent voice-to-text tool that understands context. It knows if you're coding, writing email, or chatting - and formats output accordingly.</a:t>
            </a:r>
            <a:endParaRPr lang="en-US" sz="825" dirty="0"/>
          </a:p>
        </p:txBody>
      </p:sp>
      <p:sp>
        <p:nvSpPr>
          <p:cNvPr id="12" name="Text 10"/>
          <p:cNvSpPr/>
          <p:nvPr/>
        </p:nvSpPr>
        <p:spPr>
          <a:xfrm>
            <a:off x="342900" y="2961233"/>
            <a:ext cx="1433215" cy="632371"/>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3" name="Text 11"/>
          <p:cNvSpPr/>
          <p:nvPr/>
        </p:nvSpPr>
        <p:spPr>
          <a:xfrm>
            <a:off x="466725" y="3085058"/>
            <a:ext cx="1209276" cy="213271"/>
          </a:xfrm>
          <a:prstGeom prst="rect">
            <a:avLst/>
          </a:prstGeom>
          <a:noFill/>
          <a:ln/>
        </p:spPr>
        <p:txBody>
          <a:bodyPr wrap="square" lIns="0" tIns="0" rIns="0" bIns="0" rtlCol="0" anchor="t"/>
          <a:lstStyle/>
          <a:p>
            <a:pPr algn="l" indent="0" marL="0">
              <a:lnSpc>
                <a:spcPts val="1680"/>
              </a:lnSpc>
              <a:spcAft>
                <a:spcPts val="300"/>
              </a:spcAft>
              <a:buNone/>
            </a:pPr>
            <a:r>
              <a:rPr lang="en-US" sz="1200" dirty="0">
                <a:solidFill>
                  <a:srgbClr val="1A1F2E"/>
                </a:solidFill>
                <a:latin typeface="Georgia" pitchFamily="34" charset="0"/>
                <a:ea typeface="Georgia" pitchFamily="34" charset="-122"/>
                <a:cs typeface="Georgia" pitchFamily="34" charset="-120"/>
              </a:rPr>
              <a:t>Free Tier</a:t>
            </a:r>
            <a:endParaRPr lang="en-US" sz="1200" dirty="0"/>
          </a:p>
        </p:txBody>
      </p:sp>
      <p:sp>
        <p:nvSpPr>
          <p:cNvPr id="14" name="Text 12"/>
          <p:cNvSpPr/>
          <p:nvPr/>
        </p:nvSpPr>
        <p:spPr>
          <a:xfrm>
            <a:off x="466725" y="3336429"/>
            <a:ext cx="1209276" cy="133350"/>
          </a:xfrm>
          <a:prstGeom prst="rect">
            <a:avLst/>
          </a:prstGeom>
          <a:noFill/>
          <a:ln/>
        </p:spPr>
        <p:txBody>
          <a:bodyPr wrap="square" lIns="0" tIns="0" rIns="0" bIns="0" rtlCol="0" anchor="t"/>
          <a:lstStyle/>
          <a:p>
            <a:pPr algn="l" indent="0" marL="0">
              <a:lnSpc>
                <a:spcPts val="1050"/>
              </a:lnSpc>
              <a:buNone/>
            </a:pPr>
            <a:r>
              <a:rPr lang="en-US" sz="750" dirty="0">
                <a:solidFill>
                  <a:srgbClr val="6B7280"/>
                </a:solidFill>
                <a:latin typeface="Arial" pitchFamily="34" charset="0"/>
                <a:ea typeface="Arial" pitchFamily="34" charset="-122"/>
                <a:cs typeface="Arial" pitchFamily="34" charset="-120"/>
              </a:rPr>
              <a:t>2,000 words/week</a:t>
            </a:r>
            <a:endParaRPr lang="en-US" sz="750" dirty="0"/>
          </a:p>
        </p:txBody>
      </p:sp>
      <p:sp>
        <p:nvSpPr>
          <p:cNvPr id="15" name="Text 13"/>
          <p:cNvSpPr/>
          <p:nvPr/>
        </p:nvSpPr>
        <p:spPr>
          <a:xfrm>
            <a:off x="1890415" y="2961233"/>
            <a:ext cx="1433215" cy="632371"/>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6" name="Text 14"/>
          <p:cNvSpPr/>
          <p:nvPr/>
        </p:nvSpPr>
        <p:spPr>
          <a:xfrm>
            <a:off x="2014240" y="3085058"/>
            <a:ext cx="1209276" cy="213271"/>
          </a:xfrm>
          <a:prstGeom prst="rect">
            <a:avLst/>
          </a:prstGeom>
          <a:noFill/>
          <a:ln/>
        </p:spPr>
        <p:txBody>
          <a:bodyPr wrap="square" lIns="0" tIns="0" rIns="0" bIns="0" rtlCol="0" anchor="t"/>
          <a:lstStyle/>
          <a:p>
            <a:pPr algn="l" indent="0" marL="0">
              <a:lnSpc>
                <a:spcPts val="1680"/>
              </a:lnSpc>
              <a:spcAft>
                <a:spcPts val="300"/>
              </a:spcAft>
              <a:buNone/>
            </a:pPr>
            <a:r>
              <a:rPr lang="en-US" sz="1200" dirty="0">
                <a:solidFill>
                  <a:srgbClr val="1A1F2E"/>
                </a:solidFill>
                <a:latin typeface="Georgia" pitchFamily="34" charset="0"/>
                <a:ea typeface="Georgia" pitchFamily="34" charset="-122"/>
                <a:cs typeface="Georgia" pitchFamily="34" charset="-120"/>
              </a:rPr>
              <a:t>$15/mo Pro</a:t>
            </a:r>
            <a:endParaRPr lang="en-US" sz="1200" dirty="0"/>
          </a:p>
        </p:txBody>
      </p:sp>
      <p:sp>
        <p:nvSpPr>
          <p:cNvPr id="17" name="Text 15"/>
          <p:cNvSpPr/>
          <p:nvPr/>
        </p:nvSpPr>
        <p:spPr>
          <a:xfrm>
            <a:off x="2014240" y="3336429"/>
            <a:ext cx="1209276" cy="133350"/>
          </a:xfrm>
          <a:prstGeom prst="rect">
            <a:avLst/>
          </a:prstGeom>
          <a:noFill/>
          <a:ln/>
        </p:spPr>
        <p:txBody>
          <a:bodyPr wrap="square" lIns="0" tIns="0" rIns="0" bIns="0" rtlCol="0" anchor="t"/>
          <a:lstStyle/>
          <a:p>
            <a:pPr algn="l" indent="0" marL="0">
              <a:lnSpc>
                <a:spcPts val="1050"/>
              </a:lnSpc>
              <a:buNone/>
            </a:pPr>
            <a:r>
              <a:rPr lang="en-US" sz="750" dirty="0">
                <a:solidFill>
                  <a:srgbClr val="6B7280"/>
                </a:solidFill>
                <a:latin typeface="Arial" pitchFamily="34" charset="0"/>
                <a:ea typeface="Arial" pitchFamily="34" charset="-122"/>
                <a:cs typeface="Arial" pitchFamily="34" charset="-120"/>
              </a:rPr>
              <a:t>Unlimited dictation</a:t>
            </a:r>
            <a:endParaRPr lang="en-US" sz="750" dirty="0"/>
          </a:p>
        </p:txBody>
      </p:sp>
      <p:sp>
        <p:nvSpPr>
          <p:cNvPr id="18" name="Text 16"/>
          <p:cNvSpPr/>
          <p:nvPr/>
        </p:nvSpPr>
        <p:spPr>
          <a:xfrm>
            <a:off x="3437930" y="2961233"/>
            <a:ext cx="1433215" cy="632371"/>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9" name="Text 17"/>
          <p:cNvSpPr/>
          <p:nvPr/>
        </p:nvSpPr>
        <p:spPr>
          <a:xfrm>
            <a:off x="3561755" y="3085058"/>
            <a:ext cx="1209276" cy="213271"/>
          </a:xfrm>
          <a:prstGeom prst="rect">
            <a:avLst/>
          </a:prstGeom>
          <a:noFill/>
          <a:ln/>
        </p:spPr>
        <p:txBody>
          <a:bodyPr wrap="square" lIns="0" tIns="0" rIns="0" bIns="0" rtlCol="0" anchor="t"/>
          <a:lstStyle/>
          <a:p>
            <a:pPr algn="l" indent="0" marL="0">
              <a:lnSpc>
                <a:spcPts val="1680"/>
              </a:lnSpc>
              <a:spcAft>
                <a:spcPts val="300"/>
              </a:spcAft>
              <a:buNone/>
            </a:pPr>
            <a:r>
              <a:rPr lang="en-US" sz="1200" dirty="0">
                <a:solidFill>
                  <a:srgbClr val="1A1F2E"/>
                </a:solidFill>
                <a:latin typeface="Georgia" pitchFamily="34" charset="0"/>
                <a:ea typeface="Georgia" pitchFamily="34" charset="-122"/>
                <a:cs typeface="Georgia" pitchFamily="34" charset="-120"/>
              </a:rPr>
              <a:t>Cloud Only</a:t>
            </a:r>
            <a:endParaRPr lang="en-US" sz="1200" dirty="0"/>
          </a:p>
        </p:txBody>
      </p:sp>
      <p:sp>
        <p:nvSpPr>
          <p:cNvPr id="20" name="Text 18"/>
          <p:cNvSpPr/>
          <p:nvPr/>
        </p:nvSpPr>
        <p:spPr>
          <a:xfrm>
            <a:off x="3561755" y="3336429"/>
            <a:ext cx="1209276" cy="133350"/>
          </a:xfrm>
          <a:prstGeom prst="rect">
            <a:avLst/>
          </a:prstGeom>
          <a:noFill/>
          <a:ln/>
        </p:spPr>
        <p:txBody>
          <a:bodyPr wrap="square" lIns="0" tIns="0" rIns="0" bIns="0" rtlCol="0" anchor="t"/>
          <a:lstStyle/>
          <a:p>
            <a:pPr algn="l" indent="0" marL="0">
              <a:lnSpc>
                <a:spcPts val="1050"/>
              </a:lnSpc>
              <a:buNone/>
            </a:pPr>
            <a:r>
              <a:rPr lang="en-US" sz="750" dirty="0">
                <a:solidFill>
                  <a:srgbClr val="6B7280"/>
                </a:solidFill>
                <a:latin typeface="Arial" pitchFamily="34" charset="0"/>
                <a:ea typeface="Arial" pitchFamily="34" charset="-122"/>
                <a:cs typeface="Arial" pitchFamily="34" charset="-120"/>
              </a:rPr>
              <a:t>Requires internet</a:t>
            </a:r>
            <a:endParaRPr lang="en-US" sz="750" dirty="0"/>
          </a:p>
        </p:txBody>
      </p:sp>
      <p:sp>
        <p:nvSpPr>
          <p:cNvPr id="21" name="Text 19"/>
          <p:cNvSpPr/>
          <p:nvPr/>
        </p:nvSpPr>
        <p:spPr>
          <a:xfrm>
            <a:off x="342900" y="3860304"/>
            <a:ext cx="4528096" cy="765721"/>
          </a:xfrm>
          <a:prstGeom prst="rect">
            <a:avLst/>
          </a:prstGeom>
          <a:solidFill>
            <a:srgbClr val="1A1F2E"/>
          </a:solidFill>
          <a:ln/>
        </p:spPr>
        <p:txBody>
          <a:bodyPr wrap="square" rtlCol="0" anchor="ctr"/>
          <a:lstStyle/>
          <a:p>
            <a:pPr indent="0" marL="0">
              <a:buNone/>
            </a:pPr>
            <a:endParaRPr lang="en-US" dirty="0"/>
          </a:p>
        </p:txBody>
      </p:sp>
      <p:sp>
        <p:nvSpPr>
          <p:cNvPr id="22" name="Text 20"/>
          <p:cNvSpPr/>
          <p:nvPr/>
        </p:nvSpPr>
        <p:spPr>
          <a:xfrm>
            <a:off x="495300" y="3993654"/>
            <a:ext cx="4307762" cy="146596"/>
          </a:xfrm>
          <a:prstGeom prst="rect">
            <a:avLst/>
          </a:prstGeom>
          <a:noFill/>
          <a:ln/>
        </p:spPr>
        <p:txBody>
          <a:bodyPr wrap="square" lIns="0" tIns="0" rIns="0" bIns="0" rtlCol="0" anchor="t"/>
          <a:lstStyle/>
          <a:p>
            <a:pPr algn="l" indent="0" marL="0">
              <a:lnSpc>
                <a:spcPts val="1155"/>
              </a:lnSpc>
              <a:spcAft>
                <a:spcPts val="300"/>
              </a:spcAft>
              <a:buNone/>
            </a:pPr>
            <a:r>
              <a:rPr lang="en-US" sz="825" b="1" dirty="0">
                <a:solidFill>
                  <a:srgbClr val="C9A227"/>
                </a:solidFill>
                <a:latin typeface="Arial" pitchFamily="34" charset="0"/>
                <a:ea typeface="Arial" pitchFamily="34" charset="-122"/>
                <a:cs typeface="Arial" pitchFamily="34" charset="-120"/>
              </a:rPr>
              <a:t>KEY DIFFERENTIATOR</a:t>
            </a:r>
            <a:endParaRPr lang="en-US" sz="825" dirty="0"/>
          </a:p>
        </p:txBody>
      </p:sp>
      <p:sp>
        <p:nvSpPr>
          <p:cNvPr id="23" name="Text 21"/>
          <p:cNvSpPr/>
          <p:nvPr/>
        </p:nvSpPr>
        <p:spPr>
          <a:xfrm>
            <a:off x="495300" y="4178350"/>
            <a:ext cx="4307762" cy="314325"/>
          </a:xfrm>
          <a:prstGeom prst="rect">
            <a:avLst/>
          </a:prstGeom>
          <a:noFill/>
          <a:ln/>
        </p:spPr>
        <p:txBody>
          <a:bodyPr wrap="square" lIns="0" tIns="0" rIns="0" bIns="0" rtlCol="0" anchor="t"/>
          <a:lstStyle/>
          <a:p>
            <a:pPr algn="l" indent="0" marL="0">
              <a:lnSpc>
                <a:spcPts val="1238"/>
              </a:lnSpc>
              <a:buNone/>
            </a:pPr>
            <a:r>
              <a:rPr lang="en-US" sz="825" dirty="0">
                <a:solidFill>
                  <a:srgbClr val="FFFFFF">
                    <a:alpha val="80000"/>
                  </a:srgbClr>
                </a:solidFill>
                <a:latin typeface="Arial" pitchFamily="34" charset="0"/>
                <a:ea typeface="Arial" pitchFamily="34" charset="-122"/>
                <a:cs typeface="Arial" pitchFamily="34" charset="-120"/>
              </a:rPr>
              <a:t>Context awareness - Wispr Flow detects your current app and adjusts formatting. Code in VS Code, prose in Word.</a:t>
            </a:r>
            <a:endParaRPr lang="en-US" sz="825" dirty="0"/>
          </a:p>
        </p:txBody>
      </p:sp>
      <p:sp>
        <p:nvSpPr>
          <p:cNvPr id="24" name="Text 22"/>
          <p:cNvSpPr/>
          <p:nvPr/>
        </p:nvSpPr>
        <p:spPr>
          <a:xfrm>
            <a:off x="5366296" y="0"/>
            <a:ext cx="3777704" cy="5143500"/>
          </a:xfrm>
          <a:prstGeom prst="rect">
            <a:avLst/>
          </a:prstGeom>
          <a:solidFill>
            <a:srgbClr val="1A1F2E"/>
          </a:solidFill>
          <a:ln/>
        </p:spPr>
        <p:txBody>
          <a:bodyPr wrap="square" rtlCol="0" anchor="ctr"/>
          <a:lstStyle/>
          <a:p>
            <a:pPr indent="0" marL="0">
              <a:buNone/>
            </a:pPr>
            <a:endParaRPr lang="en-US" dirty="0"/>
          </a:p>
        </p:txBody>
      </p:sp>
      <p:sp>
        <p:nvSpPr>
          <p:cNvPr id="25" name="Text 23"/>
          <p:cNvSpPr/>
          <p:nvPr/>
        </p:nvSpPr>
        <p:spPr>
          <a:xfrm>
            <a:off x="5671096" y="304800"/>
            <a:ext cx="3231466" cy="146596"/>
          </a:xfrm>
          <a:prstGeom prst="rect">
            <a:avLst/>
          </a:prstGeom>
          <a:noFill/>
          <a:ln/>
        </p:spPr>
        <p:txBody>
          <a:bodyPr wrap="square" lIns="0" tIns="0" rIns="0" bIns="0" rtlCol="0" anchor="t"/>
          <a:lstStyle/>
          <a:p>
            <a:pPr algn="l" indent="0" marL="0">
              <a:lnSpc>
                <a:spcPts val="1155"/>
              </a:lnSpc>
              <a:spcAft>
                <a:spcPts val="1200"/>
              </a:spcAft>
              <a:buNone/>
            </a:pPr>
            <a:r>
              <a:rPr lang="en-US" sz="825" dirty="0">
                <a:solidFill>
                  <a:srgbClr val="C9A227"/>
                </a:solidFill>
                <a:latin typeface="Arial" pitchFamily="34" charset="0"/>
                <a:ea typeface="Arial" pitchFamily="34" charset="-122"/>
                <a:cs typeface="Arial" pitchFamily="34" charset="-120"/>
              </a:rPr>
              <a:t>PLATFORM SUPPORT</a:t>
            </a:r>
            <a:endParaRPr lang="en-US" sz="825" dirty="0"/>
          </a:p>
        </p:txBody>
      </p:sp>
      <p:sp>
        <p:nvSpPr>
          <p:cNvPr id="26" name="Text 24"/>
          <p:cNvSpPr/>
          <p:nvPr/>
        </p:nvSpPr>
        <p:spPr>
          <a:xfrm>
            <a:off x="5671096" y="756196"/>
            <a:ext cx="3168104" cy="611386"/>
          </a:xfrm>
          <a:prstGeom prst="rect">
            <a:avLst/>
          </a:prstGeom>
          <a:solidFill>
            <a:srgbClr val="C9A227">
              <a:alpha val="10000"/>
            </a:srgbClr>
          </a:solidFill>
          <a:ln w="9525">
            <a:solidFill>
              <a:srgbClr val="C9A227"/>
            </a:solidFill>
          </a:ln>
        </p:spPr>
        <p:txBody>
          <a:bodyPr wrap="square" rtlCol="0" anchor="ctr"/>
          <a:lstStyle/>
          <a:p>
            <a:pPr indent="0" marL="0">
              <a:buNone/>
            </a:pPr>
            <a:endParaRPr lang="en-US" dirty="0"/>
          </a:p>
        </p:txBody>
      </p:sp>
      <p:sp>
        <p:nvSpPr>
          <p:cNvPr id="27" name="Text 25"/>
          <p:cNvSpPr/>
          <p:nvPr/>
        </p:nvSpPr>
        <p:spPr>
          <a:xfrm>
            <a:off x="5813971" y="909489"/>
            <a:ext cx="304800" cy="304800"/>
          </a:xfrm>
          <a:prstGeom prst="rect">
            <a:avLst/>
          </a:prstGeom>
          <a:solidFill>
            <a:srgbClr val="C9A227"/>
          </a:solidFill>
          <a:ln/>
        </p:spPr>
        <p:txBody>
          <a:bodyPr wrap="square" rtlCol="0" anchor="ctr"/>
          <a:lstStyle/>
          <a:p>
            <a:pPr indent="0" marL="0">
              <a:buNone/>
            </a:pPr>
            <a:endParaRPr lang="en-US" dirty="0"/>
          </a:p>
        </p:txBody>
      </p:sp>
      <p:sp>
        <p:nvSpPr>
          <p:cNvPr id="28" name="Text 26"/>
          <p:cNvSpPr/>
          <p:nvPr/>
        </p:nvSpPr>
        <p:spPr>
          <a:xfrm>
            <a:off x="5910709" y="968573"/>
            <a:ext cx="113398" cy="186630"/>
          </a:xfrm>
          <a:prstGeom prst="rect">
            <a:avLst/>
          </a:prstGeom>
          <a:noFill/>
          <a:ln/>
        </p:spPr>
        <p:txBody>
          <a:bodyPr wrap="square" lIns="0" tIns="0" rIns="0" bIns="0" rtlCol="0" anchor="t"/>
          <a:lstStyle/>
          <a:p>
            <a:pPr algn="l" indent="0" marL="0">
              <a:lnSpc>
                <a:spcPts val="1470"/>
              </a:lnSpc>
              <a:buNone/>
            </a:pPr>
            <a:r>
              <a:rPr lang="en-US" sz="1050" dirty="0">
                <a:solidFill>
                  <a:srgbClr val="1A1F2E"/>
                </a:solidFill>
                <a:latin typeface="Arial" pitchFamily="34" charset="0"/>
                <a:ea typeface="Arial" pitchFamily="34" charset="-122"/>
                <a:cs typeface="Arial" pitchFamily="34" charset="-120"/>
              </a:rPr>
              <a:t>M</a:t>
            </a:r>
            <a:endParaRPr lang="en-US" sz="1050" dirty="0"/>
          </a:p>
        </p:txBody>
      </p:sp>
      <p:sp>
        <p:nvSpPr>
          <p:cNvPr id="29" name="Text 27"/>
          <p:cNvSpPr/>
          <p:nvPr/>
        </p:nvSpPr>
        <p:spPr>
          <a:xfrm>
            <a:off x="6214021" y="899071"/>
            <a:ext cx="875002" cy="173236"/>
          </a:xfrm>
          <a:prstGeom prst="rect">
            <a:avLst/>
          </a:prstGeom>
          <a:noFill/>
          <a:ln/>
        </p:spPr>
        <p:txBody>
          <a:bodyPr wrap="square" lIns="0" tIns="0" rIns="0" bIns="0" rtlCol="0" anchor="t"/>
          <a:lstStyle/>
          <a:p>
            <a:pPr algn="l" indent="0" marL="0">
              <a:lnSpc>
                <a:spcPts val="1365"/>
              </a:lnSpc>
              <a:buNone/>
            </a:pPr>
            <a:r>
              <a:rPr lang="en-US" sz="975" dirty="0">
                <a:solidFill>
                  <a:srgbClr val="FFFFFF"/>
                </a:solidFill>
                <a:latin typeface="Arial" pitchFamily="34" charset="0"/>
                <a:ea typeface="Arial" pitchFamily="34" charset="-122"/>
                <a:cs typeface="Arial" pitchFamily="34" charset="-120"/>
              </a:rPr>
              <a:t>macOS</a:t>
            </a:r>
            <a:endParaRPr lang="en-US" sz="975" dirty="0"/>
          </a:p>
        </p:txBody>
      </p:sp>
      <p:sp>
        <p:nvSpPr>
          <p:cNvPr id="30" name="Text 28"/>
          <p:cNvSpPr/>
          <p:nvPr/>
        </p:nvSpPr>
        <p:spPr>
          <a:xfrm>
            <a:off x="6214021" y="1091357"/>
            <a:ext cx="875002" cy="133350"/>
          </a:xfrm>
          <a:prstGeom prst="rect">
            <a:avLst/>
          </a:prstGeom>
          <a:noFill/>
          <a:ln/>
        </p:spPr>
        <p:txBody>
          <a:bodyPr wrap="square" lIns="0" tIns="0" rIns="0" bIns="0" rtlCol="0" anchor="t"/>
          <a:lstStyle/>
          <a:p>
            <a:pPr algn="l" indent="0" marL="0">
              <a:lnSpc>
                <a:spcPts val="1050"/>
              </a:lnSpc>
              <a:spcBef>
                <a:spcPts val="150"/>
              </a:spcBef>
              <a:buNone/>
            </a:pPr>
            <a:r>
              <a:rPr lang="en-US" sz="750" dirty="0">
                <a:solidFill>
                  <a:srgbClr val="FFFFFF">
                    <a:alpha val="50000"/>
                  </a:srgbClr>
                </a:solidFill>
                <a:latin typeface="Arial" pitchFamily="34" charset="0"/>
                <a:ea typeface="Arial" pitchFamily="34" charset="-122"/>
                <a:cs typeface="Arial" pitchFamily="34" charset="-120"/>
              </a:rPr>
              <a:t>Native app available</a:t>
            </a:r>
            <a:endParaRPr lang="en-US" sz="750" dirty="0"/>
          </a:p>
        </p:txBody>
      </p:sp>
      <p:sp>
        <p:nvSpPr>
          <p:cNvPr id="31" name="Text 29"/>
          <p:cNvSpPr/>
          <p:nvPr/>
        </p:nvSpPr>
        <p:spPr>
          <a:xfrm>
            <a:off x="5671096" y="1615232"/>
            <a:ext cx="3168104" cy="611386"/>
          </a:xfrm>
          <a:prstGeom prst="rect">
            <a:avLst/>
          </a:prstGeom>
          <a:solidFill>
            <a:srgbClr val="C9A227">
              <a:alpha val="10000"/>
            </a:srgbClr>
          </a:solidFill>
          <a:ln w="9525">
            <a:solidFill>
              <a:srgbClr val="C9A227"/>
            </a:solidFill>
          </a:ln>
        </p:spPr>
        <p:txBody>
          <a:bodyPr wrap="square" rtlCol="0" anchor="ctr"/>
          <a:lstStyle/>
          <a:p>
            <a:pPr indent="0" marL="0">
              <a:buNone/>
            </a:pPr>
            <a:endParaRPr lang="en-US" dirty="0"/>
          </a:p>
        </p:txBody>
      </p:sp>
      <p:sp>
        <p:nvSpPr>
          <p:cNvPr id="32" name="Text 30"/>
          <p:cNvSpPr/>
          <p:nvPr/>
        </p:nvSpPr>
        <p:spPr>
          <a:xfrm>
            <a:off x="5813971" y="1768525"/>
            <a:ext cx="304800" cy="304800"/>
          </a:xfrm>
          <a:prstGeom prst="rect">
            <a:avLst/>
          </a:prstGeom>
          <a:solidFill>
            <a:srgbClr val="C9A227"/>
          </a:solidFill>
          <a:ln/>
        </p:spPr>
        <p:txBody>
          <a:bodyPr wrap="square" rtlCol="0" anchor="ctr"/>
          <a:lstStyle/>
          <a:p>
            <a:pPr indent="0" marL="0">
              <a:buNone/>
            </a:pPr>
            <a:endParaRPr lang="en-US" dirty="0"/>
          </a:p>
        </p:txBody>
      </p:sp>
      <p:sp>
        <p:nvSpPr>
          <p:cNvPr id="33" name="Text 31"/>
          <p:cNvSpPr/>
          <p:nvPr/>
        </p:nvSpPr>
        <p:spPr>
          <a:xfrm>
            <a:off x="5903416" y="1827609"/>
            <a:ext cx="128427" cy="186630"/>
          </a:xfrm>
          <a:prstGeom prst="rect">
            <a:avLst/>
          </a:prstGeom>
          <a:noFill/>
          <a:ln/>
        </p:spPr>
        <p:txBody>
          <a:bodyPr wrap="square" lIns="0" tIns="0" rIns="0" bIns="0" rtlCol="0" anchor="t"/>
          <a:lstStyle/>
          <a:p>
            <a:pPr algn="l" indent="0" marL="0">
              <a:lnSpc>
                <a:spcPts val="1470"/>
              </a:lnSpc>
              <a:buNone/>
            </a:pPr>
            <a:r>
              <a:rPr lang="en-US" sz="1050" dirty="0">
                <a:solidFill>
                  <a:srgbClr val="1A1F2E"/>
                </a:solidFill>
                <a:latin typeface="Arial" pitchFamily="34" charset="0"/>
                <a:ea typeface="Arial" pitchFamily="34" charset="-122"/>
                <a:cs typeface="Arial" pitchFamily="34" charset="-120"/>
              </a:rPr>
              <a:t>W</a:t>
            </a:r>
            <a:endParaRPr lang="en-US" sz="1050" dirty="0"/>
          </a:p>
        </p:txBody>
      </p:sp>
      <p:sp>
        <p:nvSpPr>
          <p:cNvPr id="34" name="Text 32"/>
          <p:cNvSpPr/>
          <p:nvPr/>
        </p:nvSpPr>
        <p:spPr>
          <a:xfrm>
            <a:off x="6214021" y="1758107"/>
            <a:ext cx="854205" cy="173236"/>
          </a:xfrm>
          <a:prstGeom prst="rect">
            <a:avLst/>
          </a:prstGeom>
          <a:noFill/>
          <a:ln/>
        </p:spPr>
        <p:txBody>
          <a:bodyPr wrap="square" lIns="0" tIns="0" rIns="0" bIns="0" rtlCol="0" anchor="t"/>
          <a:lstStyle/>
          <a:p>
            <a:pPr algn="l" indent="0" marL="0">
              <a:lnSpc>
                <a:spcPts val="1365"/>
              </a:lnSpc>
              <a:buNone/>
            </a:pPr>
            <a:r>
              <a:rPr lang="en-US" sz="975" dirty="0">
                <a:solidFill>
                  <a:srgbClr val="FFFFFF"/>
                </a:solidFill>
                <a:latin typeface="Arial" pitchFamily="34" charset="0"/>
                <a:ea typeface="Arial" pitchFamily="34" charset="-122"/>
                <a:cs typeface="Arial" pitchFamily="34" charset="-120"/>
              </a:rPr>
              <a:t>Windows 10/11</a:t>
            </a:r>
            <a:endParaRPr lang="en-US" sz="975" dirty="0"/>
          </a:p>
        </p:txBody>
      </p:sp>
      <p:sp>
        <p:nvSpPr>
          <p:cNvPr id="35" name="Text 33"/>
          <p:cNvSpPr/>
          <p:nvPr/>
        </p:nvSpPr>
        <p:spPr>
          <a:xfrm>
            <a:off x="6214021" y="1950393"/>
            <a:ext cx="854205" cy="133350"/>
          </a:xfrm>
          <a:prstGeom prst="rect">
            <a:avLst/>
          </a:prstGeom>
          <a:noFill/>
          <a:ln/>
        </p:spPr>
        <p:txBody>
          <a:bodyPr wrap="square" lIns="0" tIns="0" rIns="0" bIns="0" rtlCol="0" anchor="t"/>
          <a:lstStyle/>
          <a:p>
            <a:pPr algn="l" indent="0" marL="0">
              <a:lnSpc>
                <a:spcPts val="1050"/>
              </a:lnSpc>
              <a:spcBef>
                <a:spcPts val="150"/>
              </a:spcBef>
              <a:buNone/>
            </a:pPr>
            <a:r>
              <a:rPr lang="en-US" sz="750" dirty="0">
                <a:solidFill>
                  <a:srgbClr val="FFFFFF">
                    <a:alpha val="50000"/>
                  </a:srgbClr>
                </a:solidFill>
                <a:latin typeface="Arial" pitchFamily="34" charset="0"/>
                <a:ea typeface="Arial" pitchFamily="34" charset="-122"/>
                <a:cs typeface="Arial" pitchFamily="34" charset="-120"/>
              </a:rPr>
              <a:t>Full feature support</a:t>
            </a:r>
            <a:endParaRPr lang="en-US" sz="750" dirty="0"/>
          </a:p>
        </p:txBody>
      </p:sp>
      <p:sp>
        <p:nvSpPr>
          <p:cNvPr id="36" name="Text 34"/>
          <p:cNvSpPr/>
          <p:nvPr/>
        </p:nvSpPr>
        <p:spPr>
          <a:xfrm>
            <a:off x="5671096" y="2474268"/>
            <a:ext cx="3168104" cy="611386"/>
          </a:xfrm>
          <a:prstGeom prst="rect">
            <a:avLst/>
          </a:prstGeom>
          <a:solidFill>
            <a:srgbClr val="C9A227">
              <a:alpha val="10000"/>
            </a:srgbClr>
          </a:solidFill>
          <a:ln w="9525">
            <a:solidFill>
              <a:srgbClr val="C9A227"/>
            </a:solidFill>
          </a:ln>
        </p:spPr>
        <p:txBody>
          <a:bodyPr wrap="square" rtlCol="0" anchor="ctr"/>
          <a:lstStyle/>
          <a:p>
            <a:pPr indent="0" marL="0">
              <a:buNone/>
            </a:pPr>
            <a:endParaRPr lang="en-US" dirty="0"/>
          </a:p>
        </p:txBody>
      </p:sp>
      <p:sp>
        <p:nvSpPr>
          <p:cNvPr id="37" name="Text 35"/>
          <p:cNvSpPr/>
          <p:nvPr/>
        </p:nvSpPr>
        <p:spPr>
          <a:xfrm>
            <a:off x="5813971" y="2627561"/>
            <a:ext cx="304800" cy="304800"/>
          </a:xfrm>
          <a:prstGeom prst="rect">
            <a:avLst/>
          </a:prstGeom>
          <a:solidFill>
            <a:srgbClr val="C9A227"/>
          </a:solidFill>
          <a:ln/>
        </p:spPr>
        <p:txBody>
          <a:bodyPr wrap="square" rtlCol="0" anchor="ctr"/>
          <a:lstStyle/>
          <a:p>
            <a:pPr indent="0" marL="0">
              <a:buNone/>
            </a:pPr>
            <a:endParaRPr lang="en-US" dirty="0"/>
          </a:p>
        </p:txBody>
      </p:sp>
      <p:sp>
        <p:nvSpPr>
          <p:cNvPr id="38" name="Text 36"/>
          <p:cNvSpPr/>
          <p:nvPr/>
        </p:nvSpPr>
        <p:spPr>
          <a:xfrm>
            <a:off x="5951488" y="2686645"/>
            <a:ext cx="30361" cy="186630"/>
          </a:xfrm>
          <a:prstGeom prst="rect">
            <a:avLst/>
          </a:prstGeom>
          <a:noFill/>
          <a:ln/>
        </p:spPr>
        <p:txBody>
          <a:bodyPr wrap="square" lIns="0" tIns="0" rIns="0" bIns="0" rtlCol="0" anchor="t"/>
          <a:lstStyle/>
          <a:p>
            <a:pPr algn="l" indent="0" marL="0">
              <a:lnSpc>
                <a:spcPts val="1470"/>
              </a:lnSpc>
              <a:buNone/>
            </a:pPr>
            <a:r>
              <a:rPr lang="en-US" sz="1050" dirty="0">
                <a:solidFill>
                  <a:srgbClr val="1A1F2E"/>
                </a:solidFill>
                <a:latin typeface="Arial" pitchFamily="34" charset="0"/>
                <a:ea typeface="Arial" pitchFamily="34" charset="-122"/>
                <a:cs typeface="Arial" pitchFamily="34" charset="-120"/>
              </a:rPr>
              <a:t>i</a:t>
            </a:r>
            <a:endParaRPr lang="en-US" sz="1050" dirty="0"/>
          </a:p>
        </p:txBody>
      </p:sp>
      <p:sp>
        <p:nvSpPr>
          <p:cNvPr id="39" name="Text 37"/>
          <p:cNvSpPr/>
          <p:nvPr/>
        </p:nvSpPr>
        <p:spPr>
          <a:xfrm>
            <a:off x="6214021" y="2617143"/>
            <a:ext cx="1071893" cy="173236"/>
          </a:xfrm>
          <a:prstGeom prst="rect">
            <a:avLst/>
          </a:prstGeom>
          <a:noFill/>
          <a:ln/>
        </p:spPr>
        <p:txBody>
          <a:bodyPr wrap="square" lIns="0" tIns="0" rIns="0" bIns="0" rtlCol="0" anchor="t"/>
          <a:lstStyle/>
          <a:p>
            <a:pPr algn="l" indent="0" marL="0">
              <a:lnSpc>
                <a:spcPts val="1365"/>
              </a:lnSpc>
              <a:buNone/>
            </a:pPr>
            <a:r>
              <a:rPr lang="en-US" sz="975" dirty="0">
                <a:solidFill>
                  <a:srgbClr val="FFFFFF"/>
                </a:solidFill>
                <a:latin typeface="Arial" pitchFamily="34" charset="0"/>
                <a:ea typeface="Arial" pitchFamily="34" charset="-122"/>
                <a:cs typeface="Arial" pitchFamily="34" charset="-120"/>
              </a:rPr>
              <a:t>iOS / Web</a:t>
            </a:r>
            <a:endParaRPr lang="en-US" sz="975" dirty="0"/>
          </a:p>
        </p:txBody>
      </p:sp>
      <p:sp>
        <p:nvSpPr>
          <p:cNvPr id="40" name="Text 38"/>
          <p:cNvSpPr/>
          <p:nvPr/>
        </p:nvSpPr>
        <p:spPr>
          <a:xfrm>
            <a:off x="6214021" y="2809429"/>
            <a:ext cx="1071893" cy="133350"/>
          </a:xfrm>
          <a:prstGeom prst="rect">
            <a:avLst/>
          </a:prstGeom>
          <a:noFill/>
          <a:ln/>
        </p:spPr>
        <p:txBody>
          <a:bodyPr wrap="square" lIns="0" tIns="0" rIns="0" bIns="0" rtlCol="0" anchor="t"/>
          <a:lstStyle/>
          <a:p>
            <a:pPr algn="l" indent="0" marL="0">
              <a:lnSpc>
                <a:spcPts val="1050"/>
              </a:lnSpc>
              <a:spcBef>
                <a:spcPts val="150"/>
              </a:spcBef>
              <a:buNone/>
            </a:pPr>
            <a:r>
              <a:rPr lang="en-US" sz="750" dirty="0">
                <a:solidFill>
                  <a:srgbClr val="FFFFFF">
                    <a:alpha val="50000"/>
                  </a:srgbClr>
                </a:solidFill>
                <a:latin typeface="Arial" pitchFamily="34" charset="0"/>
                <a:ea typeface="Arial" pitchFamily="34" charset="-122"/>
                <a:cs typeface="Arial" pitchFamily="34" charset="-120"/>
              </a:rPr>
              <a:t>Mobile + browser access</a:t>
            </a:r>
            <a:endParaRPr lang="en-US" sz="750" dirty="0"/>
          </a:p>
        </p:txBody>
      </p:sp>
      <p:sp>
        <p:nvSpPr>
          <p:cNvPr id="41" name="Text 39"/>
          <p:cNvSpPr/>
          <p:nvPr/>
        </p:nvSpPr>
        <p:spPr>
          <a:xfrm>
            <a:off x="5671096" y="4316909"/>
            <a:ext cx="3168104" cy="521791"/>
          </a:xfrm>
          <a:prstGeom prst="rect">
            <a:avLst/>
          </a:prstGeom>
          <a:solidFill>
            <a:srgbClr val="FEF3C7"/>
          </a:solidFill>
          <a:ln/>
        </p:spPr>
        <p:txBody>
          <a:bodyPr wrap="square" rtlCol="0" anchor="ctr"/>
          <a:lstStyle/>
          <a:p>
            <a:pPr indent="0" marL="0">
              <a:buNone/>
            </a:pPr>
            <a:endParaRPr lang="en-US" dirty="0"/>
          </a:p>
        </p:txBody>
      </p:sp>
      <p:sp>
        <p:nvSpPr>
          <p:cNvPr id="42" name="Shape 40"/>
          <p:cNvSpPr/>
          <p:nvPr/>
        </p:nvSpPr>
        <p:spPr>
          <a:xfrm>
            <a:off x="5690146" y="4316909"/>
            <a:ext cx="0" cy="521791"/>
          </a:xfrm>
          <a:prstGeom prst="line">
            <a:avLst/>
          </a:prstGeom>
          <a:noFill/>
          <a:ln w="38100">
            <a:solidFill>
              <a:srgbClr val="F59E0B"/>
            </a:solidFill>
            <a:prstDash val="solid"/>
          </a:ln>
        </p:spPr>
      </p:sp>
      <p:sp>
        <p:nvSpPr>
          <p:cNvPr id="43" name="Text 41"/>
          <p:cNvSpPr/>
          <p:nvPr/>
        </p:nvSpPr>
        <p:spPr>
          <a:xfrm>
            <a:off x="5823496" y="4431209"/>
            <a:ext cx="2959432" cy="293191"/>
          </a:xfrm>
          <a:prstGeom prst="rect">
            <a:avLst/>
          </a:prstGeom>
          <a:noFill/>
          <a:ln/>
        </p:spPr>
        <p:txBody>
          <a:bodyPr wrap="square" lIns="0" tIns="0" rIns="0" bIns="0" rtlCol="0" anchor="t"/>
          <a:lstStyle/>
          <a:p>
            <a:pPr algn="l" indent="0" marL="0">
              <a:lnSpc>
                <a:spcPts val="1155"/>
              </a:lnSpc>
              <a:buNone/>
            </a:pPr>
            <a:r>
              <a:rPr lang="en-US" sz="825" b="1" dirty="0">
                <a:solidFill>
                  <a:srgbClr val="92400E"/>
                </a:solidFill>
                <a:latin typeface="Arial" pitchFamily="34" charset="0"/>
                <a:ea typeface="Arial" pitchFamily="34" charset="-122"/>
                <a:cs typeface="Arial" pitchFamily="34" charset="-120"/>
              </a:rPr>
              <a:t>Note:</a:t>
            </a:r>
            <a:pPr algn="l" indent="0" marL="0">
              <a:lnSpc>
                <a:spcPts val="1155"/>
              </a:lnSpc>
              <a:buNone/>
            </a:pPr>
            <a:r>
              <a:rPr lang="en-US" sz="825" dirty="0">
                <a:solidFill>
                  <a:srgbClr val="92400E"/>
                </a:solidFill>
                <a:latin typeface="Arial" pitchFamily="34" charset="0"/>
                <a:ea typeface="Arial" pitchFamily="34" charset="-122"/>
                <a:cs typeface="Arial" pitchFamily="34" charset="-120"/>
              </a:rPr>
              <a:t> All processing is cloud-based. Privacy Mode = zero data retention (see next slides)</a:t>
            </a:r>
            <a:endParaRPr lang="en-US" sz="82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4047381" cy="5143500"/>
          </a:xfrm>
          <a:prstGeom prst="rect">
            <a:avLst/>
          </a:prstGeom>
          <a:solidFill>
            <a:srgbClr val="F59E0B"/>
          </a:solidFill>
          <a:ln/>
        </p:spPr>
        <p:txBody>
          <a:bodyPr wrap="square" rtlCol="0" anchor="ctr"/>
          <a:lstStyle/>
          <a:p>
            <a:pPr indent="0" marL="0">
              <a:buNone/>
            </a:pPr>
            <a:endParaRPr lang="en-US" dirty="0"/>
          </a:p>
        </p:txBody>
      </p:sp>
      <p:sp>
        <p:nvSpPr>
          <p:cNvPr id="3" name="Text 1"/>
          <p:cNvSpPr/>
          <p:nvPr/>
        </p:nvSpPr>
        <p:spPr>
          <a:xfrm>
            <a:off x="304800" y="266700"/>
            <a:ext cx="476250" cy="476250"/>
          </a:xfrm>
          <a:prstGeom prst="rect">
            <a:avLst/>
          </a:prstGeom>
          <a:solidFill>
            <a:srgbClr val="FFFFFF"/>
          </a:solidFill>
          <a:ln/>
        </p:spPr>
        <p:txBody>
          <a:bodyPr wrap="square" rtlCol="0" anchor="ctr"/>
          <a:lstStyle/>
          <a:p>
            <a:pPr indent="0" marL="0">
              <a:buNone/>
            </a:pPr>
            <a:endParaRPr lang="en-US" dirty="0"/>
          </a:p>
        </p:txBody>
      </p:sp>
      <p:sp>
        <p:nvSpPr>
          <p:cNvPr id="4" name="Text 2"/>
          <p:cNvSpPr/>
          <p:nvPr/>
        </p:nvSpPr>
        <p:spPr>
          <a:xfrm>
            <a:off x="489049" y="304800"/>
            <a:ext cx="109755" cy="400050"/>
          </a:xfrm>
          <a:prstGeom prst="rect">
            <a:avLst/>
          </a:prstGeom>
          <a:noFill/>
          <a:ln/>
        </p:spPr>
        <p:txBody>
          <a:bodyPr wrap="square" lIns="0" tIns="0" rIns="0" bIns="0" rtlCol="0" anchor="t"/>
          <a:lstStyle/>
          <a:p>
            <a:pPr algn="l" indent="0" marL="0">
              <a:lnSpc>
                <a:spcPts val="3150"/>
              </a:lnSpc>
              <a:buNone/>
            </a:pPr>
            <a:r>
              <a:rPr lang="en-US" sz="2250" b="1" dirty="0">
                <a:solidFill>
                  <a:srgbClr val="F59E0B"/>
                </a:solidFill>
                <a:latin typeface="Georgia" pitchFamily="34" charset="0"/>
                <a:ea typeface="Georgia" pitchFamily="34" charset="-122"/>
                <a:cs typeface="Georgia" pitchFamily="34" charset="-120"/>
              </a:rPr>
              <a:t>!</a:t>
            </a:r>
            <a:endParaRPr lang="en-US" sz="2250" dirty="0"/>
          </a:p>
        </p:txBody>
      </p:sp>
      <p:sp>
        <p:nvSpPr>
          <p:cNvPr id="5" name="Text 3"/>
          <p:cNvSpPr/>
          <p:nvPr/>
        </p:nvSpPr>
        <p:spPr>
          <a:xfrm>
            <a:off x="304800" y="1047750"/>
            <a:ext cx="3506536" cy="133350"/>
          </a:xfrm>
          <a:prstGeom prst="rect">
            <a:avLst/>
          </a:prstGeom>
          <a:noFill/>
          <a:ln/>
        </p:spPr>
        <p:txBody>
          <a:bodyPr wrap="square" lIns="0" tIns="0" rIns="0" bIns="0" rtlCol="0" anchor="t"/>
          <a:lstStyle/>
          <a:p>
            <a:pPr algn="l" indent="0" marL="0">
              <a:lnSpc>
                <a:spcPts val="1050"/>
              </a:lnSpc>
              <a:spcAft>
                <a:spcPts val="750"/>
              </a:spcAft>
              <a:buNone/>
            </a:pPr>
            <a:r>
              <a:rPr lang="en-US" sz="750" dirty="0">
                <a:solidFill>
                  <a:srgbClr val="1A1F2E"/>
                </a:solidFill>
                <a:latin typeface="Arial" pitchFamily="34" charset="0"/>
                <a:ea typeface="Arial" pitchFamily="34" charset="-122"/>
                <a:cs typeface="Arial" pitchFamily="34" charset="-120"/>
              </a:rPr>
              <a:t>IMPORTANT LIMITATION</a:t>
            </a:r>
            <a:endParaRPr lang="en-US" sz="750" dirty="0"/>
          </a:p>
        </p:txBody>
      </p:sp>
      <p:sp>
        <p:nvSpPr>
          <p:cNvPr id="6" name="Text 4"/>
          <p:cNvSpPr/>
          <p:nvPr/>
        </p:nvSpPr>
        <p:spPr>
          <a:xfrm>
            <a:off x="304800" y="1428750"/>
            <a:ext cx="2662047" cy="274290"/>
          </a:xfrm>
          <a:prstGeom prst="rect">
            <a:avLst/>
          </a:prstGeom>
          <a:noFill/>
          <a:ln/>
        </p:spPr>
        <p:txBody>
          <a:bodyPr wrap="square" lIns="0" tIns="0" rIns="0" bIns="0" rtlCol="0" anchor="t"/>
          <a:lstStyle/>
          <a:p>
            <a:pPr algn="l" indent="0" marL="0">
              <a:lnSpc>
                <a:spcPts val="2160"/>
              </a:lnSpc>
              <a:spcAft>
                <a:spcPts val="900"/>
              </a:spcAft>
              <a:buNone/>
            </a:pPr>
            <a:r>
              <a:rPr lang="en-US" sz="1800" dirty="0">
                <a:solidFill>
                  <a:srgbClr val="1A1F2E"/>
                </a:solidFill>
                <a:latin typeface="Georgia" pitchFamily="34" charset="0"/>
                <a:ea typeface="Georgia" pitchFamily="34" charset="-122"/>
                <a:cs typeface="Georgia" pitchFamily="34" charset="-120"/>
              </a:rPr>
              <a:t>Wispr Flow is Cloud-Only</a:t>
            </a:r>
            <a:endParaRPr lang="en-US" sz="1800" dirty="0"/>
          </a:p>
        </p:txBody>
      </p:sp>
      <p:sp>
        <p:nvSpPr>
          <p:cNvPr id="7" name="Text 5"/>
          <p:cNvSpPr/>
          <p:nvPr/>
        </p:nvSpPr>
        <p:spPr>
          <a:xfrm>
            <a:off x="304800" y="1969740"/>
            <a:ext cx="3506536" cy="342900"/>
          </a:xfrm>
          <a:prstGeom prst="rect">
            <a:avLst/>
          </a:prstGeom>
          <a:noFill/>
          <a:ln/>
        </p:spPr>
        <p:txBody>
          <a:bodyPr wrap="square" lIns="0" tIns="0" rIns="0" bIns="0" rtlCol="0" anchor="t"/>
          <a:lstStyle/>
          <a:p>
            <a:pPr algn="l" indent="0" marL="0">
              <a:lnSpc>
                <a:spcPts val="1350"/>
              </a:lnSpc>
              <a:spcAft>
                <a:spcPts val="1200"/>
              </a:spcAft>
              <a:buNone/>
            </a:pPr>
            <a:r>
              <a:rPr lang="en-US" sz="900" dirty="0">
                <a:solidFill>
                  <a:srgbClr val="1A1F2E">
                    <a:alpha val="90000"/>
                  </a:srgbClr>
                </a:solidFill>
                <a:latin typeface="Arial" pitchFamily="34" charset="0"/>
                <a:ea typeface="Arial" pitchFamily="34" charset="-122"/>
                <a:cs typeface="Arial" pitchFamily="34" charset="-120"/>
              </a:rPr>
              <a:t>Unlike SuperWhisper, Wispr Flow does NOT offer local/on-device processing. All audio is sent to cloud servers.</a:t>
            </a:r>
            <a:endParaRPr lang="en-US" sz="900" dirty="0"/>
          </a:p>
        </p:txBody>
      </p:sp>
      <p:sp>
        <p:nvSpPr>
          <p:cNvPr id="8" name="Text 6"/>
          <p:cNvSpPr/>
          <p:nvPr/>
        </p:nvSpPr>
        <p:spPr>
          <a:xfrm>
            <a:off x="304800" y="4034879"/>
            <a:ext cx="3437781" cy="841921"/>
          </a:xfrm>
          <a:prstGeom prst="rect">
            <a:avLst/>
          </a:prstGeom>
          <a:solidFill>
            <a:srgbClr val="FFFFFF">
              <a:alpha val="30000"/>
            </a:srgbClr>
          </a:solidFill>
          <a:ln/>
        </p:spPr>
        <p:txBody>
          <a:bodyPr wrap="square" rtlCol="0" anchor="ctr"/>
          <a:lstStyle/>
          <a:p>
            <a:pPr indent="0" marL="0">
              <a:buNone/>
            </a:pPr>
            <a:endParaRPr lang="en-US" dirty="0"/>
          </a:p>
        </p:txBody>
      </p:sp>
      <p:sp>
        <p:nvSpPr>
          <p:cNvPr id="9" name="Text 7"/>
          <p:cNvSpPr/>
          <p:nvPr/>
        </p:nvSpPr>
        <p:spPr>
          <a:xfrm>
            <a:off x="419100" y="4149179"/>
            <a:ext cx="3273364" cy="146596"/>
          </a:xfrm>
          <a:prstGeom prst="rect">
            <a:avLst/>
          </a:prstGeom>
          <a:noFill/>
          <a:ln/>
        </p:spPr>
        <p:txBody>
          <a:bodyPr wrap="square" lIns="0" tIns="0" rIns="0" bIns="0" rtlCol="0" anchor="t"/>
          <a:lstStyle/>
          <a:p>
            <a:pPr algn="l" indent="0" marL="0">
              <a:lnSpc>
                <a:spcPts val="1155"/>
              </a:lnSpc>
              <a:spcAft>
                <a:spcPts val="300"/>
              </a:spcAft>
              <a:buNone/>
            </a:pPr>
            <a:r>
              <a:rPr lang="en-US" sz="825" b="1" dirty="0">
                <a:solidFill>
                  <a:srgbClr val="1A1F2E"/>
                </a:solidFill>
                <a:latin typeface="Arial" pitchFamily="34" charset="0"/>
                <a:ea typeface="Arial" pitchFamily="34" charset="-122"/>
                <a:cs typeface="Arial" pitchFamily="34" charset="-120"/>
              </a:rPr>
              <a:t>What This Means:</a:t>
            </a:r>
            <a:endParaRPr lang="en-US" sz="825" dirty="0"/>
          </a:p>
        </p:txBody>
      </p:sp>
      <p:sp>
        <p:nvSpPr>
          <p:cNvPr id="10" name="Text 8"/>
          <p:cNvSpPr/>
          <p:nvPr/>
        </p:nvSpPr>
        <p:spPr>
          <a:xfrm>
            <a:off x="419100" y="4333875"/>
            <a:ext cx="3273364" cy="428625"/>
          </a:xfrm>
          <a:prstGeom prst="rect">
            <a:avLst/>
          </a:prstGeom>
          <a:noFill/>
          <a:ln/>
        </p:spPr>
        <p:txBody>
          <a:bodyPr wrap="square" lIns="0" tIns="0" rIns="0" bIns="0" rtlCol="0" anchor="t"/>
          <a:lstStyle/>
          <a:p>
            <a:pPr algn="l" indent="0" marL="0">
              <a:lnSpc>
                <a:spcPts val="1125"/>
              </a:lnSpc>
              <a:buNone/>
            </a:pPr>
            <a:r>
              <a:rPr lang="en-US" sz="750" dirty="0">
                <a:solidFill>
                  <a:srgbClr val="1A1F2E">
                    <a:alpha val="90000"/>
                  </a:srgbClr>
                </a:solidFill>
                <a:latin typeface="Arial" pitchFamily="34" charset="0"/>
                <a:ea typeface="Arial" pitchFamily="34" charset="-122"/>
                <a:cs typeface="Arial" pitchFamily="34" charset="-120"/>
              </a:rPr>
              <a:t>Audio always leaves your device</a:t>
            </a:r>
            <a:endParaRPr lang="en-US" sz="750" dirty="0"/>
          </a:p>
          <a:p>
            <a:pPr algn="l" indent="0" marL="0">
              <a:lnSpc>
                <a:spcPts val="1125"/>
              </a:lnSpc>
              <a:buNone/>
            </a:pPr>
            <a:r>
              <a:rPr lang="en-US" sz="750" dirty="0">
                <a:solidFill>
                  <a:srgbClr val="1A1F2E">
                    <a:alpha val="90000"/>
                  </a:srgbClr>
                </a:solidFill>
                <a:latin typeface="Arial" pitchFamily="34" charset="0"/>
                <a:ea typeface="Arial" pitchFamily="34" charset="-122"/>
                <a:cs typeface="Arial" pitchFamily="34" charset="-120"/>
              </a:rPr>
              <a:t>Requires internet connection</a:t>
            </a:r>
            <a:endParaRPr lang="en-US" sz="750" dirty="0"/>
          </a:p>
          <a:p>
            <a:pPr algn="l" indent="0" marL="0">
              <a:lnSpc>
                <a:spcPts val="1125"/>
              </a:lnSpc>
              <a:buNone/>
            </a:pPr>
            <a:r>
              <a:rPr lang="en-US" sz="750" dirty="0">
                <a:solidFill>
                  <a:srgbClr val="1A1F2E">
                    <a:alpha val="90000"/>
                  </a:srgbClr>
                </a:solidFill>
                <a:latin typeface="Arial" pitchFamily="34" charset="0"/>
                <a:ea typeface="Arial" pitchFamily="34" charset="-122"/>
                <a:cs typeface="Arial" pitchFamily="34" charset="-120"/>
              </a:rPr>
              <a:t>Not suitable for air-gapped environments</a:t>
            </a:r>
            <a:endParaRPr lang="en-US" sz="750" dirty="0"/>
          </a:p>
        </p:txBody>
      </p:sp>
      <p:sp>
        <p:nvSpPr>
          <p:cNvPr id="11" name="Text 9"/>
          <p:cNvSpPr/>
          <p:nvPr/>
        </p:nvSpPr>
        <p:spPr>
          <a:xfrm>
            <a:off x="4199781" y="0"/>
            <a:ext cx="4944219" cy="5143500"/>
          </a:xfrm>
          <a:prstGeom prst="rect">
            <a:avLst/>
          </a:prstGeom>
          <a:solidFill>
            <a:srgbClr val="F7F8FA"/>
          </a:solidFill>
          <a:ln/>
        </p:spPr>
        <p:txBody>
          <a:bodyPr wrap="square" rtlCol="0" anchor="ctr"/>
          <a:lstStyle/>
          <a:p>
            <a:pPr indent="0" marL="0">
              <a:buNone/>
            </a:pPr>
            <a:endParaRPr lang="en-US" dirty="0"/>
          </a:p>
        </p:txBody>
      </p:sp>
      <p:sp>
        <p:nvSpPr>
          <p:cNvPr id="12" name="Text 10"/>
          <p:cNvSpPr/>
          <p:nvPr/>
        </p:nvSpPr>
        <p:spPr>
          <a:xfrm>
            <a:off x="4504581" y="260152"/>
            <a:ext cx="4421312" cy="133350"/>
          </a:xfrm>
          <a:prstGeom prst="rect">
            <a:avLst/>
          </a:prstGeom>
          <a:noFill/>
          <a:ln/>
        </p:spPr>
        <p:txBody>
          <a:bodyPr wrap="square" lIns="0" tIns="0" rIns="0" bIns="0" rtlCol="0" anchor="t"/>
          <a:lstStyle/>
          <a:p>
            <a:pPr algn="l" indent="0" marL="0">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WHAT PRIVACY MODE ACTUALLY DOES</a:t>
            </a:r>
            <a:endParaRPr lang="en-US" sz="750" dirty="0"/>
          </a:p>
        </p:txBody>
      </p:sp>
      <p:sp>
        <p:nvSpPr>
          <p:cNvPr id="13" name="Text 11"/>
          <p:cNvSpPr/>
          <p:nvPr/>
        </p:nvSpPr>
        <p:spPr>
          <a:xfrm>
            <a:off x="4504581" y="603052"/>
            <a:ext cx="2215134" cy="211634"/>
          </a:xfrm>
          <a:prstGeom prst="rect">
            <a:avLst/>
          </a:prstGeom>
          <a:noFill/>
          <a:ln/>
        </p:spPr>
        <p:txBody>
          <a:bodyPr wrap="square" lIns="0" tIns="0" rIns="0" bIns="0" rtlCol="0" anchor="t"/>
          <a:lstStyle/>
          <a:p>
            <a:pPr algn="l" indent="0" marL="0">
              <a:lnSpc>
                <a:spcPts val="1667"/>
              </a:lnSpc>
              <a:spcAft>
                <a:spcPts val="1050"/>
              </a:spcAft>
              <a:buNone/>
            </a:pPr>
            <a:r>
              <a:rPr lang="en-US" sz="1500" dirty="0">
                <a:solidFill>
                  <a:srgbClr val="1A1F2E"/>
                </a:solidFill>
                <a:latin typeface="Georgia" pitchFamily="34" charset="0"/>
                <a:ea typeface="Georgia" pitchFamily="34" charset="-122"/>
                <a:cs typeface="Georgia" pitchFamily="34" charset="-120"/>
              </a:rPr>
              <a:t>Zero Data Retention</a:t>
            </a:r>
            <a:endParaRPr lang="en-US" sz="1500" dirty="0"/>
          </a:p>
        </p:txBody>
      </p:sp>
      <p:sp>
        <p:nvSpPr>
          <p:cNvPr id="14" name="Text 12"/>
          <p:cNvSpPr/>
          <p:nvPr/>
        </p:nvSpPr>
        <p:spPr>
          <a:xfrm>
            <a:off x="4504581" y="1100435"/>
            <a:ext cx="4334619" cy="870496"/>
          </a:xfrm>
          <a:prstGeom prst="rect">
            <a:avLst/>
          </a:prstGeom>
          <a:solidFill>
            <a:srgbClr val="DCFCE7"/>
          </a:solidFill>
          <a:ln/>
        </p:spPr>
        <p:txBody>
          <a:bodyPr wrap="square" rtlCol="0" anchor="ctr"/>
          <a:lstStyle/>
          <a:p>
            <a:pPr indent="0" marL="0">
              <a:buNone/>
            </a:pPr>
            <a:endParaRPr lang="en-US" dirty="0"/>
          </a:p>
        </p:txBody>
      </p:sp>
      <p:sp>
        <p:nvSpPr>
          <p:cNvPr id="15" name="Shape 13"/>
          <p:cNvSpPr/>
          <p:nvPr/>
        </p:nvSpPr>
        <p:spPr>
          <a:xfrm>
            <a:off x="4523631" y="1100435"/>
            <a:ext cx="0" cy="870496"/>
          </a:xfrm>
          <a:prstGeom prst="line">
            <a:avLst/>
          </a:prstGeom>
          <a:noFill/>
          <a:ln w="38100">
            <a:solidFill>
              <a:srgbClr val="059669"/>
            </a:solidFill>
            <a:prstDash val="solid"/>
          </a:ln>
        </p:spPr>
      </p:sp>
      <p:sp>
        <p:nvSpPr>
          <p:cNvPr id="16" name="Text 14"/>
          <p:cNvSpPr/>
          <p:nvPr/>
        </p:nvSpPr>
        <p:spPr>
          <a:xfrm>
            <a:off x="4656981" y="1214735"/>
            <a:ext cx="4149278" cy="146596"/>
          </a:xfrm>
          <a:prstGeom prst="rect">
            <a:avLst/>
          </a:prstGeom>
          <a:noFill/>
          <a:ln/>
        </p:spPr>
        <p:txBody>
          <a:bodyPr wrap="square" lIns="0" tIns="0" rIns="0" bIns="0" rtlCol="0" anchor="t"/>
          <a:lstStyle/>
          <a:p>
            <a:pPr algn="l" indent="0" marL="0">
              <a:lnSpc>
                <a:spcPts val="1155"/>
              </a:lnSpc>
              <a:spcAft>
                <a:spcPts val="300"/>
              </a:spcAft>
              <a:buNone/>
            </a:pPr>
            <a:r>
              <a:rPr lang="en-US" sz="825" b="1" dirty="0">
                <a:solidFill>
                  <a:srgbClr val="166534"/>
                </a:solidFill>
                <a:latin typeface="Arial" pitchFamily="34" charset="0"/>
                <a:ea typeface="Arial" pitchFamily="34" charset="-122"/>
                <a:cs typeface="Arial" pitchFamily="34" charset="-120"/>
              </a:rPr>
              <a:t>With Privacy Mode ON:</a:t>
            </a:r>
            <a:endParaRPr lang="en-US" sz="825" dirty="0"/>
          </a:p>
        </p:txBody>
      </p:sp>
      <p:sp>
        <p:nvSpPr>
          <p:cNvPr id="17" name="Text 15"/>
          <p:cNvSpPr/>
          <p:nvPr/>
        </p:nvSpPr>
        <p:spPr>
          <a:xfrm>
            <a:off x="4656981" y="1399431"/>
            <a:ext cx="4149278" cy="457200"/>
          </a:xfrm>
          <a:prstGeom prst="rect">
            <a:avLst/>
          </a:prstGeom>
          <a:noFill/>
          <a:ln/>
        </p:spPr>
        <p:txBody>
          <a:bodyPr wrap="square" lIns="0" tIns="0" rIns="0" bIns="0" rtlCol="0" anchor="t"/>
          <a:lstStyle/>
          <a:p>
            <a:pPr algn="l" indent="0" marL="0">
              <a:lnSpc>
                <a:spcPts val="1200"/>
              </a:lnSpc>
              <a:buNone/>
            </a:pPr>
            <a:r>
              <a:rPr lang="en-US" sz="750" dirty="0">
                <a:solidFill>
                  <a:srgbClr val="166534"/>
                </a:solidFill>
                <a:latin typeface="Arial" pitchFamily="34" charset="0"/>
                <a:ea typeface="Arial" pitchFamily="34" charset="-122"/>
                <a:cs typeface="Arial" pitchFamily="34" charset="-120"/>
              </a:rPr>
              <a:t>Audio/transcripts NOT stored on servers</a:t>
            </a:r>
            <a:endParaRPr lang="en-US" sz="750" dirty="0"/>
          </a:p>
          <a:p>
            <a:pPr algn="l" indent="0" marL="0">
              <a:lnSpc>
                <a:spcPts val="1200"/>
              </a:lnSpc>
              <a:buNone/>
            </a:pPr>
            <a:r>
              <a:rPr lang="en-US" sz="750" dirty="0">
                <a:solidFill>
                  <a:srgbClr val="166534"/>
                </a:solidFill>
                <a:latin typeface="Arial" pitchFamily="34" charset="0"/>
                <a:ea typeface="Arial" pitchFamily="34" charset="-122"/>
                <a:cs typeface="Arial" pitchFamily="34" charset="-120"/>
              </a:rPr>
              <a:t>Data NOT used for model training</a:t>
            </a:r>
            <a:endParaRPr lang="en-US" sz="750" dirty="0"/>
          </a:p>
          <a:p>
            <a:pPr algn="l" indent="0" marL="0">
              <a:lnSpc>
                <a:spcPts val="1200"/>
              </a:lnSpc>
              <a:buNone/>
            </a:pPr>
            <a:r>
              <a:rPr lang="en-US" sz="750" dirty="0">
                <a:solidFill>
                  <a:srgbClr val="166534"/>
                </a:solidFill>
                <a:latin typeface="Arial" pitchFamily="34" charset="0"/>
                <a:ea typeface="Arial" pitchFamily="34" charset="-122"/>
                <a:cs typeface="Arial" pitchFamily="34" charset="-120"/>
              </a:rPr>
              <a:t>Processed then immediately deleted</a:t>
            </a:r>
            <a:endParaRPr lang="en-US" sz="750" dirty="0"/>
          </a:p>
        </p:txBody>
      </p:sp>
      <p:sp>
        <p:nvSpPr>
          <p:cNvPr id="18" name="Text 16"/>
          <p:cNvSpPr/>
          <p:nvPr/>
        </p:nvSpPr>
        <p:spPr>
          <a:xfrm>
            <a:off x="4504581" y="2237631"/>
            <a:ext cx="4334619" cy="870496"/>
          </a:xfrm>
          <a:prstGeom prst="rect">
            <a:avLst/>
          </a:prstGeom>
          <a:solidFill>
            <a:srgbClr val="FEE2E2"/>
          </a:solidFill>
          <a:ln/>
        </p:spPr>
        <p:txBody>
          <a:bodyPr wrap="square" rtlCol="0" anchor="ctr"/>
          <a:lstStyle/>
          <a:p>
            <a:pPr indent="0" marL="0">
              <a:buNone/>
            </a:pPr>
            <a:endParaRPr lang="en-US" dirty="0"/>
          </a:p>
        </p:txBody>
      </p:sp>
      <p:sp>
        <p:nvSpPr>
          <p:cNvPr id="19" name="Shape 17"/>
          <p:cNvSpPr/>
          <p:nvPr/>
        </p:nvSpPr>
        <p:spPr>
          <a:xfrm>
            <a:off x="4523631" y="2237631"/>
            <a:ext cx="0" cy="870496"/>
          </a:xfrm>
          <a:prstGeom prst="line">
            <a:avLst/>
          </a:prstGeom>
          <a:noFill/>
          <a:ln w="38100">
            <a:solidFill>
              <a:srgbClr val="DC2626"/>
            </a:solidFill>
            <a:prstDash val="solid"/>
          </a:ln>
        </p:spPr>
      </p:sp>
      <p:sp>
        <p:nvSpPr>
          <p:cNvPr id="20" name="Text 18"/>
          <p:cNvSpPr/>
          <p:nvPr/>
        </p:nvSpPr>
        <p:spPr>
          <a:xfrm>
            <a:off x="4656981" y="2351931"/>
            <a:ext cx="4149278" cy="146596"/>
          </a:xfrm>
          <a:prstGeom prst="rect">
            <a:avLst/>
          </a:prstGeom>
          <a:noFill/>
          <a:ln/>
        </p:spPr>
        <p:txBody>
          <a:bodyPr wrap="square" lIns="0" tIns="0" rIns="0" bIns="0" rtlCol="0" anchor="t"/>
          <a:lstStyle/>
          <a:p>
            <a:pPr algn="l" indent="0" marL="0">
              <a:lnSpc>
                <a:spcPts val="1155"/>
              </a:lnSpc>
              <a:spcAft>
                <a:spcPts val="300"/>
              </a:spcAft>
              <a:buNone/>
            </a:pPr>
            <a:r>
              <a:rPr lang="en-US" sz="825" b="1" dirty="0">
                <a:solidFill>
                  <a:srgbClr val="991B1B"/>
                </a:solidFill>
                <a:latin typeface="Arial" pitchFamily="34" charset="0"/>
                <a:ea typeface="Arial" pitchFamily="34" charset="-122"/>
                <a:cs typeface="Arial" pitchFamily="34" charset="-120"/>
              </a:rPr>
              <a:t>With Privacy Mode OFF (default):</a:t>
            </a:r>
            <a:endParaRPr lang="en-US" sz="825" dirty="0"/>
          </a:p>
        </p:txBody>
      </p:sp>
      <p:sp>
        <p:nvSpPr>
          <p:cNvPr id="21" name="Text 19"/>
          <p:cNvSpPr/>
          <p:nvPr/>
        </p:nvSpPr>
        <p:spPr>
          <a:xfrm>
            <a:off x="4656981" y="2536627"/>
            <a:ext cx="4149278" cy="457200"/>
          </a:xfrm>
          <a:prstGeom prst="rect">
            <a:avLst/>
          </a:prstGeom>
          <a:noFill/>
          <a:ln/>
        </p:spPr>
        <p:txBody>
          <a:bodyPr wrap="square" lIns="0" tIns="0" rIns="0" bIns="0" rtlCol="0" anchor="t"/>
          <a:lstStyle/>
          <a:p>
            <a:pPr algn="l" indent="0" marL="0">
              <a:lnSpc>
                <a:spcPts val="1200"/>
              </a:lnSpc>
              <a:buNone/>
            </a:pPr>
            <a:r>
              <a:rPr lang="en-US" sz="750" dirty="0">
                <a:solidFill>
                  <a:srgbClr val="991B1B"/>
                </a:solidFill>
                <a:latin typeface="Arial" pitchFamily="34" charset="0"/>
                <a:ea typeface="Arial" pitchFamily="34" charset="-122"/>
                <a:cs typeface="Arial" pitchFamily="34" charset="-120"/>
              </a:rPr>
              <a:t>Audio/transcripts may be stored</a:t>
            </a:r>
            <a:endParaRPr lang="en-US" sz="750" dirty="0"/>
          </a:p>
          <a:p>
            <a:pPr algn="l" indent="0" marL="0">
              <a:lnSpc>
                <a:spcPts val="1200"/>
              </a:lnSpc>
              <a:buNone/>
            </a:pPr>
            <a:r>
              <a:rPr lang="en-US" sz="750" dirty="0">
                <a:solidFill>
                  <a:srgbClr val="991B1B"/>
                </a:solidFill>
                <a:latin typeface="Arial" pitchFamily="34" charset="0"/>
                <a:ea typeface="Arial" pitchFamily="34" charset="-122"/>
                <a:cs typeface="Arial" pitchFamily="34" charset="-120"/>
              </a:rPr>
              <a:t>Data may be used for AI training</a:t>
            </a:r>
            <a:endParaRPr lang="en-US" sz="750" dirty="0"/>
          </a:p>
          <a:p>
            <a:pPr algn="l" indent="0" marL="0">
              <a:lnSpc>
                <a:spcPts val="1200"/>
              </a:lnSpc>
              <a:buNone/>
            </a:pPr>
            <a:r>
              <a:rPr lang="en-US" sz="750" dirty="0">
                <a:solidFill>
                  <a:srgbClr val="991B1B"/>
                </a:solidFill>
                <a:latin typeface="Arial" pitchFamily="34" charset="0"/>
                <a:ea typeface="Arial" pitchFamily="34" charset="-122"/>
                <a:cs typeface="Arial" pitchFamily="34" charset="-120"/>
              </a:rPr>
              <a:t>History accessible in your account</a:t>
            </a:r>
            <a:endParaRPr lang="en-US" sz="750" dirty="0"/>
          </a:p>
        </p:txBody>
      </p:sp>
      <p:sp>
        <p:nvSpPr>
          <p:cNvPr id="22" name="Text 20"/>
          <p:cNvSpPr/>
          <p:nvPr/>
        </p:nvSpPr>
        <p:spPr>
          <a:xfrm>
            <a:off x="4504581" y="3374827"/>
            <a:ext cx="4334619" cy="899071"/>
          </a:xfrm>
          <a:prstGeom prst="rect">
            <a:avLst/>
          </a:prstGeom>
          <a:solidFill>
            <a:srgbClr val="1A1F2E"/>
          </a:solidFill>
          <a:ln/>
        </p:spPr>
        <p:txBody>
          <a:bodyPr wrap="square" rtlCol="0" anchor="ctr"/>
          <a:lstStyle/>
          <a:p>
            <a:pPr indent="0" marL="0">
              <a:buNone/>
            </a:pPr>
            <a:endParaRPr lang="en-US" dirty="0"/>
          </a:p>
        </p:txBody>
      </p:sp>
      <p:sp>
        <p:nvSpPr>
          <p:cNvPr id="23" name="Text 21"/>
          <p:cNvSpPr/>
          <p:nvPr/>
        </p:nvSpPr>
        <p:spPr>
          <a:xfrm>
            <a:off x="4637931" y="3508177"/>
            <a:ext cx="4149278" cy="146596"/>
          </a:xfrm>
          <a:prstGeom prst="rect">
            <a:avLst/>
          </a:prstGeom>
          <a:noFill/>
          <a:ln/>
        </p:spPr>
        <p:txBody>
          <a:bodyPr wrap="square" lIns="0" tIns="0" rIns="0" bIns="0" rtlCol="0" anchor="t"/>
          <a:lstStyle/>
          <a:p>
            <a:pPr algn="l" indent="0" marL="0">
              <a:lnSpc>
                <a:spcPts val="1155"/>
              </a:lnSpc>
              <a:spcAft>
                <a:spcPts val="450"/>
              </a:spcAft>
              <a:buNone/>
            </a:pPr>
            <a:r>
              <a:rPr lang="en-US" sz="825" b="1" dirty="0">
                <a:solidFill>
                  <a:srgbClr val="C9A227"/>
                </a:solidFill>
                <a:latin typeface="Arial" pitchFamily="34" charset="0"/>
                <a:ea typeface="Arial" pitchFamily="34" charset="-122"/>
                <a:cs typeface="Arial" pitchFamily="34" charset="-120"/>
              </a:rPr>
              <a:t>FOR GOVERNMENT/PHI USE:</a:t>
            </a:r>
            <a:endParaRPr lang="en-US" sz="825" dirty="0"/>
          </a:p>
        </p:txBody>
      </p:sp>
      <p:sp>
        <p:nvSpPr>
          <p:cNvPr id="24" name="Text 22"/>
          <p:cNvSpPr/>
          <p:nvPr/>
        </p:nvSpPr>
        <p:spPr>
          <a:xfrm>
            <a:off x="4637931" y="3711922"/>
            <a:ext cx="4149278" cy="428625"/>
          </a:xfrm>
          <a:prstGeom prst="rect">
            <a:avLst/>
          </a:prstGeom>
          <a:noFill/>
          <a:ln/>
        </p:spPr>
        <p:txBody>
          <a:bodyPr wrap="square" lIns="0" tIns="0" rIns="0" bIns="0" rtlCol="0" anchor="t"/>
          <a:lstStyle/>
          <a:p>
            <a:pPr algn="l" indent="0" marL="0">
              <a:lnSpc>
                <a:spcPts val="1125"/>
              </a:lnSpc>
              <a:buNone/>
            </a:pPr>
            <a:r>
              <a:rPr lang="en-US" sz="750" dirty="0">
                <a:solidFill>
                  <a:srgbClr val="FFFFFF">
                    <a:alpha val="80000"/>
                  </a:srgbClr>
                </a:solidFill>
                <a:latin typeface="Arial" pitchFamily="34" charset="0"/>
                <a:ea typeface="Arial" pitchFamily="34" charset="-122"/>
                <a:cs typeface="Arial" pitchFamily="34" charset="-120"/>
              </a:rPr>
              <a:t>Wispr Flow's Privacy Mode provides zero retention but audio still goes to cloud. For true local processing where audio never leaves your device, use </a:t>
            </a:r>
            <a:pPr algn="l" indent="0" marL="0">
              <a:lnSpc>
                <a:spcPts val="1125"/>
              </a:lnSpc>
              <a:buNone/>
            </a:pPr>
            <a:r>
              <a:rPr lang="en-US" sz="750" b="1" dirty="0">
                <a:solidFill>
                  <a:srgbClr val="C9A227">
                    <a:alpha val="80000"/>
                  </a:srgbClr>
                </a:solidFill>
                <a:latin typeface="Arial" pitchFamily="34" charset="0"/>
                <a:ea typeface="Arial" pitchFamily="34" charset="-122"/>
                <a:cs typeface="Arial" pitchFamily="34" charset="-120"/>
              </a:rPr>
              <a:t>SuperWhisper with local models</a:t>
            </a:r>
            <a:pPr algn="l" indent="0" marL="0">
              <a:lnSpc>
                <a:spcPts val="1125"/>
              </a:lnSpc>
              <a:buNone/>
            </a:pPr>
            <a:r>
              <a:rPr lang="en-US" sz="750" dirty="0">
                <a:solidFill>
                  <a:srgbClr val="FFFFFF">
                    <a:alpha val="80000"/>
                  </a:srgbClr>
                </a:solidFill>
                <a:latin typeface="Arial" pitchFamily="34" charset="0"/>
                <a:ea typeface="Arial" pitchFamily="34" charset="-122"/>
                <a:cs typeface="Arial" pitchFamily="34" charset="-120"/>
              </a:rPr>
              <a:t> instead.</a:t>
            </a:r>
            <a:endParaRPr lang="en-US" sz="750" dirty="0"/>
          </a:p>
        </p:txBody>
      </p:sp>
      <p:sp>
        <p:nvSpPr>
          <p:cNvPr id="25" name="Text 23"/>
          <p:cNvSpPr/>
          <p:nvPr/>
        </p:nvSpPr>
        <p:spPr>
          <a:xfrm>
            <a:off x="4504581" y="4540597"/>
            <a:ext cx="4334619" cy="342900"/>
          </a:xfrm>
          <a:prstGeom prst="rect">
            <a:avLst/>
          </a:prstGeom>
          <a:solidFill>
            <a:srgbClr val="DBEAFE"/>
          </a:solidFill>
          <a:ln w="9525">
            <a:solidFill>
              <a:srgbClr val="3B82F6"/>
            </a:solidFill>
          </a:ln>
        </p:spPr>
        <p:txBody>
          <a:bodyPr wrap="square" rtlCol="0" anchor="ctr"/>
          <a:lstStyle/>
          <a:p>
            <a:pPr indent="0" marL="0">
              <a:buNone/>
            </a:pPr>
            <a:endParaRPr lang="en-US" dirty="0"/>
          </a:p>
        </p:txBody>
      </p:sp>
      <p:sp>
        <p:nvSpPr>
          <p:cNvPr id="26" name="Text 24"/>
          <p:cNvSpPr/>
          <p:nvPr/>
        </p:nvSpPr>
        <p:spPr>
          <a:xfrm>
            <a:off x="4609356" y="4645372"/>
            <a:ext cx="4207571" cy="133350"/>
          </a:xfrm>
          <a:prstGeom prst="rect">
            <a:avLst/>
          </a:prstGeom>
          <a:noFill/>
          <a:ln/>
        </p:spPr>
        <p:txBody>
          <a:bodyPr wrap="square" lIns="0" tIns="0" rIns="0" bIns="0" rtlCol="0" anchor="t"/>
          <a:lstStyle/>
          <a:p>
            <a:pPr algn="l" indent="0" marL="0">
              <a:lnSpc>
                <a:spcPts val="1050"/>
              </a:lnSpc>
              <a:buNone/>
            </a:pPr>
            <a:r>
              <a:rPr lang="en-US" sz="750" b="1" dirty="0">
                <a:solidFill>
                  <a:srgbClr val="1E40AF"/>
                </a:solidFill>
                <a:latin typeface="Arial" pitchFamily="34" charset="0"/>
                <a:ea typeface="Arial" pitchFamily="34" charset="-122"/>
                <a:cs typeface="Arial" pitchFamily="34" charset="-120"/>
              </a:rPr>
              <a:t>Wispr Compliance:</a:t>
            </a:r>
            <a:pPr algn="l" indent="0" marL="0">
              <a:lnSpc>
                <a:spcPts val="1050"/>
              </a:lnSpc>
              <a:buNone/>
            </a:pPr>
            <a:r>
              <a:rPr lang="en-US" sz="750" dirty="0">
                <a:solidFill>
                  <a:srgbClr val="1E40AF"/>
                </a:solidFill>
                <a:latin typeface="Arial" pitchFamily="34" charset="0"/>
                <a:ea typeface="Arial" pitchFamily="34" charset="-122"/>
                <a:cs typeface="Arial" pitchFamily="34" charset="-120"/>
              </a:rPr>
              <a:t> SOC 2 Type II, HIPAA-ready, ISO 27001 certified</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381000" y="304800"/>
            <a:ext cx="8549640" cy="133350"/>
          </a:xfrm>
          <a:prstGeom prst="rect">
            <a:avLst/>
          </a:prstGeom>
          <a:noFill/>
          <a:ln/>
        </p:spPr>
        <p:txBody>
          <a:bodyPr wrap="square" lIns="0" tIns="0" rIns="0" bIns="0" rtlCol="0" anchor="t"/>
          <a:lstStyle/>
          <a:p>
            <a:pPr algn="l" indent="0" marL="0">
              <a:lnSpc>
                <a:spcPts val="1050"/>
              </a:lnSpc>
              <a:spcAft>
                <a:spcPts val="300"/>
              </a:spcAft>
              <a:buNone/>
            </a:pPr>
            <a:r>
              <a:rPr lang="en-US" sz="750" dirty="0">
                <a:solidFill>
                  <a:srgbClr val="C9A227"/>
                </a:solidFill>
                <a:latin typeface="Arial" pitchFamily="34" charset="0"/>
                <a:ea typeface="Arial" pitchFamily="34" charset="-122"/>
                <a:cs typeface="Arial" pitchFamily="34" charset="-120"/>
              </a:rPr>
              <a:t>HEAD-TO-HEAD COMPARISON</a:t>
            </a:r>
            <a:endParaRPr lang="en-US" sz="750" dirty="0"/>
          </a:p>
        </p:txBody>
      </p:sp>
      <p:sp>
        <p:nvSpPr>
          <p:cNvPr id="3" name="Text 1"/>
          <p:cNvSpPr/>
          <p:nvPr/>
        </p:nvSpPr>
        <p:spPr>
          <a:xfrm>
            <a:off x="381000" y="476250"/>
            <a:ext cx="4284536" cy="228600"/>
          </a:xfrm>
          <a:prstGeom prst="rect">
            <a:avLst/>
          </a:prstGeom>
          <a:noFill/>
          <a:ln/>
        </p:spPr>
        <p:txBody>
          <a:bodyPr wrap="square" lIns="0" tIns="0" rIns="0" bIns="0" rtlCol="0" anchor="t"/>
          <a:lstStyle/>
          <a:p>
            <a:pPr algn="l" indent="0" marL="0">
              <a:lnSpc>
                <a:spcPts val="1800"/>
              </a:lnSpc>
              <a:buNone/>
            </a:pPr>
            <a:r>
              <a:rPr lang="en-US" sz="1800" dirty="0">
                <a:solidFill>
                  <a:srgbClr val="1A1F2E"/>
                </a:solidFill>
                <a:latin typeface="Georgia" pitchFamily="34" charset="0"/>
                <a:ea typeface="Georgia" pitchFamily="34" charset="-122"/>
                <a:cs typeface="Georgia" pitchFamily="34" charset="-120"/>
              </a:rPr>
              <a:t>SuperWhisper vs Wispr Flow</a:t>
            </a:r>
            <a:endParaRPr lang="en-US" sz="1800" dirty="0"/>
          </a:p>
        </p:txBody>
      </p:sp>
      <p:sp>
        <p:nvSpPr>
          <p:cNvPr id="4" name="Text 2"/>
          <p:cNvSpPr/>
          <p:nvPr/>
        </p:nvSpPr>
        <p:spPr>
          <a:xfrm>
            <a:off x="381000" y="900113"/>
            <a:ext cx="8382000" cy="285750"/>
          </a:xfrm>
          <a:prstGeom prst="rect">
            <a:avLst/>
          </a:prstGeom>
          <a:solidFill>
            <a:srgbClr val="1A1F2E"/>
          </a:solidFill>
          <a:ln/>
        </p:spPr>
        <p:txBody>
          <a:bodyPr wrap="square" rtlCol="0" anchor="ctr"/>
          <a:lstStyle/>
          <a:p>
            <a:pPr indent="0" marL="0">
              <a:buNone/>
            </a:pPr>
            <a:endParaRPr lang="en-US" dirty="0"/>
          </a:p>
        </p:txBody>
      </p:sp>
      <p:sp>
        <p:nvSpPr>
          <p:cNvPr id="5" name="Text 3"/>
          <p:cNvSpPr/>
          <p:nvPr/>
        </p:nvSpPr>
        <p:spPr>
          <a:xfrm>
            <a:off x="514350" y="976312"/>
            <a:ext cx="1752737" cy="133350"/>
          </a:xfrm>
          <a:prstGeom prst="rect">
            <a:avLst/>
          </a:prstGeom>
          <a:noFill/>
          <a:ln/>
        </p:spPr>
        <p:txBody>
          <a:bodyPr wrap="square" lIns="0" tIns="0" rIns="0" bIns="0" rtlCol="0" anchor="t"/>
          <a:lstStyle/>
          <a:p>
            <a:pPr algn="l" indent="0" marL="0">
              <a:lnSpc>
                <a:spcPts val="1050"/>
              </a:lnSpc>
              <a:buNone/>
            </a:pPr>
            <a:r>
              <a:rPr lang="en-US" sz="750" b="1" dirty="0">
                <a:solidFill>
                  <a:srgbClr val="FFFFFF"/>
                </a:solidFill>
                <a:latin typeface="Arial" pitchFamily="34" charset="0"/>
                <a:ea typeface="Arial" pitchFamily="34" charset="-122"/>
                <a:cs typeface="Arial" pitchFamily="34" charset="-120"/>
              </a:rPr>
              <a:t>Feature</a:t>
            </a:r>
            <a:endParaRPr lang="en-US" sz="750" dirty="0"/>
          </a:p>
        </p:txBody>
      </p:sp>
      <p:sp>
        <p:nvSpPr>
          <p:cNvPr id="6" name="Text 4"/>
          <p:cNvSpPr/>
          <p:nvPr/>
        </p:nvSpPr>
        <p:spPr>
          <a:xfrm>
            <a:off x="2354659" y="976312"/>
            <a:ext cx="3106987" cy="133350"/>
          </a:xfrm>
          <a:prstGeom prst="rect">
            <a:avLst/>
          </a:prstGeom>
          <a:noFill/>
          <a:ln/>
        </p:spPr>
        <p:txBody>
          <a:bodyPr wrap="square" lIns="0" tIns="0" rIns="0" bIns="0" rtlCol="0" anchor="t"/>
          <a:lstStyle/>
          <a:p>
            <a:pPr algn="ctr" indent="0" marL="0">
              <a:lnSpc>
                <a:spcPts val="1050"/>
              </a:lnSpc>
              <a:buNone/>
            </a:pPr>
            <a:r>
              <a:rPr lang="en-US" sz="750" b="1" dirty="0">
                <a:solidFill>
                  <a:srgbClr val="C9A227"/>
                </a:solidFill>
                <a:latin typeface="Arial" pitchFamily="34" charset="0"/>
                <a:ea typeface="Arial" pitchFamily="34" charset="-122"/>
                <a:cs typeface="Arial" pitchFamily="34" charset="-120"/>
              </a:rPr>
              <a:t>SuperWhisper</a:t>
            </a:r>
            <a:endParaRPr lang="en-US" sz="750" dirty="0"/>
          </a:p>
        </p:txBody>
      </p:sp>
      <p:sp>
        <p:nvSpPr>
          <p:cNvPr id="7" name="Text 5"/>
          <p:cNvSpPr/>
          <p:nvPr/>
        </p:nvSpPr>
        <p:spPr>
          <a:xfrm>
            <a:off x="5553124" y="976312"/>
            <a:ext cx="3106987" cy="133350"/>
          </a:xfrm>
          <a:prstGeom prst="rect">
            <a:avLst/>
          </a:prstGeom>
          <a:noFill/>
          <a:ln/>
        </p:spPr>
        <p:txBody>
          <a:bodyPr wrap="square" lIns="0" tIns="0" rIns="0" bIns="0" rtlCol="0" anchor="t"/>
          <a:lstStyle/>
          <a:p>
            <a:pPr algn="ctr" indent="0" marL="0">
              <a:lnSpc>
                <a:spcPts val="1050"/>
              </a:lnSpc>
              <a:buNone/>
            </a:pPr>
            <a:r>
              <a:rPr lang="en-US" sz="750" b="1" dirty="0">
                <a:solidFill>
                  <a:srgbClr val="C9A227"/>
                </a:solidFill>
                <a:latin typeface="Arial" pitchFamily="34" charset="0"/>
                <a:ea typeface="Arial" pitchFamily="34" charset="-122"/>
                <a:cs typeface="Arial" pitchFamily="34" charset="-120"/>
              </a:rPr>
              <a:t>Wispr Flow</a:t>
            </a:r>
            <a:endParaRPr lang="en-US" sz="750" dirty="0"/>
          </a:p>
        </p:txBody>
      </p:sp>
      <p:sp>
        <p:nvSpPr>
          <p:cNvPr id="8" name="Text 6"/>
          <p:cNvSpPr/>
          <p:nvPr/>
        </p:nvSpPr>
        <p:spPr>
          <a:xfrm>
            <a:off x="381000" y="1357313"/>
            <a:ext cx="8382000" cy="257175"/>
          </a:xfrm>
          <a:prstGeom prst="rect">
            <a:avLst/>
          </a:prstGeom>
          <a:solidFill>
            <a:srgbClr val="FFFFFF"/>
          </a:solidFill>
          <a:ln/>
        </p:spPr>
        <p:txBody>
          <a:bodyPr wrap="square" rtlCol="0" anchor="ctr"/>
          <a:lstStyle/>
          <a:p>
            <a:pPr indent="0" marL="0">
              <a:buNone/>
            </a:pPr>
            <a:endParaRPr lang="en-US" dirty="0"/>
          </a:p>
        </p:txBody>
      </p:sp>
      <p:sp>
        <p:nvSpPr>
          <p:cNvPr id="9" name="Shape 7"/>
          <p:cNvSpPr/>
          <p:nvPr/>
        </p:nvSpPr>
        <p:spPr>
          <a:xfrm>
            <a:off x="381000" y="1609725"/>
            <a:ext cx="8382000" cy="0"/>
          </a:xfrm>
          <a:prstGeom prst="line">
            <a:avLst/>
          </a:prstGeom>
          <a:noFill/>
          <a:ln w="9525">
            <a:solidFill>
              <a:srgbClr val="E4E7ED"/>
            </a:solidFill>
            <a:prstDash val="solid"/>
          </a:ln>
        </p:spPr>
      </p:sp>
      <p:sp>
        <p:nvSpPr>
          <p:cNvPr id="10" name="Text 8"/>
          <p:cNvSpPr/>
          <p:nvPr/>
        </p:nvSpPr>
        <p:spPr>
          <a:xfrm>
            <a:off x="514350" y="1414463"/>
            <a:ext cx="1752737" cy="133350"/>
          </a:xfrm>
          <a:prstGeom prst="rect">
            <a:avLst/>
          </a:prstGeom>
          <a:noFill/>
          <a:ln/>
        </p:spPr>
        <p:txBody>
          <a:bodyPr wrap="square" lIns="0" tIns="0" rIns="0" bIns="0" rtlCol="0" anchor="t"/>
          <a:lstStyle/>
          <a:p>
            <a:pPr algn="l" indent="0" marL="0">
              <a:lnSpc>
                <a:spcPts val="1050"/>
              </a:lnSpc>
              <a:buNone/>
            </a:pPr>
            <a:r>
              <a:rPr lang="en-US" sz="750" dirty="0">
                <a:solidFill>
                  <a:srgbClr val="1A1F2E"/>
                </a:solidFill>
                <a:latin typeface="Arial" pitchFamily="34" charset="0"/>
                <a:ea typeface="Arial" pitchFamily="34" charset="-122"/>
                <a:cs typeface="Arial" pitchFamily="34" charset="-120"/>
              </a:rPr>
              <a:t>Platforms</a:t>
            </a:r>
            <a:endParaRPr lang="en-US" sz="750" dirty="0"/>
          </a:p>
        </p:txBody>
      </p:sp>
      <p:sp>
        <p:nvSpPr>
          <p:cNvPr id="11" name="Text 9"/>
          <p:cNvSpPr/>
          <p:nvPr/>
        </p:nvSpPr>
        <p:spPr>
          <a:xfrm>
            <a:off x="2354659" y="1414463"/>
            <a:ext cx="3106987" cy="133350"/>
          </a:xfrm>
          <a:prstGeom prst="rect">
            <a:avLst/>
          </a:prstGeom>
          <a:noFill/>
          <a:ln/>
        </p:spPr>
        <p:txBody>
          <a:bodyPr wrap="square" lIns="0" tIns="0" rIns="0" bIns="0" rtlCol="0" anchor="t"/>
          <a:lstStyle/>
          <a:p>
            <a:pPr algn="ctr" indent="0" marL="0">
              <a:lnSpc>
                <a:spcPts val="1050"/>
              </a:lnSpc>
              <a:buNone/>
            </a:pPr>
            <a:r>
              <a:rPr lang="en-US" sz="750" dirty="0">
                <a:solidFill>
                  <a:srgbClr val="059669"/>
                </a:solidFill>
                <a:latin typeface="Arial" pitchFamily="34" charset="0"/>
                <a:ea typeface="Arial" pitchFamily="34" charset="-122"/>
                <a:cs typeface="Arial" pitchFamily="34" charset="-120"/>
              </a:rPr>
              <a:t>Mac, Windows, iOS</a:t>
            </a:r>
            <a:endParaRPr lang="en-US" sz="750" dirty="0"/>
          </a:p>
        </p:txBody>
      </p:sp>
      <p:sp>
        <p:nvSpPr>
          <p:cNvPr id="12" name="Text 10"/>
          <p:cNvSpPr/>
          <p:nvPr/>
        </p:nvSpPr>
        <p:spPr>
          <a:xfrm>
            <a:off x="5553124" y="1414463"/>
            <a:ext cx="3106987" cy="133350"/>
          </a:xfrm>
          <a:prstGeom prst="rect">
            <a:avLst/>
          </a:prstGeom>
          <a:noFill/>
          <a:ln/>
        </p:spPr>
        <p:txBody>
          <a:bodyPr wrap="square" lIns="0" tIns="0" rIns="0" bIns="0" rtlCol="0" anchor="t"/>
          <a:lstStyle/>
          <a:p>
            <a:pPr algn="ctr" indent="0" marL="0">
              <a:lnSpc>
                <a:spcPts val="1050"/>
              </a:lnSpc>
              <a:buNone/>
            </a:pPr>
            <a:r>
              <a:rPr lang="en-US" sz="750" dirty="0">
                <a:solidFill>
                  <a:srgbClr val="059669"/>
                </a:solidFill>
                <a:latin typeface="Arial" pitchFamily="34" charset="0"/>
                <a:ea typeface="Arial" pitchFamily="34" charset="-122"/>
                <a:cs typeface="Arial" pitchFamily="34" charset="-120"/>
              </a:rPr>
              <a:t>Mac, Windows, iOS, Web</a:t>
            </a:r>
            <a:endParaRPr lang="en-US" sz="750" dirty="0"/>
          </a:p>
        </p:txBody>
      </p:sp>
      <p:sp>
        <p:nvSpPr>
          <p:cNvPr id="13" name="Text 11"/>
          <p:cNvSpPr/>
          <p:nvPr/>
        </p:nvSpPr>
        <p:spPr>
          <a:xfrm>
            <a:off x="381000" y="1766888"/>
            <a:ext cx="8382000" cy="257175"/>
          </a:xfrm>
          <a:prstGeom prst="rect">
            <a:avLst/>
          </a:prstGeom>
          <a:solidFill>
            <a:srgbClr val="FEF3C7"/>
          </a:solidFill>
          <a:ln/>
        </p:spPr>
        <p:txBody>
          <a:bodyPr wrap="square" rtlCol="0" anchor="ctr"/>
          <a:lstStyle/>
          <a:p>
            <a:pPr indent="0" marL="0">
              <a:buNone/>
            </a:pPr>
            <a:endParaRPr lang="en-US" dirty="0"/>
          </a:p>
        </p:txBody>
      </p:sp>
      <p:sp>
        <p:nvSpPr>
          <p:cNvPr id="14" name="Shape 12"/>
          <p:cNvSpPr/>
          <p:nvPr/>
        </p:nvSpPr>
        <p:spPr>
          <a:xfrm>
            <a:off x="381000" y="2019300"/>
            <a:ext cx="8382000" cy="0"/>
          </a:xfrm>
          <a:prstGeom prst="line">
            <a:avLst/>
          </a:prstGeom>
          <a:noFill/>
          <a:ln w="9525">
            <a:solidFill>
              <a:srgbClr val="E4E7ED"/>
            </a:solidFill>
            <a:prstDash val="solid"/>
          </a:ln>
        </p:spPr>
      </p:sp>
      <p:sp>
        <p:nvSpPr>
          <p:cNvPr id="15" name="Text 13"/>
          <p:cNvSpPr/>
          <p:nvPr/>
        </p:nvSpPr>
        <p:spPr>
          <a:xfrm>
            <a:off x="514350" y="1824038"/>
            <a:ext cx="1752737" cy="133350"/>
          </a:xfrm>
          <a:prstGeom prst="rect">
            <a:avLst/>
          </a:prstGeom>
          <a:noFill/>
          <a:ln/>
        </p:spPr>
        <p:txBody>
          <a:bodyPr wrap="square" lIns="0" tIns="0" rIns="0" bIns="0" rtlCol="0" anchor="t"/>
          <a:lstStyle/>
          <a:p>
            <a:pPr algn="l" indent="0" marL="0">
              <a:lnSpc>
                <a:spcPts val="1050"/>
              </a:lnSpc>
              <a:buNone/>
            </a:pPr>
            <a:r>
              <a:rPr lang="en-US" sz="750" b="1" dirty="0">
                <a:solidFill>
                  <a:srgbClr val="1A1F2E"/>
                </a:solidFill>
                <a:latin typeface="Arial" pitchFamily="34" charset="0"/>
                <a:ea typeface="Arial" pitchFamily="34" charset="-122"/>
                <a:cs typeface="Arial" pitchFamily="34" charset="-120"/>
              </a:rPr>
              <a:t>Processing</a:t>
            </a:r>
            <a:endParaRPr lang="en-US" sz="750" dirty="0"/>
          </a:p>
        </p:txBody>
      </p:sp>
      <p:sp>
        <p:nvSpPr>
          <p:cNvPr id="16" name="Text 14"/>
          <p:cNvSpPr/>
          <p:nvPr/>
        </p:nvSpPr>
        <p:spPr>
          <a:xfrm>
            <a:off x="2354659" y="1824038"/>
            <a:ext cx="3106987" cy="133350"/>
          </a:xfrm>
          <a:prstGeom prst="rect">
            <a:avLst/>
          </a:prstGeom>
          <a:noFill/>
          <a:ln/>
        </p:spPr>
        <p:txBody>
          <a:bodyPr wrap="square" lIns="0" tIns="0" rIns="0" bIns="0" rtlCol="0" anchor="t"/>
          <a:lstStyle/>
          <a:p>
            <a:pPr algn="ctr" indent="0" marL="0">
              <a:lnSpc>
                <a:spcPts val="1050"/>
              </a:lnSpc>
              <a:buNone/>
            </a:pPr>
            <a:r>
              <a:rPr lang="en-US" sz="750" b="1" dirty="0">
                <a:solidFill>
                  <a:srgbClr val="059669"/>
                </a:solidFill>
                <a:latin typeface="Arial" pitchFamily="34" charset="0"/>
                <a:ea typeface="Arial" pitchFamily="34" charset="-122"/>
                <a:cs typeface="Arial" pitchFamily="34" charset="-120"/>
              </a:rPr>
              <a:t>Local OR Cloud (you choose)</a:t>
            </a:r>
            <a:endParaRPr lang="en-US" sz="750" dirty="0"/>
          </a:p>
        </p:txBody>
      </p:sp>
      <p:sp>
        <p:nvSpPr>
          <p:cNvPr id="17" name="Text 15"/>
          <p:cNvSpPr/>
          <p:nvPr/>
        </p:nvSpPr>
        <p:spPr>
          <a:xfrm>
            <a:off x="5553124" y="1824038"/>
            <a:ext cx="3106987" cy="133350"/>
          </a:xfrm>
          <a:prstGeom prst="rect">
            <a:avLst/>
          </a:prstGeom>
          <a:noFill/>
          <a:ln/>
        </p:spPr>
        <p:txBody>
          <a:bodyPr wrap="square" lIns="0" tIns="0" rIns="0" bIns="0" rtlCol="0" anchor="t"/>
          <a:lstStyle/>
          <a:p>
            <a:pPr algn="ctr" indent="0" marL="0">
              <a:lnSpc>
                <a:spcPts val="1050"/>
              </a:lnSpc>
              <a:buNone/>
            </a:pPr>
            <a:r>
              <a:rPr lang="en-US" sz="750" b="1" dirty="0">
                <a:solidFill>
                  <a:srgbClr val="DC2626"/>
                </a:solidFill>
                <a:latin typeface="Arial" pitchFamily="34" charset="0"/>
                <a:ea typeface="Arial" pitchFamily="34" charset="-122"/>
                <a:cs typeface="Arial" pitchFamily="34" charset="-120"/>
              </a:rPr>
              <a:t>Cloud Only (no local option)</a:t>
            </a:r>
            <a:endParaRPr lang="en-US" sz="750" dirty="0"/>
          </a:p>
        </p:txBody>
      </p:sp>
      <p:sp>
        <p:nvSpPr>
          <p:cNvPr id="18" name="Text 16"/>
          <p:cNvSpPr/>
          <p:nvPr/>
        </p:nvSpPr>
        <p:spPr>
          <a:xfrm>
            <a:off x="381000" y="2176463"/>
            <a:ext cx="8382000" cy="257175"/>
          </a:xfrm>
          <a:prstGeom prst="rect">
            <a:avLst/>
          </a:prstGeom>
          <a:solidFill>
            <a:srgbClr val="FFFFFF"/>
          </a:solidFill>
          <a:ln/>
        </p:spPr>
        <p:txBody>
          <a:bodyPr wrap="square" rtlCol="0" anchor="ctr"/>
          <a:lstStyle/>
          <a:p>
            <a:pPr indent="0" marL="0">
              <a:buNone/>
            </a:pPr>
            <a:endParaRPr lang="en-US" dirty="0"/>
          </a:p>
        </p:txBody>
      </p:sp>
      <p:sp>
        <p:nvSpPr>
          <p:cNvPr id="19" name="Shape 17"/>
          <p:cNvSpPr/>
          <p:nvPr/>
        </p:nvSpPr>
        <p:spPr>
          <a:xfrm>
            <a:off x="381000" y="2428875"/>
            <a:ext cx="8382000" cy="0"/>
          </a:xfrm>
          <a:prstGeom prst="line">
            <a:avLst/>
          </a:prstGeom>
          <a:noFill/>
          <a:ln w="9525">
            <a:solidFill>
              <a:srgbClr val="E4E7ED"/>
            </a:solidFill>
            <a:prstDash val="solid"/>
          </a:ln>
        </p:spPr>
      </p:sp>
      <p:sp>
        <p:nvSpPr>
          <p:cNvPr id="20" name="Text 18"/>
          <p:cNvSpPr/>
          <p:nvPr/>
        </p:nvSpPr>
        <p:spPr>
          <a:xfrm>
            <a:off x="514350" y="2233613"/>
            <a:ext cx="1752737" cy="133350"/>
          </a:xfrm>
          <a:prstGeom prst="rect">
            <a:avLst/>
          </a:prstGeom>
          <a:noFill/>
          <a:ln/>
        </p:spPr>
        <p:txBody>
          <a:bodyPr wrap="square" lIns="0" tIns="0" rIns="0" bIns="0" rtlCol="0" anchor="t"/>
          <a:lstStyle/>
          <a:p>
            <a:pPr algn="l" indent="0" marL="0">
              <a:lnSpc>
                <a:spcPts val="1050"/>
              </a:lnSpc>
              <a:buNone/>
            </a:pPr>
            <a:r>
              <a:rPr lang="en-US" sz="750" dirty="0">
                <a:solidFill>
                  <a:srgbClr val="1A1F2E"/>
                </a:solidFill>
                <a:latin typeface="Arial" pitchFamily="34" charset="0"/>
                <a:ea typeface="Arial" pitchFamily="34" charset="-122"/>
                <a:cs typeface="Arial" pitchFamily="34" charset="-120"/>
              </a:rPr>
              <a:t>Privacy Mode</a:t>
            </a:r>
            <a:endParaRPr lang="en-US" sz="750" dirty="0"/>
          </a:p>
        </p:txBody>
      </p:sp>
      <p:sp>
        <p:nvSpPr>
          <p:cNvPr id="21" name="Text 19"/>
          <p:cNvSpPr/>
          <p:nvPr/>
        </p:nvSpPr>
        <p:spPr>
          <a:xfrm>
            <a:off x="2354659" y="2233613"/>
            <a:ext cx="3106987" cy="133350"/>
          </a:xfrm>
          <a:prstGeom prst="rect">
            <a:avLst/>
          </a:prstGeom>
          <a:noFill/>
          <a:ln/>
        </p:spPr>
        <p:txBody>
          <a:bodyPr wrap="square" lIns="0" tIns="0" rIns="0" bIns="0" rtlCol="0" anchor="t"/>
          <a:lstStyle/>
          <a:p>
            <a:pPr algn="ctr" indent="0" marL="0">
              <a:lnSpc>
                <a:spcPts val="1050"/>
              </a:lnSpc>
              <a:buNone/>
            </a:pPr>
            <a:r>
              <a:rPr lang="en-US" sz="750" dirty="0">
                <a:solidFill>
                  <a:srgbClr val="059669"/>
                </a:solidFill>
                <a:latin typeface="Arial" pitchFamily="34" charset="0"/>
                <a:ea typeface="Arial" pitchFamily="34" charset="-122"/>
                <a:cs typeface="Arial" pitchFamily="34" charset="-120"/>
              </a:rPr>
              <a:t>Audio stays on device (local)</a:t>
            </a:r>
            <a:endParaRPr lang="en-US" sz="750" dirty="0"/>
          </a:p>
        </p:txBody>
      </p:sp>
      <p:sp>
        <p:nvSpPr>
          <p:cNvPr id="22" name="Text 20"/>
          <p:cNvSpPr/>
          <p:nvPr/>
        </p:nvSpPr>
        <p:spPr>
          <a:xfrm>
            <a:off x="5553124" y="2233613"/>
            <a:ext cx="3106987" cy="133350"/>
          </a:xfrm>
          <a:prstGeom prst="rect">
            <a:avLst/>
          </a:prstGeom>
          <a:noFill/>
          <a:ln/>
        </p:spPr>
        <p:txBody>
          <a:bodyPr wrap="square" lIns="0" tIns="0" rIns="0" bIns="0" rtlCol="0" anchor="t"/>
          <a:lstStyle/>
          <a:p>
            <a:pPr algn="ctr" indent="0" marL="0">
              <a:lnSpc>
                <a:spcPts val="1050"/>
              </a:lnSpc>
              <a:buNone/>
            </a:pPr>
            <a:r>
              <a:rPr lang="en-US" sz="750" dirty="0">
                <a:solidFill>
                  <a:srgbClr val="F59E0B"/>
                </a:solidFill>
                <a:latin typeface="Arial" pitchFamily="34" charset="0"/>
                <a:ea typeface="Arial" pitchFamily="34" charset="-122"/>
                <a:cs typeface="Arial" pitchFamily="34" charset="-120"/>
              </a:rPr>
              <a:t>Zero retention (still cloud)</a:t>
            </a:r>
            <a:endParaRPr lang="en-US" sz="750" dirty="0"/>
          </a:p>
        </p:txBody>
      </p:sp>
      <p:sp>
        <p:nvSpPr>
          <p:cNvPr id="23" name="Text 21"/>
          <p:cNvSpPr/>
          <p:nvPr/>
        </p:nvSpPr>
        <p:spPr>
          <a:xfrm>
            <a:off x="381000" y="2586038"/>
            <a:ext cx="8382000" cy="257175"/>
          </a:xfrm>
          <a:prstGeom prst="rect">
            <a:avLst/>
          </a:prstGeom>
          <a:solidFill>
            <a:srgbClr val="F7F8FA"/>
          </a:solidFill>
          <a:ln/>
        </p:spPr>
        <p:txBody>
          <a:bodyPr wrap="square" rtlCol="0" anchor="ctr"/>
          <a:lstStyle/>
          <a:p>
            <a:pPr indent="0" marL="0">
              <a:buNone/>
            </a:pPr>
            <a:endParaRPr lang="en-US" dirty="0"/>
          </a:p>
        </p:txBody>
      </p:sp>
      <p:sp>
        <p:nvSpPr>
          <p:cNvPr id="24" name="Shape 22"/>
          <p:cNvSpPr/>
          <p:nvPr/>
        </p:nvSpPr>
        <p:spPr>
          <a:xfrm>
            <a:off x="381000" y="2838450"/>
            <a:ext cx="8382000" cy="0"/>
          </a:xfrm>
          <a:prstGeom prst="line">
            <a:avLst/>
          </a:prstGeom>
          <a:noFill/>
          <a:ln w="9525">
            <a:solidFill>
              <a:srgbClr val="E4E7ED"/>
            </a:solidFill>
            <a:prstDash val="solid"/>
          </a:ln>
        </p:spPr>
      </p:sp>
      <p:sp>
        <p:nvSpPr>
          <p:cNvPr id="25" name="Text 23"/>
          <p:cNvSpPr/>
          <p:nvPr/>
        </p:nvSpPr>
        <p:spPr>
          <a:xfrm>
            <a:off x="514350" y="2643188"/>
            <a:ext cx="1752737" cy="133350"/>
          </a:xfrm>
          <a:prstGeom prst="rect">
            <a:avLst/>
          </a:prstGeom>
          <a:noFill/>
          <a:ln/>
        </p:spPr>
        <p:txBody>
          <a:bodyPr wrap="square" lIns="0" tIns="0" rIns="0" bIns="0" rtlCol="0" anchor="t"/>
          <a:lstStyle/>
          <a:p>
            <a:pPr algn="l" indent="0" marL="0">
              <a:lnSpc>
                <a:spcPts val="1050"/>
              </a:lnSpc>
              <a:buNone/>
            </a:pPr>
            <a:r>
              <a:rPr lang="en-US" sz="750" dirty="0">
                <a:solidFill>
                  <a:srgbClr val="1A1F2E"/>
                </a:solidFill>
                <a:latin typeface="Arial" pitchFamily="34" charset="0"/>
                <a:ea typeface="Arial" pitchFamily="34" charset="-122"/>
                <a:cs typeface="Arial" pitchFamily="34" charset="-120"/>
              </a:rPr>
              <a:t>Cost</a:t>
            </a:r>
            <a:endParaRPr lang="en-US" sz="750" dirty="0"/>
          </a:p>
        </p:txBody>
      </p:sp>
      <p:sp>
        <p:nvSpPr>
          <p:cNvPr id="26" name="Text 24"/>
          <p:cNvSpPr/>
          <p:nvPr/>
        </p:nvSpPr>
        <p:spPr>
          <a:xfrm>
            <a:off x="2354659" y="2643188"/>
            <a:ext cx="3106987" cy="133350"/>
          </a:xfrm>
          <a:prstGeom prst="rect">
            <a:avLst/>
          </a:prstGeom>
          <a:noFill/>
          <a:ln/>
        </p:spPr>
        <p:txBody>
          <a:bodyPr wrap="square" lIns="0" tIns="0" rIns="0" bIns="0" rtlCol="0" anchor="t"/>
          <a:lstStyle/>
          <a:p>
            <a:pPr algn="ctr" indent="0" marL="0">
              <a:lnSpc>
                <a:spcPts val="1050"/>
              </a:lnSpc>
              <a:buNone/>
            </a:pPr>
            <a:r>
              <a:rPr lang="en-US" sz="750" dirty="0">
                <a:solidFill>
                  <a:srgbClr val="6B7280"/>
                </a:solidFill>
                <a:latin typeface="Arial" pitchFamily="34" charset="0"/>
                <a:ea typeface="Arial" pitchFamily="34" charset="-122"/>
                <a:cs typeface="Arial" pitchFamily="34" charset="-120"/>
              </a:rPr>
              <a:t>Free / $8.49/mo / $249 lifetime</a:t>
            </a:r>
            <a:endParaRPr lang="en-US" sz="750" dirty="0"/>
          </a:p>
        </p:txBody>
      </p:sp>
      <p:sp>
        <p:nvSpPr>
          <p:cNvPr id="27" name="Text 25"/>
          <p:cNvSpPr/>
          <p:nvPr/>
        </p:nvSpPr>
        <p:spPr>
          <a:xfrm>
            <a:off x="5553124" y="2643188"/>
            <a:ext cx="3106987" cy="133350"/>
          </a:xfrm>
          <a:prstGeom prst="rect">
            <a:avLst/>
          </a:prstGeom>
          <a:noFill/>
          <a:ln/>
        </p:spPr>
        <p:txBody>
          <a:bodyPr wrap="square" lIns="0" tIns="0" rIns="0" bIns="0" rtlCol="0" anchor="t"/>
          <a:lstStyle/>
          <a:p>
            <a:pPr algn="ctr" indent="0" marL="0">
              <a:lnSpc>
                <a:spcPts val="1050"/>
              </a:lnSpc>
              <a:buNone/>
            </a:pPr>
            <a:r>
              <a:rPr lang="en-US" sz="750" dirty="0">
                <a:solidFill>
                  <a:srgbClr val="6B7280"/>
                </a:solidFill>
                <a:latin typeface="Arial" pitchFamily="34" charset="0"/>
                <a:ea typeface="Arial" pitchFamily="34" charset="-122"/>
                <a:cs typeface="Arial" pitchFamily="34" charset="-120"/>
              </a:rPr>
              <a:t>Free (2K words/wk) / $15/mo Pro</a:t>
            </a:r>
            <a:endParaRPr lang="en-US" sz="750" dirty="0"/>
          </a:p>
        </p:txBody>
      </p:sp>
      <p:sp>
        <p:nvSpPr>
          <p:cNvPr id="28" name="Text 26"/>
          <p:cNvSpPr/>
          <p:nvPr/>
        </p:nvSpPr>
        <p:spPr>
          <a:xfrm>
            <a:off x="381000" y="2995613"/>
            <a:ext cx="8382000" cy="257175"/>
          </a:xfrm>
          <a:prstGeom prst="rect">
            <a:avLst/>
          </a:prstGeom>
          <a:solidFill>
            <a:srgbClr val="FFFFFF"/>
          </a:solidFill>
          <a:ln/>
        </p:spPr>
        <p:txBody>
          <a:bodyPr wrap="square" rtlCol="0" anchor="ctr"/>
          <a:lstStyle/>
          <a:p>
            <a:pPr indent="0" marL="0">
              <a:buNone/>
            </a:pPr>
            <a:endParaRPr lang="en-US" dirty="0"/>
          </a:p>
        </p:txBody>
      </p:sp>
      <p:sp>
        <p:nvSpPr>
          <p:cNvPr id="29" name="Shape 27"/>
          <p:cNvSpPr/>
          <p:nvPr/>
        </p:nvSpPr>
        <p:spPr>
          <a:xfrm>
            <a:off x="381000" y="3248025"/>
            <a:ext cx="8382000" cy="0"/>
          </a:xfrm>
          <a:prstGeom prst="line">
            <a:avLst/>
          </a:prstGeom>
          <a:noFill/>
          <a:ln w="9525">
            <a:solidFill>
              <a:srgbClr val="E4E7ED"/>
            </a:solidFill>
            <a:prstDash val="solid"/>
          </a:ln>
        </p:spPr>
      </p:sp>
      <p:sp>
        <p:nvSpPr>
          <p:cNvPr id="30" name="Text 28"/>
          <p:cNvSpPr/>
          <p:nvPr/>
        </p:nvSpPr>
        <p:spPr>
          <a:xfrm>
            <a:off x="514350" y="3052763"/>
            <a:ext cx="1752737" cy="133350"/>
          </a:xfrm>
          <a:prstGeom prst="rect">
            <a:avLst/>
          </a:prstGeom>
          <a:noFill/>
          <a:ln/>
        </p:spPr>
        <p:txBody>
          <a:bodyPr wrap="square" lIns="0" tIns="0" rIns="0" bIns="0" rtlCol="0" anchor="t"/>
          <a:lstStyle/>
          <a:p>
            <a:pPr algn="l" indent="0" marL="0">
              <a:lnSpc>
                <a:spcPts val="1050"/>
              </a:lnSpc>
              <a:buNone/>
            </a:pPr>
            <a:r>
              <a:rPr lang="en-US" sz="750" dirty="0">
                <a:solidFill>
                  <a:srgbClr val="1A1F2E"/>
                </a:solidFill>
                <a:latin typeface="Arial" pitchFamily="34" charset="0"/>
                <a:ea typeface="Arial" pitchFamily="34" charset="-122"/>
                <a:cs typeface="Arial" pitchFamily="34" charset="-120"/>
              </a:rPr>
              <a:t>Context Awareness</a:t>
            </a:r>
            <a:endParaRPr lang="en-US" sz="750" dirty="0"/>
          </a:p>
        </p:txBody>
      </p:sp>
      <p:sp>
        <p:nvSpPr>
          <p:cNvPr id="31" name="Text 29"/>
          <p:cNvSpPr/>
          <p:nvPr/>
        </p:nvSpPr>
        <p:spPr>
          <a:xfrm>
            <a:off x="2354659" y="3052763"/>
            <a:ext cx="3106987" cy="133350"/>
          </a:xfrm>
          <a:prstGeom prst="rect">
            <a:avLst/>
          </a:prstGeom>
          <a:noFill/>
          <a:ln/>
        </p:spPr>
        <p:txBody>
          <a:bodyPr wrap="square" lIns="0" tIns="0" rIns="0" bIns="0" rtlCol="0" anchor="t"/>
          <a:lstStyle/>
          <a:p>
            <a:pPr algn="ctr" indent="0" marL="0">
              <a:lnSpc>
                <a:spcPts val="1050"/>
              </a:lnSpc>
              <a:buNone/>
            </a:pPr>
            <a:r>
              <a:rPr lang="en-US" sz="750" dirty="0">
                <a:solidFill>
                  <a:srgbClr val="6B7280"/>
                </a:solidFill>
                <a:latin typeface="Arial" pitchFamily="34" charset="0"/>
                <a:ea typeface="Arial" pitchFamily="34" charset="-122"/>
                <a:cs typeface="Arial" pitchFamily="34" charset="-120"/>
              </a:rPr>
              <a:t>Super Mode (adapts to app)</a:t>
            </a:r>
            <a:endParaRPr lang="en-US" sz="750" dirty="0"/>
          </a:p>
        </p:txBody>
      </p:sp>
      <p:sp>
        <p:nvSpPr>
          <p:cNvPr id="32" name="Text 30"/>
          <p:cNvSpPr/>
          <p:nvPr/>
        </p:nvSpPr>
        <p:spPr>
          <a:xfrm>
            <a:off x="5553124" y="3052763"/>
            <a:ext cx="3106987" cy="133350"/>
          </a:xfrm>
          <a:prstGeom prst="rect">
            <a:avLst/>
          </a:prstGeom>
          <a:noFill/>
          <a:ln/>
        </p:spPr>
        <p:txBody>
          <a:bodyPr wrap="square" lIns="0" tIns="0" rIns="0" bIns="0" rtlCol="0" anchor="t"/>
          <a:lstStyle/>
          <a:p>
            <a:pPr algn="ctr" indent="0" marL="0">
              <a:lnSpc>
                <a:spcPts val="1050"/>
              </a:lnSpc>
              <a:buNone/>
            </a:pPr>
            <a:r>
              <a:rPr lang="en-US" sz="750" b="1" dirty="0">
                <a:solidFill>
                  <a:srgbClr val="059669"/>
                </a:solidFill>
                <a:latin typeface="Arial" pitchFamily="34" charset="0"/>
                <a:ea typeface="Arial" pitchFamily="34" charset="-122"/>
                <a:cs typeface="Arial" pitchFamily="34" charset="-120"/>
              </a:rPr>
              <a:t>Advanced (auto-detects app)</a:t>
            </a:r>
            <a:endParaRPr lang="en-US" sz="750" dirty="0"/>
          </a:p>
        </p:txBody>
      </p:sp>
      <p:sp>
        <p:nvSpPr>
          <p:cNvPr id="33" name="Text 31"/>
          <p:cNvSpPr/>
          <p:nvPr/>
        </p:nvSpPr>
        <p:spPr>
          <a:xfrm>
            <a:off x="381000" y="3405188"/>
            <a:ext cx="8382000" cy="257175"/>
          </a:xfrm>
          <a:prstGeom prst="rect">
            <a:avLst/>
          </a:prstGeom>
          <a:solidFill>
            <a:srgbClr val="F7F8FA"/>
          </a:solidFill>
          <a:ln/>
        </p:spPr>
        <p:txBody>
          <a:bodyPr wrap="square" rtlCol="0" anchor="ctr"/>
          <a:lstStyle/>
          <a:p>
            <a:pPr indent="0" marL="0">
              <a:buNone/>
            </a:pPr>
            <a:endParaRPr lang="en-US" dirty="0"/>
          </a:p>
        </p:txBody>
      </p:sp>
      <p:sp>
        <p:nvSpPr>
          <p:cNvPr id="34" name="Shape 32"/>
          <p:cNvSpPr/>
          <p:nvPr/>
        </p:nvSpPr>
        <p:spPr>
          <a:xfrm>
            <a:off x="381000" y="3657600"/>
            <a:ext cx="8382000" cy="0"/>
          </a:xfrm>
          <a:prstGeom prst="line">
            <a:avLst/>
          </a:prstGeom>
          <a:noFill/>
          <a:ln w="9525">
            <a:solidFill>
              <a:srgbClr val="E4E7ED"/>
            </a:solidFill>
            <a:prstDash val="solid"/>
          </a:ln>
        </p:spPr>
      </p:sp>
      <p:sp>
        <p:nvSpPr>
          <p:cNvPr id="35" name="Text 33"/>
          <p:cNvSpPr/>
          <p:nvPr/>
        </p:nvSpPr>
        <p:spPr>
          <a:xfrm>
            <a:off x="514350" y="3462338"/>
            <a:ext cx="1752737" cy="133350"/>
          </a:xfrm>
          <a:prstGeom prst="rect">
            <a:avLst/>
          </a:prstGeom>
          <a:noFill/>
          <a:ln/>
        </p:spPr>
        <p:txBody>
          <a:bodyPr wrap="square" lIns="0" tIns="0" rIns="0" bIns="0" rtlCol="0" anchor="t"/>
          <a:lstStyle/>
          <a:p>
            <a:pPr algn="l" indent="0" marL="0">
              <a:lnSpc>
                <a:spcPts val="1050"/>
              </a:lnSpc>
              <a:buNone/>
            </a:pPr>
            <a:r>
              <a:rPr lang="en-US" sz="750" dirty="0">
                <a:solidFill>
                  <a:srgbClr val="1A1F2E"/>
                </a:solidFill>
                <a:latin typeface="Arial" pitchFamily="34" charset="0"/>
                <a:ea typeface="Arial" pitchFamily="34" charset="-122"/>
                <a:cs typeface="Arial" pitchFamily="34" charset="-120"/>
              </a:rPr>
              <a:t>Works Offline?</a:t>
            </a:r>
            <a:endParaRPr lang="en-US" sz="750" dirty="0"/>
          </a:p>
        </p:txBody>
      </p:sp>
      <p:sp>
        <p:nvSpPr>
          <p:cNvPr id="36" name="Text 34"/>
          <p:cNvSpPr/>
          <p:nvPr/>
        </p:nvSpPr>
        <p:spPr>
          <a:xfrm>
            <a:off x="2354659" y="3462338"/>
            <a:ext cx="3106987" cy="133350"/>
          </a:xfrm>
          <a:prstGeom prst="rect">
            <a:avLst/>
          </a:prstGeom>
          <a:noFill/>
          <a:ln/>
        </p:spPr>
        <p:txBody>
          <a:bodyPr wrap="square" lIns="0" tIns="0" rIns="0" bIns="0" rtlCol="0" anchor="t"/>
          <a:lstStyle/>
          <a:p>
            <a:pPr algn="ctr" indent="0" marL="0">
              <a:lnSpc>
                <a:spcPts val="1050"/>
              </a:lnSpc>
              <a:buNone/>
            </a:pPr>
            <a:r>
              <a:rPr lang="en-US" sz="750" b="1" dirty="0">
                <a:solidFill>
                  <a:srgbClr val="059669"/>
                </a:solidFill>
                <a:latin typeface="Arial" pitchFamily="34" charset="0"/>
                <a:ea typeface="Arial" pitchFamily="34" charset="-122"/>
                <a:cs typeface="Arial" pitchFamily="34" charset="-120"/>
              </a:rPr>
              <a:t>Yes (with local models)</a:t>
            </a:r>
            <a:endParaRPr lang="en-US" sz="750" dirty="0"/>
          </a:p>
        </p:txBody>
      </p:sp>
      <p:sp>
        <p:nvSpPr>
          <p:cNvPr id="37" name="Text 35"/>
          <p:cNvSpPr/>
          <p:nvPr/>
        </p:nvSpPr>
        <p:spPr>
          <a:xfrm>
            <a:off x="5553124" y="3462338"/>
            <a:ext cx="3106987" cy="133350"/>
          </a:xfrm>
          <a:prstGeom prst="rect">
            <a:avLst/>
          </a:prstGeom>
          <a:noFill/>
          <a:ln/>
        </p:spPr>
        <p:txBody>
          <a:bodyPr wrap="square" lIns="0" tIns="0" rIns="0" bIns="0" rtlCol="0" anchor="t"/>
          <a:lstStyle/>
          <a:p>
            <a:pPr algn="ctr" indent="0" marL="0">
              <a:lnSpc>
                <a:spcPts val="1050"/>
              </a:lnSpc>
              <a:buNone/>
            </a:pPr>
            <a:r>
              <a:rPr lang="en-US" sz="750" b="1" dirty="0">
                <a:solidFill>
                  <a:srgbClr val="DC2626"/>
                </a:solidFill>
                <a:latin typeface="Arial" pitchFamily="34" charset="0"/>
                <a:ea typeface="Arial" pitchFamily="34" charset="-122"/>
                <a:cs typeface="Arial" pitchFamily="34" charset="-120"/>
              </a:rPr>
              <a:t>No (requires internet)</a:t>
            </a:r>
            <a:endParaRPr lang="en-US" sz="750" dirty="0"/>
          </a:p>
        </p:txBody>
      </p:sp>
      <p:sp>
        <p:nvSpPr>
          <p:cNvPr id="38" name="Text 36"/>
          <p:cNvSpPr/>
          <p:nvPr/>
        </p:nvSpPr>
        <p:spPr>
          <a:xfrm>
            <a:off x="381000" y="3814763"/>
            <a:ext cx="8382000" cy="247650"/>
          </a:xfrm>
          <a:prstGeom prst="rect">
            <a:avLst/>
          </a:prstGeom>
          <a:solidFill>
            <a:srgbClr val="FFFFFF"/>
          </a:solidFill>
          <a:ln/>
        </p:spPr>
        <p:txBody>
          <a:bodyPr wrap="square" rtlCol="0" anchor="ctr"/>
          <a:lstStyle/>
          <a:p>
            <a:pPr indent="0" marL="0">
              <a:buNone/>
            </a:pPr>
            <a:endParaRPr lang="en-US" dirty="0"/>
          </a:p>
        </p:txBody>
      </p:sp>
      <p:sp>
        <p:nvSpPr>
          <p:cNvPr id="39" name="Text 37"/>
          <p:cNvSpPr/>
          <p:nvPr/>
        </p:nvSpPr>
        <p:spPr>
          <a:xfrm>
            <a:off x="514350" y="3871913"/>
            <a:ext cx="1752737" cy="133350"/>
          </a:xfrm>
          <a:prstGeom prst="rect">
            <a:avLst/>
          </a:prstGeom>
          <a:noFill/>
          <a:ln/>
        </p:spPr>
        <p:txBody>
          <a:bodyPr wrap="square" lIns="0" tIns="0" rIns="0" bIns="0" rtlCol="0" anchor="t"/>
          <a:lstStyle/>
          <a:p>
            <a:pPr algn="l" indent="0" marL="0">
              <a:lnSpc>
                <a:spcPts val="1050"/>
              </a:lnSpc>
              <a:buNone/>
            </a:pPr>
            <a:r>
              <a:rPr lang="en-US" sz="750" dirty="0">
                <a:solidFill>
                  <a:srgbClr val="1A1F2E"/>
                </a:solidFill>
                <a:latin typeface="Arial" pitchFamily="34" charset="0"/>
                <a:ea typeface="Arial" pitchFamily="34" charset="-122"/>
                <a:cs typeface="Arial" pitchFamily="34" charset="-120"/>
              </a:rPr>
              <a:t>Best For</a:t>
            </a:r>
            <a:endParaRPr lang="en-US" sz="750" dirty="0"/>
          </a:p>
        </p:txBody>
      </p:sp>
      <p:sp>
        <p:nvSpPr>
          <p:cNvPr id="40" name="Text 38"/>
          <p:cNvSpPr/>
          <p:nvPr/>
        </p:nvSpPr>
        <p:spPr>
          <a:xfrm>
            <a:off x="2354659" y="3871913"/>
            <a:ext cx="3106987" cy="133350"/>
          </a:xfrm>
          <a:prstGeom prst="rect">
            <a:avLst/>
          </a:prstGeom>
          <a:noFill/>
          <a:ln/>
        </p:spPr>
        <p:txBody>
          <a:bodyPr wrap="square" lIns="0" tIns="0" rIns="0" bIns="0" rtlCol="0" anchor="t"/>
          <a:lstStyle/>
          <a:p>
            <a:pPr algn="ctr" indent="0" marL="0">
              <a:lnSpc>
                <a:spcPts val="1050"/>
              </a:lnSpc>
              <a:buNone/>
            </a:pPr>
            <a:r>
              <a:rPr lang="en-US" sz="750" b="1" dirty="0">
                <a:solidFill>
                  <a:srgbClr val="1A1F2E"/>
                </a:solidFill>
                <a:latin typeface="Arial" pitchFamily="34" charset="0"/>
                <a:ea typeface="Arial" pitchFamily="34" charset="-122"/>
                <a:cs typeface="Arial" pitchFamily="34" charset="-120"/>
              </a:rPr>
              <a:t>PHI/govt, offline, privacy-first</a:t>
            </a:r>
            <a:endParaRPr lang="en-US" sz="750" dirty="0"/>
          </a:p>
        </p:txBody>
      </p:sp>
      <p:sp>
        <p:nvSpPr>
          <p:cNvPr id="41" name="Text 39"/>
          <p:cNvSpPr/>
          <p:nvPr/>
        </p:nvSpPr>
        <p:spPr>
          <a:xfrm>
            <a:off x="5553124" y="3871913"/>
            <a:ext cx="3106987" cy="133350"/>
          </a:xfrm>
          <a:prstGeom prst="rect">
            <a:avLst/>
          </a:prstGeom>
          <a:noFill/>
          <a:ln/>
        </p:spPr>
        <p:txBody>
          <a:bodyPr wrap="square" lIns="0" tIns="0" rIns="0" bIns="0" rtlCol="0" anchor="t"/>
          <a:lstStyle/>
          <a:p>
            <a:pPr algn="ctr" indent="0" marL="0">
              <a:lnSpc>
                <a:spcPts val="1050"/>
              </a:lnSpc>
              <a:buNone/>
            </a:pPr>
            <a:r>
              <a:rPr lang="en-US" sz="750" b="1" dirty="0">
                <a:solidFill>
                  <a:srgbClr val="1A1F2E"/>
                </a:solidFill>
                <a:latin typeface="Arial" pitchFamily="34" charset="0"/>
                <a:ea typeface="Arial" pitchFamily="34" charset="-122"/>
                <a:cs typeface="Arial" pitchFamily="34" charset="-120"/>
              </a:rPr>
              <a:t>Power users, context-switching</a:t>
            </a:r>
            <a:endParaRPr lang="en-US" sz="750" dirty="0"/>
          </a:p>
        </p:txBody>
      </p:sp>
      <p:sp>
        <p:nvSpPr>
          <p:cNvPr id="42" name="Text 40"/>
          <p:cNvSpPr/>
          <p:nvPr/>
        </p:nvSpPr>
        <p:spPr>
          <a:xfrm>
            <a:off x="381000" y="4329113"/>
            <a:ext cx="4133850" cy="657225"/>
          </a:xfrm>
          <a:prstGeom prst="rect">
            <a:avLst/>
          </a:prstGeom>
          <a:solidFill>
            <a:srgbClr val="059669"/>
          </a:solidFill>
          <a:ln/>
        </p:spPr>
        <p:txBody>
          <a:bodyPr wrap="square" rtlCol="0" anchor="ctr"/>
          <a:lstStyle/>
          <a:p>
            <a:pPr indent="0" marL="0">
              <a:buNone/>
            </a:pPr>
            <a:endParaRPr lang="en-US" dirty="0"/>
          </a:p>
        </p:txBody>
      </p:sp>
      <p:sp>
        <p:nvSpPr>
          <p:cNvPr id="43" name="Text 41"/>
          <p:cNvSpPr/>
          <p:nvPr/>
        </p:nvSpPr>
        <p:spPr>
          <a:xfrm>
            <a:off x="495300" y="4443413"/>
            <a:ext cx="3983355"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FFFFFF"/>
                </a:solidFill>
                <a:latin typeface="Arial" pitchFamily="34" charset="0"/>
                <a:ea typeface="Arial" pitchFamily="34" charset="-122"/>
                <a:cs typeface="Arial" pitchFamily="34" charset="-120"/>
              </a:rPr>
              <a:t>CHOOSE SUPERWHISPER IF:</a:t>
            </a:r>
            <a:endParaRPr lang="en-US" sz="750" dirty="0"/>
          </a:p>
        </p:txBody>
      </p:sp>
      <p:sp>
        <p:nvSpPr>
          <p:cNvPr id="44" name="Text 42"/>
          <p:cNvSpPr/>
          <p:nvPr/>
        </p:nvSpPr>
        <p:spPr>
          <a:xfrm>
            <a:off x="495300" y="4614863"/>
            <a:ext cx="3983355" cy="257175"/>
          </a:xfrm>
          <a:prstGeom prst="rect">
            <a:avLst/>
          </a:prstGeom>
          <a:noFill/>
          <a:ln/>
        </p:spPr>
        <p:txBody>
          <a:bodyPr wrap="square" lIns="0" tIns="0" rIns="0" bIns="0" rtlCol="0" anchor="t"/>
          <a:lstStyle/>
          <a:p>
            <a:pPr algn="l" indent="0" marL="0">
              <a:lnSpc>
                <a:spcPts val="1013"/>
              </a:lnSpc>
              <a:buNone/>
            </a:pPr>
            <a:r>
              <a:rPr lang="en-US" sz="675" dirty="0">
                <a:solidFill>
                  <a:srgbClr val="FFFFFF">
                    <a:alpha val="90000"/>
                  </a:srgbClr>
                </a:solidFill>
                <a:latin typeface="Arial" pitchFamily="34" charset="0"/>
                <a:ea typeface="Arial" pitchFamily="34" charset="-122"/>
                <a:cs typeface="Arial" pitchFamily="34" charset="-120"/>
              </a:rPr>
              <a:t>You handle PHI or sensitive data, need true local processing, want offline capability, or prefer lifetime pricing.</a:t>
            </a:r>
            <a:endParaRPr lang="en-US" sz="675" dirty="0"/>
          </a:p>
        </p:txBody>
      </p:sp>
      <p:sp>
        <p:nvSpPr>
          <p:cNvPr id="45" name="Text 43"/>
          <p:cNvSpPr/>
          <p:nvPr/>
        </p:nvSpPr>
        <p:spPr>
          <a:xfrm>
            <a:off x="4629150" y="4329113"/>
            <a:ext cx="4133850" cy="657225"/>
          </a:xfrm>
          <a:prstGeom prst="rect">
            <a:avLst/>
          </a:prstGeom>
          <a:solidFill>
            <a:srgbClr val="1A1F2E"/>
          </a:solidFill>
          <a:ln/>
        </p:spPr>
        <p:txBody>
          <a:bodyPr wrap="square" rtlCol="0" anchor="ctr"/>
          <a:lstStyle/>
          <a:p>
            <a:pPr indent="0" marL="0">
              <a:buNone/>
            </a:pPr>
            <a:endParaRPr lang="en-US" dirty="0"/>
          </a:p>
        </p:txBody>
      </p:sp>
      <p:sp>
        <p:nvSpPr>
          <p:cNvPr id="46" name="Text 44"/>
          <p:cNvSpPr/>
          <p:nvPr/>
        </p:nvSpPr>
        <p:spPr>
          <a:xfrm>
            <a:off x="4743450" y="4443413"/>
            <a:ext cx="3983355"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CHOOSE WISPR FLOW IF:</a:t>
            </a:r>
            <a:endParaRPr lang="en-US" sz="750" dirty="0"/>
          </a:p>
        </p:txBody>
      </p:sp>
      <p:sp>
        <p:nvSpPr>
          <p:cNvPr id="47" name="Text 45"/>
          <p:cNvSpPr/>
          <p:nvPr/>
        </p:nvSpPr>
        <p:spPr>
          <a:xfrm>
            <a:off x="4743450" y="4614863"/>
            <a:ext cx="3983355" cy="257175"/>
          </a:xfrm>
          <a:prstGeom prst="rect">
            <a:avLst/>
          </a:prstGeom>
          <a:noFill/>
          <a:ln/>
        </p:spPr>
        <p:txBody>
          <a:bodyPr wrap="square" lIns="0" tIns="0" rIns="0" bIns="0" rtlCol="0" anchor="t"/>
          <a:lstStyle/>
          <a:p>
            <a:pPr algn="l" indent="0" marL="0">
              <a:lnSpc>
                <a:spcPts val="1013"/>
              </a:lnSpc>
              <a:buNone/>
            </a:pPr>
            <a:r>
              <a:rPr lang="en-US" sz="675" dirty="0">
                <a:solidFill>
                  <a:srgbClr val="FFFFFF">
                    <a:alpha val="80000"/>
                  </a:srgbClr>
                </a:solidFill>
                <a:latin typeface="Arial" pitchFamily="34" charset="0"/>
                <a:ea typeface="Arial" pitchFamily="34" charset="-122"/>
                <a:cs typeface="Arial" pitchFamily="34" charset="-120"/>
              </a:rPr>
              <a:t>You want best-in-class context formatting, always have internet, and can accept cloud processing with zero retention.</a:t>
            </a:r>
            <a:endParaRPr lang="en-US" sz="675"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F2E"/>
        </a:solidFill>
      </p:bgPr>
    </p:bg>
    <p:spTree>
      <p:nvGrpSpPr>
        <p:cNvPr id="1" name=""/>
        <p:cNvGrpSpPr/>
        <p:nvPr/>
      </p:nvGrpSpPr>
      <p:grpSpPr>
        <a:xfrm>
          <a:off x="0" y="0"/>
          <a:ext cx="0" cy="0"/>
          <a:chOff x="0" y="0"/>
          <a:chExt cx="0" cy="0"/>
        </a:xfrm>
      </p:grpSpPr>
      <p:sp>
        <p:nvSpPr>
          <p:cNvPr id="2" name="Text 0"/>
          <p:cNvSpPr/>
          <p:nvPr/>
        </p:nvSpPr>
        <p:spPr>
          <a:xfrm>
            <a:off x="381000" y="228600"/>
            <a:ext cx="8549640" cy="133350"/>
          </a:xfrm>
          <a:prstGeom prst="rect">
            <a:avLst/>
          </a:prstGeom>
          <a:noFill/>
          <a:ln/>
        </p:spPr>
        <p:txBody>
          <a:bodyPr wrap="square" lIns="0" tIns="0" rIns="0" bIns="0" rtlCol="0" anchor="t"/>
          <a:lstStyle/>
          <a:p>
            <a:pPr algn="l" indent="0" marL="0">
              <a:lnSpc>
                <a:spcPts val="1050"/>
              </a:lnSpc>
              <a:spcAft>
                <a:spcPts val="300"/>
              </a:spcAft>
              <a:buNone/>
            </a:pPr>
            <a:r>
              <a:rPr lang="en-US" sz="750" dirty="0">
                <a:solidFill>
                  <a:srgbClr val="C9A227"/>
                </a:solidFill>
                <a:latin typeface="Arial" pitchFamily="34" charset="0"/>
                <a:ea typeface="Arial" pitchFamily="34" charset="-122"/>
                <a:cs typeface="Arial" pitchFamily="34" charset="-120"/>
              </a:rPr>
              <a:t>DECISION GUIDE</a:t>
            </a:r>
            <a:endParaRPr lang="en-US" sz="750" dirty="0"/>
          </a:p>
        </p:txBody>
      </p:sp>
      <p:sp>
        <p:nvSpPr>
          <p:cNvPr id="3" name="Text 1"/>
          <p:cNvSpPr/>
          <p:nvPr/>
        </p:nvSpPr>
        <p:spPr>
          <a:xfrm>
            <a:off x="381000" y="400050"/>
            <a:ext cx="4284536" cy="247650"/>
          </a:xfrm>
          <a:prstGeom prst="rect">
            <a:avLst/>
          </a:prstGeom>
          <a:noFill/>
          <a:ln/>
        </p:spPr>
        <p:txBody>
          <a:bodyPr wrap="square" lIns="0" tIns="0" rIns="0" bIns="0" rtlCol="0" anchor="t"/>
          <a:lstStyle/>
          <a:p>
            <a:pPr algn="l" indent="0" marL="0">
              <a:lnSpc>
                <a:spcPts val="1950"/>
              </a:lnSpc>
              <a:buNone/>
            </a:pPr>
            <a:r>
              <a:rPr lang="en-US" sz="1950" dirty="0">
                <a:solidFill>
                  <a:srgbClr val="FFFFFF"/>
                </a:solidFill>
                <a:latin typeface="Georgia" pitchFamily="34" charset="0"/>
                <a:ea typeface="Georgia" pitchFamily="34" charset="-122"/>
                <a:cs typeface="Georgia" pitchFamily="34" charset="-120"/>
              </a:rPr>
              <a:t>Which Voice Tool Should I Use?</a:t>
            </a:r>
            <a:endParaRPr lang="en-US" sz="1950" dirty="0"/>
          </a:p>
        </p:txBody>
      </p:sp>
      <p:sp>
        <p:nvSpPr>
          <p:cNvPr id="4" name="Text 2"/>
          <p:cNvSpPr/>
          <p:nvPr/>
        </p:nvSpPr>
        <p:spPr>
          <a:xfrm>
            <a:off x="2817019" y="1098500"/>
            <a:ext cx="3509963" cy="350490"/>
          </a:xfrm>
          <a:prstGeom prst="rect">
            <a:avLst/>
          </a:prstGeom>
          <a:solidFill>
            <a:srgbClr val="C9A227"/>
          </a:solidFill>
          <a:ln/>
        </p:spPr>
        <p:txBody>
          <a:bodyPr wrap="square" rtlCol="0" anchor="ctr"/>
          <a:lstStyle/>
          <a:p>
            <a:pPr indent="0" marL="0">
              <a:buNone/>
            </a:pPr>
            <a:endParaRPr lang="en-US" dirty="0"/>
          </a:p>
        </p:txBody>
      </p:sp>
      <p:sp>
        <p:nvSpPr>
          <p:cNvPr id="5" name="Text 3"/>
          <p:cNvSpPr/>
          <p:nvPr/>
        </p:nvSpPr>
        <p:spPr>
          <a:xfrm>
            <a:off x="3007519" y="1193750"/>
            <a:ext cx="3191542" cy="159990"/>
          </a:xfrm>
          <a:prstGeom prst="rect">
            <a:avLst/>
          </a:prstGeom>
          <a:noFill/>
          <a:ln/>
        </p:spPr>
        <p:txBody>
          <a:bodyPr wrap="square" lIns="0" tIns="0" rIns="0" bIns="0" rtlCol="0" anchor="t"/>
          <a:lstStyle/>
          <a:p>
            <a:pPr algn="l" indent="0" marL="0">
              <a:lnSpc>
                <a:spcPts val="1260"/>
              </a:lnSpc>
              <a:buNone/>
            </a:pPr>
            <a:r>
              <a:rPr lang="en-US" sz="900" b="1" dirty="0">
                <a:solidFill>
                  <a:srgbClr val="1A1F2E"/>
                </a:solidFill>
                <a:latin typeface="Arial" pitchFamily="34" charset="0"/>
                <a:ea typeface="Arial" pitchFamily="34" charset="-122"/>
                <a:cs typeface="Arial" pitchFamily="34" charset="-120"/>
              </a:rPr>
              <a:t>START: Do you handle PHI or sensitive government data?</a:t>
            </a:r>
            <a:endParaRPr lang="en-US" sz="900" dirty="0"/>
          </a:p>
        </p:txBody>
      </p:sp>
      <p:sp>
        <p:nvSpPr>
          <p:cNvPr id="6" name="Text 4"/>
          <p:cNvSpPr/>
          <p:nvPr/>
        </p:nvSpPr>
        <p:spPr>
          <a:xfrm>
            <a:off x="381000" y="1715691"/>
            <a:ext cx="4095750" cy="298996"/>
          </a:xfrm>
          <a:prstGeom prst="rect">
            <a:avLst/>
          </a:prstGeom>
          <a:solidFill>
            <a:srgbClr val="059669"/>
          </a:solidFill>
          <a:ln/>
        </p:spPr>
        <p:txBody>
          <a:bodyPr wrap="square" rtlCol="0" anchor="ctr"/>
          <a:lstStyle/>
          <a:p>
            <a:pPr indent="0" marL="0">
              <a:buNone/>
            </a:pPr>
            <a:endParaRPr lang="en-US" dirty="0"/>
          </a:p>
        </p:txBody>
      </p:sp>
      <p:sp>
        <p:nvSpPr>
          <p:cNvPr id="7" name="Text 5"/>
          <p:cNvSpPr/>
          <p:nvPr/>
        </p:nvSpPr>
        <p:spPr>
          <a:xfrm>
            <a:off x="417767" y="1791891"/>
            <a:ext cx="4022217" cy="146596"/>
          </a:xfrm>
          <a:prstGeom prst="rect">
            <a:avLst/>
          </a:prstGeom>
          <a:noFill/>
          <a:ln/>
        </p:spPr>
        <p:txBody>
          <a:bodyPr wrap="square" lIns="0" tIns="0" rIns="0" bIns="0" rtlCol="0" anchor="t"/>
          <a:lstStyle/>
          <a:p>
            <a:pPr algn="ctr" indent="0" marL="0">
              <a:lnSpc>
                <a:spcPts val="1155"/>
              </a:lnSpc>
              <a:buNone/>
            </a:pPr>
            <a:r>
              <a:rPr lang="en-US" sz="825" b="1" dirty="0">
                <a:solidFill>
                  <a:srgbClr val="FFFFFF"/>
                </a:solidFill>
                <a:latin typeface="Arial" pitchFamily="34" charset="0"/>
                <a:ea typeface="Arial" pitchFamily="34" charset="-122"/>
                <a:cs typeface="Arial" pitchFamily="34" charset="-120"/>
              </a:rPr>
              <a:t>YES - Need Local Processing</a:t>
            </a:r>
            <a:endParaRPr lang="en-US" sz="825" dirty="0"/>
          </a:p>
        </p:txBody>
      </p:sp>
      <p:sp>
        <p:nvSpPr>
          <p:cNvPr id="8" name="Text 6"/>
          <p:cNvSpPr/>
          <p:nvPr/>
        </p:nvSpPr>
        <p:spPr>
          <a:xfrm>
            <a:off x="381000" y="2262336"/>
            <a:ext cx="4095750" cy="615255"/>
          </a:xfrm>
          <a:prstGeom prst="rect">
            <a:avLst/>
          </a:prstGeom>
          <a:solidFill>
            <a:srgbClr val="252B3D"/>
          </a:solidFill>
          <a:ln/>
        </p:spPr>
        <p:txBody>
          <a:bodyPr wrap="square" rtlCol="0" anchor="ctr"/>
          <a:lstStyle/>
          <a:p>
            <a:pPr indent="0" marL="0">
              <a:buNone/>
            </a:pPr>
            <a:endParaRPr lang="en-US" dirty="0"/>
          </a:p>
        </p:txBody>
      </p:sp>
      <p:sp>
        <p:nvSpPr>
          <p:cNvPr id="9" name="Text 7"/>
          <p:cNvSpPr/>
          <p:nvPr/>
        </p:nvSpPr>
        <p:spPr>
          <a:xfrm>
            <a:off x="476250" y="2357586"/>
            <a:ext cx="3983355" cy="133350"/>
          </a:xfrm>
          <a:prstGeom prst="rect">
            <a:avLst/>
          </a:prstGeom>
          <a:noFill/>
          <a:ln/>
        </p:spPr>
        <p:txBody>
          <a:bodyPr wrap="square" lIns="0" tIns="0" rIns="0" bIns="0" rtlCol="0" anchor="t"/>
          <a:lstStyle/>
          <a:p>
            <a:pPr algn="l" indent="0" marL="0">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What's your platform?</a:t>
            </a:r>
            <a:endParaRPr lang="en-US" sz="750" dirty="0"/>
          </a:p>
        </p:txBody>
      </p:sp>
      <p:sp>
        <p:nvSpPr>
          <p:cNvPr id="10" name="Text 8"/>
          <p:cNvSpPr/>
          <p:nvPr/>
        </p:nvSpPr>
        <p:spPr>
          <a:xfrm>
            <a:off x="476250" y="2548086"/>
            <a:ext cx="1263700" cy="234255"/>
          </a:xfrm>
          <a:prstGeom prst="rect">
            <a:avLst/>
          </a:prstGeom>
          <a:solidFill>
            <a:srgbClr val="C9A227">
              <a:alpha val="10000"/>
            </a:srgbClr>
          </a:solidFill>
          <a:ln/>
        </p:spPr>
        <p:txBody>
          <a:bodyPr wrap="square" rtlCol="0" anchor="ctr"/>
          <a:lstStyle/>
          <a:p>
            <a:pPr indent="0" marL="0">
              <a:buNone/>
            </a:pPr>
            <a:endParaRPr lang="en-US" dirty="0"/>
          </a:p>
        </p:txBody>
      </p:sp>
      <p:sp>
        <p:nvSpPr>
          <p:cNvPr id="11" name="Text 9"/>
          <p:cNvSpPr/>
          <p:nvPr/>
        </p:nvSpPr>
        <p:spPr>
          <a:xfrm>
            <a:off x="521906" y="2605236"/>
            <a:ext cx="1172388" cy="119955"/>
          </a:xfrm>
          <a:prstGeom prst="rect">
            <a:avLst/>
          </a:prstGeom>
          <a:noFill/>
          <a:ln/>
        </p:spPr>
        <p:txBody>
          <a:bodyPr wrap="square" lIns="0" tIns="0" rIns="0" bIns="0" rtlCol="0" anchor="t"/>
          <a:lstStyle/>
          <a:p>
            <a:pPr algn="ctr" indent="0" marL="0">
              <a:lnSpc>
                <a:spcPts val="945"/>
              </a:lnSpc>
              <a:buNone/>
            </a:pPr>
            <a:r>
              <a:rPr lang="en-US" sz="675" dirty="0">
                <a:solidFill>
                  <a:srgbClr val="FFFFFF"/>
                </a:solidFill>
                <a:latin typeface="Arial" pitchFamily="34" charset="0"/>
                <a:ea typeface="Arial" pitchFamily="34" charset="-122"/>
                <a:cs typeface="Arial" pitchFamily="34" charset="-120"/>
              </a:rPr>
              <a:t>Mac</a:t>
            </a:r>
            <a:endParaRPr lang="en-US" sz="675" dirty="0"/>
          </a:p>
        </p:txBody>
      </p:sp>
      <p:sp>
        <p:nvSpPr>
          <p:cNvPr id="12" name="Text 10"/>
          <p:cNvSpPr/>
          <p:nvPr/>
        </p:nvSpPr>
        <p:spPr>
          <a:xfrm>
            <a:off x="1797100" y="2548086"/>
            <a:ext cx="1263700" cy="234255"/>
          </a:xfrm>
          <a:prstGeom prst="rect">
            <a:avLst/>
          </a:prstGeom>
          <a:solidFill>
            <a:srgbClr val="C9A227">
              <a:alpha val="10000"/>
            </a:srgbClr>
          </a:solidFill>
          <a:ln/>
        </p:spPr>
        <p:txBody>
          <a:bodyPr wrap="square" rtlCol="0" anchor="ctr"/>
          <a:lstStyle/>
          <a:p>
            <a:pPr indent="0" marL="0">
              <a:buNone/>
            </a:pPr>
            <a:endParaRPr lang="en-US" dirty="0"/>
          </a:p>
        </p:txBody>
      </p:sp>
      <p:sp>
        <p:nvSpPr>
          <p:cNvPr id="13" name="Text 11"/>
          <p:cNvSpPr/>
          <p:nvPr/>
        </p:nvSpPr>
        <p:spPr>
          <a:xfrm>
            <a:off x="1842756" y="2605236"/>
            <a:ext cx="1172388" cy="119955"/>
          </a:xfrm>
          <a:prstGeom prst="rect">
            <a:avLst/>
          </a:prstGeom>
          <a:noFill/>
          <a:ln/>
        </p:spPr>
        <p:txBody>
          <a:bodyPr wrap="square" lIns="0" tIns="0" rIns="0" bIns="0" rtlCol="0" anchor="t"/>
          <a:lstStyle/>
          <a:p>
            <a:pPr algn="ctr" indent="0" marL="0">
              <a:lnSpc>
                <a:spcPts val="945"/>
              </a:lnSpc>
              <a:buNone/>
            </a:pPr>
            <a:r>
              <a:rPr lang="en-US" sz="675" dirty="0">
                <a:solidFill>
                  <a:srgbClr val="FFFFFF"/>
                </a:solidFill>
                <a:latin typeface="Arial" pitchFamily="34" charset="0"/>
                <a:ea typeface="Arial" pitchFamily="34" charset="-122"/>
                <a:cs typeface="Arial" pitchFamily="34" charset="-120"/>
              </a:rPr>
              <a:t>Windows</a:t>
            </a:r>
            <a:endParaRPr lang="en-US" sz="675" dirty="0"/>
          </a:p>
        </p:txBody>
      </p:sp>
      <p:sp>
        <p:nvSpPr>
          <p:cNvPr id="14" name="Text 12"/>
          <p:cNvSpPr/>
          <p:nvPr/>
        </p:nvSpPr>
        <p:spPr>
          <a:xfrm>
            <a:off x="3117949" y="2548086"/>
            <a:ext cx="1263700" cy="234255"/>
          </a:xfrm>
          <a:prstGeom prst="rect">
            <a:avLst/>
          </a:prstGeom>
          <a:solidFill>
            <a:srgbClr val="C9A227">
              <a:alpha val="10000"/>
            </a:srgbClr>
          </a:solidFill>
          <a:ln/>
        </p:spPr>
        <p:txBody>
          <a:bodyPr wrap="square" rtlCol="0" anchor="ctr"/>
          <a:lstStyle/>
          <a:p>
            <a:pPr indent="0" marL="0">
              <a:buNone/>
            </a:pPr>
            <a:endParaRPr lang="en-US" dirty="0"/>
          </a:p>
        </p:txBody>
      </p:sp>
      <p:sp>
        <p:nvSpPr>
          <p:cNvPr id="15" name="Text 13"/>
          <p:cNvSpPr/>
          <p:nvPr/>
        </p:nvSpPr>
        <p:spPr>
          <a:xfrm>
            <a:off x="3163605" y="2605236"/>
            <a:ext cx="1172388" cy="119955"/>
          </a:xfrm>
          <a:prstGeom prst="rect">
            <a:avLst/>
          </a:prstGeom>
          <a:noFill/>
          <a:ln/>
        </p:spPr>
        <p:txBody>
          <a:bodyPr wrap="square" lIns="0" tIns="0" rIns="0" bIns="0" rtlCol="0" anchor="t"/>
          <a:lstStyle/>
          <a:p>
            <a:pPr algn="ctr" indent="0" marL="0">
              <a:lnSpc>
                <a:spcPts val="945"/>
              </a:lnSpc>
              <a:buNone/>
            </a:pPr>
            <a:r>
              <a:rPr lang="en-US" sz="675" dirty="0">
                <a:solidFill>
                  <a:srgbClr val="FFFFFF"/>
                </a:solidFill>
                <a:latin typeface="Arial" pitchFamily="34" charset="0"/>
                <a:ea typeface="Arial" pitchFamily="34" charset="-122"/>
                <a:cs typeface="Arial" pitchFamily="34" charset="-120"/>
              </a:rPr>
              <a:t>Linux</a:t>
            </a:r>
            <a:endParaRPr lang="en-US" sz="675" dirty="0"/>
          </a:p>
        </p:txBody>
      </p:sp>
      <p:sp>
        <p:nvSpPr>
          <p:cNvPr id="16" name="Text 14"/>
          <p:cNvSpPr/>
          <p:nvPr/>
        </p:nvSpPr>
        <p:spPr>
          <a:xfrm>
            <a:off x="381000" y="3125242"/>
            <a:ext cx="2019300" cy="462707"/>
          </a:xfrm>
          <a:prstGeom prst="rect">
            <a:avLst/>
          </a:prstGeom>
          <a:solidFill>
            <a:srgbClr val="059669"/>
          </a:solidFill>
          <a:ln/>
        </p:spPr>
        <p:txBody>
          <a:bodyPr wrap="square" rtlCol="0" anchor="ctr"/>
          <a:lstStyle/>
          <a:p>
            <a:pPr indent="0" marL="0">
              <a:buNone/>
            </a:pPr>
            <a:endParaRPr lang="en-US" dirty="0"/>
          </a:p>
        </p:txBody>
      </p:sp>
      <p:sp>
        <p:nvSpPr>
          <p:cNvPr id="17" name="Text 15"/>
          <p:cNvSpPr/>
          <p:nvPr/>
        </p:nvSpPr>
        <p:spPr>
          <a:xfrm>
            <a:off x="457962" y="3220492"/>
            <a:ext cx="1865376" cy="146596"/>
          </a:xfrm>
          <a:prstGeom prst="rect">
            <a:avLst/>
          </a:prstGeom>
          <a:noFill/>
          <a:ln/>
        </p:spPr>
        <p:txBody>
          <a:bodyPr wrap="square" lIns="0" tIns="0" rIns="0" bIns="0" rtlCol="0" anchor="t"/>
          <a:lstStyle/>
          <a:p>
            <a:pPr algn="ctr" indent="0" marL="0">
              <a:lnSpc>
                <a:spcPts val="1155"/>
              </a:lnSpc>
              <a:spcAft>
                <a:spcPts val="150"/>
              </a:spcAft>
              <a:buNone/>
            </a:pPr>
            <a:r>
              <a:rPr lang="en-US" sz="825" b="1" dirty="0">
                <a:solidFill>
                  <a:srgbClr val="FFFFFF"/>
                </a:solidFill>
                <a:latin typeface="Arial" pitchFamily="34" charset="0"/>
                <a:ea typeface="Arial" pitchFamily="34" charset="-122"/>
                <a:cs typeface="Arial" pitchFamily="34" charset="-120"/>
              </a:rPr>
              <a:t>SuperWhisper</a:t>
            </a:r>
            <a:endParaRPr lang="en-US" sz="825" dirty="0"/>
          </a:p>
        </p:txBody>
      </p:sp>
      <p:sp>
        <p:nvSpPr>
          <p:cNvPr id="18" name="Text 16"/>
          <p:cNvSpPr/>
          <p:nvPr/>
        </p:nvSpPr>
        <p:spPr>
          <a:xfrm>
            <a:off x="457962" y="3386138"/>
            <a:ext cx="1865376" cy="106561"/>
          </a:xfrm>
          <a:prstGeom prst="rect">
            <a:avLst/>
          </a:prstGeom>
          <a:noFill/>
          <a:ln/>
        </p:spPr>
        <p:txBody>
          <a:bodyPr wrap="square" lIns="0" tIns="0" rIns="0" bIns="0" rtlCol="0" anchor="t"/>
          <a:lstStyle/>
          <a:p>
            <a:pPr algn="ctr" indent="0" marL="0">
              <a:lnSpc>
                <a:spcPts val="840"/>
              </a:lnSpc>
              <a:buNone/>
            </a:pPr>
            <a:r>
              <a:rPr lang="en-US" sz="600" dirty="0">
                <a:solidFill>
                  <a:srgbClr val="FFFFFF">
                    <a:alpha val="80000"/>
                  </a:srgbClr>
                </a:solidFill>
                <a:latin typeface="Arial" pitchFamily="34" charset="0"/>
                <a:ea typeface="Arial" pitchFamily="34" charset="-122"/>
                <a:cs typeface="Arial" pitchFamily="34" charset="-120"/>
              </a:rPr>
              <a:t>Mac/Windows</a:t>
            </a:r>
            <a:endParaRPr lang="en-US" sz="600" dirty="0"/>
          </a:p>
        </p:txBody>
      </p:sp>
      <p:sp>
        <p:nvSpPr>
          <p:cNvPr id="19" name="Text 17"/>
          <p:cNvSpPr/>
          <p:nvPr/>
        </p:nvSpPr>
        <p:spPr>
          <a:xfrm>
            <a:off x="2457450" y="3125242"/>
            <a:ext cx="2019300" cy="462707"/>
          </a:xfrm>
          <a:prstGeom prst="rect">
            <a:avLst/>
          </a:prstGeom>
          <a:solidFill>
            <a:srgbClr val="059669"/>
          </a:solidFill>
          <a:ln/>
        </p:spPr>
        <p:txBody>
          <a:bodyPr wrap="square" rtlCol="0" anchor="ctr"/>
          <a:lstStyle/>
          <a:p>
            <a:pPr indent="0" marL="0">
              <a:buNone/>
            </a:pPr>
            <a:endParaRPr lang="en-US" dirty="0"/>
          </a:p>
        </p:txBody>
      </p:sp>
      <p:sp>
        <p:nvSpPr>
          <p:cNvPr id="20" name="Text 18"/>
          <p:cNvSpPr/>
          <p:nvPr/>
        </p:nvSpPr>
        <p:spPr>
          <a:xfrm>
            <a:off x="2534412" y="3220492"/>
            <a:ext cx="1865376" cy="146596"/>
          </a:xfrm>
          <a:prstGeom prst="rect">
            <a:avLst/>
          </a:prstGeom>
          <a:noFill/>
          <a:ln/>
        </p:spPr>
        <p:txBody>
          <a:bodyPr wrap="square" lIns="0" tIns="0" rIns="0" bIns="0" rtlCol="0" anchor="t"/>
          <a:lstStyle/>
          <a:p>
            <a:pPr algn="ctr" indent="0" marL="0">
              <a:lnSpc>
                <a:spcPts val="1155"/>
              </a:lnSpc>
              <a:spcAft>
                <a:spcPts val="150"/>
              </a:spcAft>
              <a:buNone/>
            </a:pPr>
            <a:r>
              <a:rPr lang="en-US" sz="825" b="1" dirty="0">
                <a:solidFill>
                  <a:srgbClr val="FFFFFF"/>
                </a:solidFill>
                <a:latin typeface="Arial" pitchFamily="34" charset="0"/>
                <a:ea typeface="Arial" pitchFamily="34" charset="-122"/>
                <a:cs typeface="Arial" pitchFamily="34" charset="-120"/>
              </a:rPr>
              <a:t>Wispr Flow</a:t>
            </a:r>
            <a:endParaRPr lang="en-US" sz="825" dirty="0"/>
          </a:p>
        </p:txBody>
      </p:sp>
      <p:sp>
        <p:nvSpPr>
          <p:cNvPr id="21" name="Text 19"/>
          <p:cNvSpPr/>
          <p:nvPr/>
        </p:nvSpPr>
        <p:spPr>
          <a:xfrm>
            <a:off x="2534412" y="3386138"/>
            <a:ext cx="1865376" cy="106561"/>
          </a:xfrm>
          <a:prstGeom prst="rect">
            <a:avLst/>
          </a:prstGeom>
          <a:noFill/>
          <a:ln/>
        </p:spPr>
        <p:txBody>
          <a:bodyPr wrap="square" lIns="0" tIns="0" rIns="0" bIns="0" rtlCol="0" anchor="t"/>
          <a:lstStyle/>
          <a:p>
            <a:pPr algn="ctr" indent="0" marL="0">
              <a:lnSpc>
                <a:spcPts val="840"/>
              </a:lnSpc>
              <a:buNone/>
            </a:pPr>
            <a:r>
              <a:rPr lang="en-US" sz="600" dirty="0">
                <a:solidFill>
                  <a:srgbClr val="FFFFFF">
                    <a:alpha val="80000"/>
                  </a:srgbClr>
                </a:solidFill>
                <a:latin typeface="Arial" pitchFamily="34" charset="0"/>
                <a:ea typeface="Arial" pitchFamily="34" charset="-122"/>
                <a:cs typeface="Arial" pitchFamily="34" charset="-120"/>
              </a:rPr>
              <a:t>Privacy Mode ON</a:t>
            </a:r>
            <a:endParaRPr lang="en-US" sz="600" dirty="0"/>
          </a:p>
        </p:txBody>
      </p:sp>
      <p:sp>
        <p:nvSpPr>
          <p:cNvPr id="22" name="Text 20"/>
          <p:cNvSpPr/>
          <p:nvPr/>
        </p:nvSpPr>
        <p:spPr>
          <a:xfrm>
            <a:off x="381000" y="3835598"/>
            <a:ext cx="4095750" cy="272355"/>
          </a:xfrm>
          <a:prstGeom prst="rect">
            <a:avLst/>
          </a:prstGeom>
          <a:solidFill>
            <a:srgbClr val="FEF3C7"/>
          </a:solidFill>
          <a:ln/>
        </p:spPr>
        <p:txBody>
          <a:bodyPr wrap="square" rtlCol="0" anchor="ctr"/>
          <a:lstStyle/>
          <a:p>
            <a:pPr indent="0" marL="0">
              <a:buNone/>
            </a:pPr>
            <a:endParaRPr lang="en-US" dirty="0"/>
          </a:p>
        </p:txBody>
      </p:sp>
      <p:sp>
        <p:nvSpPr>
          <p:cNvPr id="23" name="Text 21"/>
          <p:cNvSpPr/>
          <p:nvPr/>
        </p:nvSpPr>
        <p:spPr>
          <a:xfrm>
            <a:off x="417767" y="3911798"/>
            <a:ext cx="4022217" cy="119955"/>
          </a:xfrm>
          <a:prstGeom prst="rect">
            <a:avLst/>
          </a:prstGeom>
          <a:noFill/>
          <a:ln/>
        </p:spPr>
        <p:txBody>
          <a:bodyPr wrap="square" lIns="0" tIns="0" rIns="0" bIns="0" rtlCol="0" anchor="t"/>
          <a:lstStyle/>
          <a:p>
            <a:pPr algn="ctr" indent="0" marL="0">
              <a:lnSpc>
                <a:spcPts val="945"/>
              </a:lnSpc>
              <a:buNone/>
            </a:pPr>
            <a:r>
              <a:rPr lang="en-US" sz="675" b="1" dirty="0">
                <a:solidFill>
                  <a:srgbClr val="92400E"/>
                </a:solidFill>
                <a:latin typeface="Arial" pitchFamily="34" charset="0"/>
                <a:ea typeface="Arial" pitchFamily="34" charset="-122"/>
                <a:cs typeface="Arial" pitchFamily="34" charset="-120"/>
              </a:rPr>
              <a:t>Linux only:</a:t>
            </a:r>
            <a:pPr algn="ctr" indent="0" marL="0">
              <a:lnSpc>
                <a:spcPts val="945"/>
              </a:lnSpc>
              <a:buNone/>
            </a:pPr>
            <a:r>
              <a:rPr lang="en-US" sz="675" dirty="0">
                <a:solidFill>
                  <a:srgbClr val="92400E"/>
                </a:solidFill>
                <a:latin typeface="Arial" pitchFamily="34" charset="0"/>
                <a:ea typeface="Arial" pitchFamily="34" charset="-122"/>
                <a:cs typeface="Arial" pitchFamily="34" charset="-120"/>
              </a:rPr>
              <a:t> Use Wispr Flow with Privacy Mode</a:t>
            </a:r>
            <a:endParaRPr lang="en-US" sz="675" dirty="0"/>
          </a:p>
        </p:txBody>
      </p:sp>
      <p:sp>
        <p:nvSpPr>
          <p:cNvPr id="24" name="Text 22"/>
          <p:cNvSpPr/>
          <p:nvPr/>
        </p:nvSpPr>
        <p:spPr>
          <a:xfrm>
            <a:off x="4667250" y="1715691"/>
            <a:ext cx="4095750" cy="298996"/>
          </a:xfrm>
          <a:prstGeom prst="rect">
            <a:avLst/>
          </a:prstGeom>
          <a:solidFill>
            <a:srgbClr val="6B7280"/>
          </a:solidFill>
          <a:ln/>
        </p:spPr>
        <p:txBody>
          <a:bodyPr wrap="square" rtlCol="0" anchor="ctr"/>
          <a:lstStyle/>
          <a:p>
            <a:pPr indent="0" marL="0">
              <a:buNone/>
            </a:pPr>
            <a:endParaRPr lang="en-US" dirty="0"/>
          </a:p>
        </p:txBody>
      </p:sp>
      <p:sp>
        <p:nvSpPr>
          <p:cNvPr id="25" name="Text 23"/>
          <p:cNvSpPr/>
          <p:nvPr/>
        </p:nvSpPr>
        <p:spPr>
          <a:xfrm>
            <a:off x="4704017" y="1791891"/>
            <a:ext cx="4022217" cy="146596"/>
          </a:xfrm>
          <a:prstGeom prst="rect">
            <a:avLst/>
          </a:prstGeom>
          <a:noFill/>
          <a:ln/>
        </p:spPr>
        <p:txBody>
          <a:bodyPr wrap="square" lIns="0" tIns="0" rIns="0" bIns="0" rtlCol="0" anchor="t"/>
          <a:lstStyle/>
          <a:p>
            <a:pPr algn="ctr" indent="0" marL="0">
              <a:lnSpc>
                <a:spcPts val="1155"/>
              </a:lnSpc>
              <a:buNone/>
            </a:pPr>
            <a:r>
              <a:rPr lang="en-US" sz="825" b="1" dirty="0">
                <a:solidFill>
                  <a:srgbClr val="FFFFFF"/>
                </a:solidFill>
                <a:latin typeface="Arial" pitchFamily="34" charset="0"/>
                <a:ea typeface="Arial" pitchFamily="34" charset="-122"/>
                <a:cs typeface="Arial" pitchFamily="34" charset="-120"/>
              </a:rPr>
              <a:t>NO - Cloud OK</a:t>
            </a:r>
            <a:endParaRPr lang="en-US" sz="825" dirty="0"/>
          </a:p>
        </p:txBody>
      </p:sp>
      <p:sp>
        <p:nvSpPr>
          <p:cNvPr id="26" name="Text 24"/>
          <p:cNvSpPr/>
          <p:nvPr/>
        </p:nvSpPr>
        <p:spPr>
          <a:xfrm>
            <a:off x="4667250" y="2262336"/>
            <a:ext cx="4095750" cy="615255"/>
          </a:xfrm>
          <a:prstGeom prst="rect">
            <a:avLst/>
          </a:prstGeom>
          <a:solidFill>
            <a:srgbClr val="252B3D"/>
          </a:solidFill>
          <a:ln/>
        </p:spPr>
        <p:txBody>
          <a:bodyPr wrap="square" rtlCol="0" anchor="ctr"/>
          <a:lstStyle/>
          <a:p>
            <a:pPr indent="0" marL="0">
              <a:buNone/>
            </a:pPr>
            <a:endParaRPr lang="en-US" dirty="0"/>
          </a:p>
        </p:txBody>
      </p:sp>
      <p:sp>
        <p:nvSpPr>
          <p:cNvPr id="27" name="Text 25"/>
          <p:cNvSpPr/>
          <p:nvPr/>
        </p:nvSpPr>
        <p:spPr>
          <a:xfrm>
            <a:off x="4762500" y="2357586"/>
            <a:ext cx="3983355" cy="133350"/>
          </a:xfrm>
          <a:prstGeom prst="rect">
            <a:avLst/>
          </a:prstGeom>
          <a:noFill/>
          <a:ln/>
        </p:spPr>
        <p:txBody>
          <a:bodyPr wrap="square" lIns="0" tIns="0" rIns="0" bIns="0" rtlCol="0" anchor="t"/>
          <a:lstStyle/>
          <a:p>
            <a:pPr algn="l" indent="0" marL="0">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What features do you need?</a:t>
            </a:r>
            <a:endParaRPr lang="en-US" sz="750" dirty="0"/>
          </a:p>
        </p:txBody>
      </p:sp>
      <p:sp>
        <p:nvSpPr>
          <p:cNvPr id="28" name="Text 26"/>
          <p:cNvSpPr/>
          <p:nvPr/>
        </p:nvSpPr>
        <p:spPr>
          <a:xfrm>
            <a:off x="4762500" y="2548086"/>
            <a:ext cx="1263700" cy="234255"/>
          </a:xfrm>
          <a:prstGeom prst="rect">
            <a:avLst/>
          </a:prstGeom>
          <a:solidFill>
            <a:srgbClr val="C9A227">
              <a:alpha val="10000"/>
            </a:srgbClr>
          </a:solidFill>
          <a:ln/>
        </p:spPr>
        <p:txBody>
          <a:bodyPr wrap="square" rtlCol="0" anchor="ctr"/>
          <a:lstStyle/>
          <a:p>
            <a:pPr indent="0" marL="0">
              <a:buNone/>
            </a:pPr>
            <a:endParaRPr lang="en-US" dirty="0"/>
          </a:p>
        </p:txBody>
      </p:sp>
      <p:sp>
        <p:nvSpPr>
          <p:cNvPr id="29" name="Text 27"/>
          <p:cNvSpPr/>
          <p:nvPr/>
        </p:nvSpPr>
        <p:spPr>
          <a:xfrm>
            <a:off x="4808156" y="2605236"/>
            <a:ext cx="1172388" cy="119955"/>
          </a:xfrm>
          <a:prstGeom prst="rect">
            <a:avLst/>
          </a:prstGeom>
          <a:noFill/>
          <a:ln/>
        </p:spPr>
        <p:txBody>
          <a:bodyPr wrap="square" lIns="0" tIns="0" rIns="0" bIns="0" rtlCol="0" anchor="t"/>
          <a:lstStyle/>
          <a:p>
            <a:pPr algn="ctr" indent="0" marL="0">
              <a:lnSpc>
                <a:spcPts val="945"/>
              </a:lnSpc>
              <a:buNone/>
            </a:pPr>
            <a:r>
              <a:rPr lang="en-US" sz="675" dirty="0">
                <a:solidFill>
                  <a:srgbClr val="FFFFFF"/>
                </a:solidFill>
                <a:latin typeface="Arial" pitchFamily="34" charset="0"/>
                <a:ea typeface="Arial" pitchFamily="34" charset="-122"/>
                <a:cs typeface="Arial" pitchFamily="34" charset="-120"/>
              </a:rPr>
              <a:t>Basic</a:t>
            </a:r>
            <a:endParaRPr lang="en-US" sz="675" dirty="0"/>
          </a:p>
        </p:txBody>
      </p:sp>
      <p:sp>
        <p:nvSpPr>
          <p:cNvPr id="30" name="Text 28"/>
          <p:cNvSpPr/>
          <p:nvPr/>
        </p:nvSpPr>
        <p:spPr>
          <a:xfrm>
            <a:off x="6083350" y="2548086"/>
            <a:ext cx="1263700" cy="234255"/>
          </a:xfrm>
          <a:prstGeom prst="rect">
            <a:avLst/>
          </a:prstGeom>
          <a:solidFill>
            <a:srgbClr val="C9A227">
              <a:alpha val="10000"/>
            </a:srgbClr>
          </a:solidFill>
          <a:ln/>
        </p:spPr>
        <p:txBody>
          <a:bodyPr wrap="square" rtlCol="0" anchor="ctr"/>
          <a:lstStyle/>
          <a:p>
            <a:pPr indent="0" marL="0">
              <a:buNone/>
            </a:pPr>
            <a:endParaRPr lang="en-US" dirty="0"/>
          </a:p>
        </p:txBody>
      </p:sp>
      <p:sp>
        <p:nvSpPr>
          <p:cNvPr id="31" name="Text 29"/>
          <p:cNvSpPr/>
          <p:nvPr/>
        </p:nvSpPr>
        <p:spPr>
          <a:xfrm>
            <a:off x="6129006" y="2605236"/>
            <a:ext cx="1172388" cy="119955"/>
          </a:xfrm>
          <a:prstGeom prst="rect">
            <a:avLst/>
          </a:prstGeom>
          <a:noFill/>
          <a:ln/>
        </p:spPr>
        <p:txBody>
          <a:bodyPr wrap="square" lIns="0" tIns="0" rIns="0" bIns="0" rtlCol="0" anchor="t"/>
          <a:lstStyle/>
          <a:p>
            <a:pPr algn="ctr" indent="0" marL="0">
              <a:lnSpc>
                <a:spcPts val="945"/>
              </a:lnSpc>
              <a:buNone/>
            </a:pPr>
            <a:r>
              <a:rPr lang="en-US" sz="675" dirty="0">
                <a:solidFill>
                  <a:srgbClr val="FFFFFF"/>
                </a:solidFill>
                <a:latin typeface="Arial" pitchFamily="34" charset="0"/>
                <a:ea typeface="Arial" pitchFamily="34" charset="-122"/>
                <a:cs typeface="Arial" pitchFamily="34" charset="-120"/>
              </a:rPr>
              <a:t>Context</a:t>
            </a:r>
            <a:endParaRPr lang="en-US" sz="675" dirty="0"/>
          </a:p>
        </p:txBody>
      </p:sp>
      <p:sp>
        <p:nvSpPr>
          <p:cNvPr id="32" name="Text 30"/>
          <p:cNvSpPr/>
          <p:nvPr/>
        </p:nvSpPr>
        <p:spPr>
          <a:xfrm>
            <a:off x="7404199" y="2548086"/>
            <a:ext cx="1263700" cy="234255"/>
          </a:xfrm>
          <a:prstGeom prst="rect">
            <a:avLst/>
          </a:prstGeom>
          <a:solidFill>
            <a:srgbClr val="C9A227">
              <a:alpha val="10000"/>
            </a:srgbClr>
          </a:solidFill>
          <a:ln/>
        </p:spPr>
        <p:txBody>
          <a:bodyPr wrap="square" rtlCol="0" anchor="ctr"/>
          <a:lstStyle/>
          <a:p>
            <a:pPr indent="0" marL="0">
              <a:buNone/>
            </a:pPr>
            <a:endParaRPr lang="en-US" dirty="0"/>
          </a:p>
        </p:txBody>
      </p:sp>
      <p:sp>
        <p:nvSpPr>
          <p:cNvPr id="33" name="Text 31"/>
          <p:cNvSpPr/>
          <p:nvPr/>
        </p:nvSpPr>
        <p:spPr>
          <a:xfrm>
            <a:off x="7449855" y="2605236"/>
            <a:ext cx="1172388" cy="119955"/>
          </a:xfrm>
          <a:prstGeom prst="rect">
            <a:avLst/>
          </a:prstGeom>
          <a:noFill/>
          <a:ln/>
        </p:spPr>
        <p:txBody>
          <a:bodyPr wrap="square" lIns="0" tIns="0" rIns="0" bIns="0" rtlCol="0" anchor="t"/>
          <a:lstStyle/>
          <a:p>
            <a:pPr algn="ctr" indent="0" marL="0">
              <a:lnSpc>
                <a:spcPts val="945"/>
              </a:lnSpc>
              <a:buNone/>
            </a:pPr>
            <a:r>
              <a:rPr lang="en-US" sz="675" dirty="0">
                <a:solidFill>
                  <a:srgbClr val="FFFFFF"/>
                </a:solidFill>
                <a:latin typeface="Arial" pitchFamily="34" charset="0"/>
                <a:ea typeface="Arial" pitchFamily="34" charset="-122"/>
                <a:cs typeface="Arial" pitchFamily="34" charset="-120"/>
              </a:rPr>
              <a:t>Free</a:t>
            </a:r>
            <a:endParaRPr lang="en-US" sz="675" dirty="0"/>
          </a:p>
        </p:txBody>
      </p:sp>
      <p:sp>
        <p:nvSpPr>
          <p:cNvPr id="34" name="Text 32"/>
          <p:cNvSpPr/>
          <p:nvPr/>
        </p:nvSpPr>
        <p:spPr>
          <a:xfrm>
            <a:off x="4667250" y="3125242"/>
            <a:ext cx="2019300" cy="462707"/>
          </a:xfrm>
          <a:prstGeom prst="rect">
            <a:avLst/>
          </a:prstGeom>
          <a:solidFill>
            <a:srgbClr val="3B82F6"/>
          </a:solidFill>
          <a:ln/>
        </p:spPr>
        <p:txBody>
          <a:bodyPr wrap="square" rtlCol="0" anchor="ctr"/>
          <a:lstStyle/>
          <a:p>
            <a:pPr indent="0" marL="0">
              <a:buNone/>
            </a:pPr>
            <a:endParaRPr lang="en-US" dirty="0"/>
          </a:p>
        </p:txBody>
      </p:sp>
      <p:sp>
        <p:nvSpPr>
          <p:cNvPr id="35" name="Text 33"/>
          <p:cNvSpPr/>
          <p:nvPr/>
        </p:nvSpPr>
        <p:spPr>
          <a:xfrm>
            <a:off x="4744212" y="3220492"/>
            <a:ext cx="1865376" cy="146596"/>
          </a:xfrm>
          <a:prstGeom prst="rect">
            <a:avLst/>
          </a:prstGeom>
          <a:noFill/>
          <a:ln/>
        </p:spPr>
        <p:txBody>
          <a:bodyPr wrap="square" lIns="0" tIns="0" rIns="0" bIns="0" rtlCol="0" anchor="t"/>
          <a:lstStyle/>
          <a:p>
            <a:pPr algn="ctr" indent="0" marL="0">
              <a:lnSpc>
                <a:spcPts val="1155"/>
              </a:lnSpc>
              <a:spcAft>
                <a:spcPts val="150"/>
              </a:spcAft>
              <a:buNone/>
            </a:pPr>
            <a:r>
              <a:rPr lang="en-US" sz="825" b="1" dirty="0">
                <a:solidFill>
                  <a:srgbClr val="FFFFFF"/>
                </a:solidFill>
                <a:latin typeface="Arial" pitchFamily="34" charset="0"/>
                <a:ea typeface="Arial" pitchFamily="34" charset="-122"/>
                <a:cs typeface="Arial" pitchFamily="34" charset="-120"/>
              </a:rPr>
              <a:t>SuperWhisper</a:t>
            </a:r>
            <a:endParaRPr lang="en-US" sz="825" dirty="0"/>
          </a:p>
        </p:txBody>
      </p:sp>
      <p:sp>
        <p:nvSpPr>
          <p:cNvPr id="36" name="Text 34"/>
          <p:cNvSpPr/>
          <p:nvPr/>
        </p:nvSpPr>
        <p:spPr>
          <a:xfrm>
            <a:off x="4744212" y="3386138"/>
            <a:ext cx="1865376" cy="106561"/>
          </a:xfrm>
          <a:prstGeom prst="rect">
            <a:avLst/>
          </a:prstGeom>
          <a:noFill/>
          <a:ln/>
        </p:spPr>
        <p:txBody>
          <a:bodyPr wrap="square" lIns="0" tIns="0" rIns="0" bIns="0" rtlCol="0" anchor="t"/>
          <a:lstStyle/>
          <a:p>
            <a:pPr algn="ctr" indent="0" marL="0">
              <a:lnSpc>
                <a:spcPts val="840"/>
              </a:lnSpc>
              <a:buNone/>
            </a:pPr>
            <a:r>
              <a:rPr lang="en-US" sz="600" dirty="0">
                <a:solidFill>
                  <a:srgbClr val="FFFFFF">
                    <a:alpha val="80000"/>
                  </a:srgbClr>
                </a:solidFill>
                <a:latin typeface="Arial" pitchFamily="34" charset="0"/>
                <a:ea typeface="Arial" pitchFamily="34" charset="-122"/>
                <a:cs typeface="Arial" pitchFamily="34" charset="-120"/>
              </a:rPr>
              <a:t>Simple + Local</a:t>
            </a:r>
            <a:endParaRPr lang="en-US" sz="600" dirty="0"/>
          </a:p>
        </p:txBody>
      </p:sp>
      <p:sp>
        <p:nvSpPr>
          <p:cNvPr id="37" name="Text 35"/>
          <p:cNvSpPr/>
          <p:nvPr/>
        </p:nvSpPr>
        <p:spPr>
          <a:xfrm>
            <a:off x="6743700" y="3125242"/>
            <a:ext cx="2019300" cy="462707"/>
          </a:xfrm>
          <a:prstGeom prst="rect">
            <a:avLst/>
          </a:prstGeom>
          <a:solidFill>
            <a:srgbClr val="3B82F6"/>
          </a:solidFill>
          <a:ln/>
        </p:spPr>
        <p:txBody>
          <a:bodyPr wrap="square" rtlCol="0" anchor="ctr"/>
          <a:lstStyle/>
          <a:p>
            <a:pPr indent="0" marL="0">
              <a:buNone/>
            </a:pPr>
            <a:endParaRPr lang="en-US" dirty="0"/>
          </a:p>
        </p:txBody>
      </p:sp>
      <p:sp>
        <p:nvSpPr>
          <p:cNvPr id="38" name="Text 36"/>
          <p:cNvSpPr/>
          <p:nvPr/>
        </p:nvSpPr>
        <p:spPr>
          <a:xfrm>
            <a:off x="6820662" y="3220492"/>
            <a:ext cx="1865376" cy="146596"/>
          </a:xfrm>
          <a:prstGeom prst="rect">
            <a:avLst/>
          </a:prstGeom>
          <a:noFill/>
          <a:ln/>
        </p:spPr>
        <p:txBody>
          <a:bodyPr wrap="square" lIns="0" tIns="0" rIns="0" bIns="0" rtlCol="0" anchor="t"/>
          <a:lstStyle/>
          <a:p>
            <a:pPr algn="ctr" indent="0" marL="0">
              <a:lnSpc>
                <a:spcPts val="1155"/>
              </a:lnSpc>
              <a:spcAft>
                <a:spcPts val="150"/>
              </a:spcAft>
              <a:buNone/>
            </a:pPr>
            <a:r>
              <a:rPr lang="en-US" sz="825" b="1" dirty="0">
                <a:solidFill>
                  <a:srgbClr val="FFFFFF"/>
                </a:solidFill>
                <a:latin typeface="Arial" pitchFamily="34" charset="0"/>
                <a:ea typeface="Arial" pitchFamily="34" charset="-122"/>
                <a:cs typeface="Arial" pitchFamily="34" charset="-120"/>
              </a:rPr>
              <a:t>Wispr Flow</a:t>
            </a:r>
            <a:endParaRPr lang="en-US" sz="825" dirty="0"/>
          </a:p>
        </p:txBody>
      </p:sp>
      <p:sp>
        <p:nvSpPr>
          <p:cNvPr id="39" name="Text 37"/>
          <p:cNvSpPr/>
          <p:nvPr/>
        </p:nvSpPr>
        <p:spPr>
          <a:xfrm>
            <a:off x="6820662" y="3386138"/>
            <a:ext cx="1865376" cy="106561"/>
          </a:xfrm>
          <a:prstGeom prst="rect">
            <a:avLst/>
          </a:prstGeom>
          <a:noFill/>
          <a:ln/>
        </p:spPr>
        <p:txBody>
          <a:bodyPr wrap="square" lIns="0" tIns="0" rIns="0" bIns="0" rtlCol="0" anchor="t"/>
          <a:lstStyle/>
          <a:p>
            <a:pPr algn="ctr" indent="0" marL="0">
              <a:lnSpc>
                <a:spcPts val="840"/>
              </a:lnSpc>
              <a:buNone/>
            </a:pPr>
            <a:r>
              <a:rPr lang="en-US" sz="600" dirty="0">
                <a:solidFill>
                  <a:srgbClr val="FFFFFF">
                    <a:alpha val="80000"/>
                  </a:srgbClr>
                </a:solidFill>
                <a:latin typeface="Arial" pitchFamily="34" charset="0"/>
                <a:ea typeface="Arial" pitchFamily="34" charset="-122"/>
                <a:cs typeface="Arial" pitchFamily="34" charset="-120"/>
              </a:rPr>
              <a:t>Smart Features</a:t>
            </a:r>
            <a:endParaRPr lang="en-US" sz="600" dirty="0"/>
          </a:p>
        </p:txBody>
      </p:sp>
      <p:sp>
        <p:nvSpPr>
          <p:cNvPr id="40" name="Text 38"/>
          <p:cNvSpPr/>
          <p:nvPr/>
        </p:nvSpPr>
        <p:spPr>
          <a:xfrm>
            <a:off x="4667250" y="3835598"/>
            <a:ext cx="4095750" cy="272355"/>
          </a:xfrm>
          <a:prstGeom prst="rect">
            <a:avLst/>
          </a:prstGeom>
          <a:solidFill>
            <a:srgbClr val="252B3D"/>
          </a:solidFill>
          <a:ln/>
        </p:spPr>
        <p:txBody>
          <a:bodyPr wrap="square" rtlCol="0" anchor="ctr"/>
          <a:lstStyle/>
          <a:p>
            <a:pPr indent="0" marL="0">
              <a:buNone/>
            </a:pPr>
            <a:endParaRPr lang="en-US" dirty="0"/>
          </a:p>
        </p:txBody>
      </p:sp>
      <p:sp>
        <p:nvSpPr>
          <p:cNvPr id="41" name="Text 39"/>
          <p:cNvSpPr/>
          <p:nvPr/>
        </p:nvSpPr>
        <p:spPr>
          <a:xfrm>
            <a:off x="4704017" y="3911798"/>
            <a:ext cx="4022217" cy="119955"/>
          </a:xfrm>
          <a:prstGeom prst="rect">
            <a:avLst/>
          </a:prstGeom>
          <a:noFill/>
          <a:ln/>
        </p:spPr>
        <p:txBody>
          <a:bodyPr wrap="square" lIns="0" tIns="0" rIns="0" bIns="0" rtlCol="0" anchor="t"/>
          <a:lstStyle/>
          <a:p>
            <a:pPr algn="ctr" indent="0" marL="0">
              <a:lnSpc>
                <a:spcPts val="945"/>
              </a:lnSpc>
              <a:buNone/>
            </a:pPr>
            <a:r>
              <a:rPr lang="en-US" sz="675" b="1" dirty="0">
                <a:solidFill>
                  <a:srgbClr val="FFFFFF">
                    <a:alpha val="60000"/>
                  </a:srgbClr>
                </a:solidFill>
                <a:latin typeface="Arial" pitchFamily="34" charset="0"/>
                <a:ea typeface="Arial" pitchFamily="34" charset="-122"/>
                <a:cs typeface="Arial" pitchFamily="34" charset="-120"/>
              </a:rPr>
              <a:t>Budget:</a:t>
            </a:r>
            <a:pPr algn="ctr" indent="0" marL="0">
              <a:lnSpc>
                <a:spcPts val="945"/>
              </a:lnSpc>
              <a:buNone/>
            </a:pPr>
            <a:r>
              <a:rPr lang="en-US" sz="675" dirty="0">
                <a:solidFill>
                  <a:srgbClr val="FFFFFF">
                    <a:alpha val="60000"/>
                  </a:srgbClr>
                </a:solidFill>
                <a:latin typeface="Arial" pitchFamily="34" charset="0"/>
                <a:ea typeface="Arial" pitchFamily="34" charset="-122"/>
                <a:cs typeface="Arial" pitchFamily="34" charset="-120"/>
              </a:rPr>
              <a:t> Native OS dictation works for casual use</a:t>
            </a:r>
            <a:endParaRPr lang="en-US" sz="675" dirty="0"/>
          </a:p>
        </p:txBody>
      </p:sp>
      <p:sp>
        <p:nvSpPr>
          <p:cNvPr id="42" name="Text 40"/>
          <p:cNvSpPr/>
          <p:nvPr/>
        </p:nvSpPr>
        <p:spPr>
          <a:xfrm>
            <a:off x="381000" y="4374654"/>
            <a:ext cx="8382000" cy="375196"/>
          </a:xfrm>
          <a:prstGeom prst="rect">
            <a:avLst/>
          </a:prstGeom>
          <a:solidFill>
            <a:srgbClr val="C9A227"/>
          </a:solidFill>
          <a:ln/>
        </p:spPr>
        <p:txBody>
          <a:bodyPr wrap="square" rtlCol="0" anchor="ctr"/>
          <a:lstStyle/>
          <a:p>
            <a:pPr indent="0" marL="0">
              <a:buNone/>
            </a:pPr>
            <a:endParaRPr lang="en-US" dirty="0"/>
          </a:p>
        </p:txBody>
      </p:sp>
      <p:sp>
        <p:nvSpPr>
          <p:cNvPr id="43" name="Text 41"/>
          <p:cNvSpPr/>
          <p:nvPr/>
        </p:nvSpPr>
        <p:spPr>
          <a:xfrm>
            <a:off x="413766" y="4488954"/>
            <a:ext cx="8316468" cy="146596"/>
          </a:xfrm>
          <a:prstGeom prst="rect">
            <a:avLst/>
          </a:prstGeom>
          <a:noFill/>
          <a:ln/>
        </p:spPr>
        <p:txBody>
          <a:bodyPr wrap="square" lIns="0" tIns="0" rIns="0" bIns="0" rtlCol="0" anchor="t"/>
          <a:lstStyle/>
          <a:p>
            <a:pPr algn="ctr" indent="0" marL="0">
              <a:lnSpc>
                <a:spcPts val="1155"/>
              </a:lnSpc>
              <a:buNone/>
            </a:pPr>
            <a:r>
              <a:rPr lang="en-US" sz="825" b="1" dirty="0">
                <a:solidFill>
                  <a:srgbClr val="1A1F2E"/>
                </a:solidFill>
                <a:latin typeface="Arial" pitchFamily="34" charset="0"/>
                <a:ea typeface="Arial" pitchFamily="34" charset="-122"/>
                <a:cs typeface="Arial" pitchFamily="34" charset="-120"/>
              </a:rPr>
              <a:t>QUICK PICK:</a:t>
            </a:r>
            <a:pPr algn="ctr" indent="0" marL="0">
              <a:lnSpc>
                <a:spcPts val="1155"/>
              </a:lnSpc>
              <a:buNone/>
            </a:pPr>
            <a:r>
              <a:rPr lang="en-US" sz="825" dirty="0">
                <a:solidFill>
                  <a:srgbClr val="1A1F2E"/>
                </a:solidFill>
                <a:latin typeface="Arial" pitchFamily="34" charset="0"/>
                <a:ea typeface="Arial" pitchFamily="34" charset="-122"/>
                <a:cs typeface="Arial" pitchFamily="34" charset="-120"/>
              </a:rPr>
              <a:t> Government/PHI = SuperWhisper | Power User = Wispr Flow (Privacy Mode) | Linux = Wispr Flow</a:t>
            </a:r>
            <a:endParaRPr lang="en-US" sz="82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4496544" cy="5143500"/>
          </a:xfrm>
          <a:prstGeom prst="rect">
            <a:avLst/>
          </a:prstGeom>
          <a:solidFill>
            <a:srgbClr val="1A1F2E"/>
          </a:solidFill>
          <a:ln/>
        </p:spPr>
        <p:txBody>
          <a:bodyPr wrap="square" rtlCol="0" anchor="ctr"/>
          <a:lstStyle/>
          <a:p>
            <a:pPr indent="0" marL="0">
              <a:buNone/>
            </a:pPr>
            <a:endParaRPr lang="en-US" dirty="0"/>
          </a:p>
        </p:txBody>
      </p:sp>
      <p:sp>
        <p:nvSpPr>
          <p:cNvPr id="3" name="Text 1"/>
          <p:cNvSpPr/>
          <p:nvPr/>
        </p:nvSpPr>
        <p:spPr>
          <a:xfrm>
            <a:off x="381000" y="1395561"/>
            <a:ext cx="3809235" cy="146596"/>
          </a:xfrm>
          <a:prstGeom prst="rect">
            <a:avLst/>
          </a:prstGeom>
          <a:noFill/>
          <a:ln/>
        </p:spPr>
        <p:txBody>
          <a:bodyPr wrap="square" lIns="0" tIns="0" rIns="0" bIns="0" rtlCol="0" anchor="t"/>
          <a:lstStyle/>
          <a:p>
            <a:pPr algn="l" indent="0" marL="0">
              <a:lnSpc>
                <a:spcPts val="1155"/>
              </a:lnSpc>
              <a:spcAft>
                <a:spcPts val="1200"/>
              </a:spcAft>
              <a:buNone/>
            </a:pPr>
            <a:r>
              <a:rPr lang="en-US" sz="825" dirty="0">
                <a:solidFill>
                  <a:srgbClr val="C9A227"/>
                </a:solidFill>
                <a:latin typeface="Arial" pitchFamily="34" charset="0"/>
                <a:ea typeface="Arial" pitchFamily="34" charset="-122"/>
                <a:cs typeface="Arial" pitchFamily="34" charset="-120"/>
              </a:rPr>
              <a:t>WORKSHOP DECISION</a:t>
            </a:r>
            <a:endParaRPr lang="en-US" sz="825" dirty="0"/>
          </a:p>
        </p:txBody>
      </p:sp>
      <p:sp>
        <p:nvSpPr>
          <p:cNvPr id="4" name="Text 2"/>
          <p:cNvSpPr/>
          <p:nvPr/>
        </p:nvSpPr>
        <p:spPr>
          <a:xfrm>
            <a:off x="381000" y="1846957"/>
            <a:ext cx="2691194" cy="731341"/>
          </a:xfrm>
          <a:prstGeom prst="rect">
            <a:avLst/>
          </a:prstGeom>
          <a:noFill/>
          <a:ln/>
        </p:spPr>
        <p:txBody>
          <a:bodyPr wrap="square" lIns="0" tIns="0" rIns="0" bIns="0" rtlCol="0" anchor="t"/>
          <a:lstStyle/>
          <a:p>
            <a:pPr algn="l" indent="0" marL="0">
              <a:lnSpc>
                <a:spcPts val="2880"/>
              </a:lnSpc>
              <a:spcAft>
                <a:spcPts val="1500"/>
              </a:spcAft>
              <a:buNone/>
            </a:pPr>
            <a:r>
              <a:rPr lang="en-US" sz="2400" dirty="0">
                <a:solidFill>
                  <a:srgbClr val="FFFFFF"/>
                </a:solidFill>
                <a:latin typeface="Georgia" pitchFamily="34" charset="0"/>
                <a:ea typeface="Georgia" pitchFamily="34" charset="-122"/>
                <a:cs typeface="Georgia" pitchFamily="34" charset="-120"/>
              </a:rPr>
              <a:t>Why SuperWhisper</a:t>
            </a:r>
            <a:endParaRPr lang="en-US" sz="2400" dirty="0"/>
          </a:p>
          <a:p>
            <a:pPr algn="l" indent="0" marL="0">
              <a:lnSpc>
                <a:spcPts val="2880"/>
              </a:lnSpc>
              <a:spcAft>
                <a:spcPts val="1500"/>
              </a:spcAft>
              <a:buNone/>
            </a:pPr>
            <a:r>
              <a:rPr lang="en-US" sz="2400" dirty="0">
                <a:solidFill>
                  <a:srgbClr val="FFFFFF"/>
                </a:solidFill>
                <a:latin typeface="Georgia" pitchFamily="34" charset="0"/>
                <a:ea typeface="Georgia" pitchFamily="34" charset="-122"/>
                <a:cs typeface="Georgia" pitchFamily="34" charset="-120"/>
              </a:rPr>
              <a:t>for This Workshop</a:t>
            </a:r>
            <a:endParaRPr lang="en-US" sz="2400" dirty="0"/>
          </a:p>
        </p:txBody>
      </p:sp>
      <p:sp>
        <p:nvSpPr>
          <p:cNvPr id="5" name="Text 3"/>
          <p:cNvSpPr/>
          <p:nvPr/>
        </p:nvSpPr>
        <p:spPr>
          <a:xfrm>
            <a:off x="381000" y="2921198"/>
            <a:ext cx="571500" cy="19050"/>
          </a:xfrm>
          <a:prstGeom prst="rect">
            <a:avLst/>
          </a:prstGeom>
          <a:solidFill>
            <a:srgbClr val="C9A227"/>
          </a:solidFill>
          <a:ln/>
        </p:spPr>
        <p:txBody>
          <a:bodyPr wrap="square" rtlCol="0" anchor="ctr"/>
          <a:lstStyle/>
          <a:p>
            <a:pPr indent="0" marL="0">
              <a:buNone/>
            </a:pPr>
            <a:endParaRPr lang="en-US" dirty="0"/>
          </a:p>
        </p:txBody>
      </p:sp>
      <p:sp>
        <p:nvSpPr>
          <p:cNvPr id="6" name="Text 4"/>
          <p:cNvSpPr/>
          <p:nvPr/>
        </p:nvSpPr>
        <p:spPr>
          <a:xfrm>
            <a:off x="381000" y="3321248"/>
            <a:ext cx="3809235" cy="426541"/>
          </a:xfrm>
          <a:prstGeom prst="rect">
            <a:avLst/>
          </a:prstGeom>
          <a:noFill/>
          <a:ln/>
        </p:spPr>
        <p:txBody>
          <a:bodyPr wrap="square" lIns="0" tIns="0" rIns="0" bIns="0" rtlCol="0" anchor="t"/>
          <a:lstStyle/>
          <a:p>
            <a:pPr algn="l" indent="0" marL="0">
              <a:lnSpc>
                <a:spcPts val="1680"/>
              </a:lnSpc>
              <a:buNone/>
            </a:pPr>
            <a:r>
              <a:rPr lang="en-US" sz="1050" dirty="0">
                <a:solidFill>
                  <a:srgbClr val="FFFFFF">
                    <a:alpha val="70000"/>
                  </a:srgbClr>
                </a:solidFill>
                <a:latin typeface="Arial" pitchFamily="34" charset="0"/>
                <a:ea typeface="Arial" pitchFamily="34" charset="-122"/>
                <a:cs typeface="Arial" pitchFamily="34" charset="-120"/>
              </a:rPr>
              <a:t>We're moving forward with SuperWhisper because it offers the privacy controls required for government health work.</a:t>
            </a:r>
            <a:endParaRPr lang="en-US" sz="1050" dirty="0"/>
          </a:p>
        </p:txBody>
      </p:sp>
      <p:sp>
        <p:nvSpPr>
          <p:cNvPr id="7" name="Text 5"/>
          <p:cNvSpPr/>
          <p:nvPr/>
        </p:nvSpPr>
        <p:spPr>
          <a:xfrm>
            <a:off x="4648944" y="0"/>
            <a:ext cx="4495056" cy="5143500"/>
          </a:xfrm>
          <a:prstGeom prst="rect">
            <a:avLst/>
          </a:prstGeom>
          <a:solidFill>
            <a:srgbClr val="F7F8FA"/>
          </a:solidFill>
          <a:ln/>
        </p:spPr>
        <p:txBody>
          <a:bodyPr wrap="square" rtlCol="0" anchor="ctr"/>
          <a:lstStyle/>
          <a:p>
            <a:pPr indent="0" marL="0">
              <a:buNone/>
            </a:pPr>
            <a:endParaRPr lang="en-US" dirty="0"/>
          </a:p>
        </p:txBody>
      </p:sp>
      <p:sp>
        <p:nvSpPr>
          <p:cNvPr id="8" name="Text 6"/>
          <p:cNvSpPr/>
          <p:nvPr/>
        </p:nvSpPr>
        <p:spPr>
          <a:xfrm>
            <a:off x="4991844" y="735657"/>
            <a:ext cx="3809256" cy="630436"/>
          </a:xfrm>
          <a:prstGeom prst="rect">
            <a:avLst/>
          </a:prstGeom>
          <a:solidFill>
            <a:srgbClr val="DCFCE7"/>
          </a:solidFill>
          <a:ln/>
        </p:spPr>
        <p:txBody>
          <a:bodyPr wrap="square" rtlCol="0" anchor="ctr"/>
          <a:lstStyle/>
          <a:p>
            <a:pPr indent="0" marL="0">
              <a:buNone/>
            </a:pPr>
            <a:endParaRPr lang="en-US" dirty="0"/>
          </a:p>
        </p:txBody>
      </p:sp>
      <p:sp>
        <p:nvSpPr>
          <p:cNvPr id="9" name="Shape 7"/>
          <p:cNvSpPr/>
          <p:nvPr/>
        </p:nvSpPr>
        <p:spPr>
          <a:xfrm>
            <a:off x="5010894" y="735657"/>
            <a:ext cx="0" cy="630436"/>
          </a:xfrm>
          <a:prstGeom prst="line">
            <a:avLst/>
          </a:prstGeom>
          <a:noFill/>
          <a:ln w="38100">
            <a:solidFill>
              <a:srgbClr val="059669"/>
            </a:solidFill>
            <a:prstDash val="solid"/>
          </a:ln>
        </p:spPr>
      </p:sp>
      <p:sp>
        <p:nvSpPr>
          <p:cNvPr id="10" name="Text 8"/>
          <p:cNvSpPr/>
          <p:nvPr/>
        </p:nvSpPr>
        <p:spPr>
          <a:xfrm>
            <a:off x="5163294" y="869007"/>
            <a:ext cx="3574545" cy="159990"/>
          </a:xfrm>
          <a:prstGeom prst="rect">
            <a:avLst/>
          </a:prstGeom>
          <a:noFill/>
          <a:ln/>
        </p:spPr>
        <p:txBody>
          <a:bodyPr wrap="square" lIns="0" tIns="0" rIns="0" bIns="0" rtlCol="0" anchor="t"/>
          <a:lstStyle/>
          <a:p>
            <a:pPr algn="l" indent="0" marL="0">
              <a:lnSpc>
                <a:spcPts val="1260"/>
              </a:lnSpc>
              <a:spcAft>
                <a:spcPts val="450"/>
              </a:spcAft>
              <a:buNone/>
            </a:pPr>
            <a:r>
              <a:rPr lang="en-US" sz="900" b="1" dirty="0">
                <a:solidFill>
                  <a:srgbClr val="059669"/>
                </a:solidFill>
                <a:latin typeface="Arial" pitchFamily="34" charset="0"/>
                <a:ea typeface="Arial" pitchFamily="34" charset="-122"/>
                <a:cs typeface="Arial" pitchFamily="34" charset="-120"/>
              </a:rPr>
              <a:t>FREE LOCAL MODELS</a:t>
            </a:r>
            <a:endParaRPr lang="en-US" sz="900" dirty="0"/>
          </a:p>
        </p:txBody>
      </p:sp>
      <p:sp>
        <p:nvSpPr>
          <p:cNvPr id="11" name="Text 9"/>
          <p:cNvSpPr/>
          <p:nvPr/>
        </p:nvSpPr>
        <p:spPr>
          <a:xfrm>
            <a:off x="5163294" y="1086148"/>
            <a:ext cx="3574545" cy="146596"/>
          </a:xfrm>
          <a:prstGeom prst="rect">
            <a:avLst/>
          </a:prstGeom>
          <a:noFill/>
          <a:ln/>
        </p:spPr>
        <p:txBody>
          <a:bodyPr wrap="square" lIns="0" tIns="0" rIns="0" bIns="0" rtlCol="0" anchor="t"/>
          <a:lstStyle/>
          <a:p>
            <a:pPr algn="l" indent="0" marL="0">
              <a:lnSpc>
                <a:spcPts val="1155"/>
              </a:lnSpc>
              <a:buNone/>
            </a:pPr>
            <a:r>
              <a:rPr lang="en-US" sz="825" dirty="0">
                <a:solidFill>
                  <a:srgbClr val="166534"/>
                </a:solidFill>
                <a:latin typeface="Arial" pitchFamily="34" charset="0"/>
                <a:ea typeface="Arial" pitchFamily="34" charset="-122"/>
                <a:cs typeface="Arial" pitchFamily="34" charset="-120"/>
              </a:rPr>
              <a:t>Audio never leaves your device. PHI-safe out of the box with the free tier.</a:t>
            </a:r>
            <a:endParaRPr lang="en-US" sz="825" dirty="0"/>
          </a:p>
        </p:txBody>
      </p:sp>
      <p:sp>
        <p:nvSpPr>
          <p:cNvPr id="12" name="Text 10"/>
          <p:cNvSpPr/>
          <p:nvPr/>
        </p:nvSpPr>
        <p:spPr>
          <a:xfrm>
            <a:off x="4991844" y="1499443"/>
            <a:ext cx="3809256" cy="649486"/>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3" name="Text 11"/>
          <p:cNvSpPr/>
          <p:nvPr/>
        </p:nvSpPr>
        <p:spPr>
          <a:xfrm>
            <a:off x="5134719" y="1642318"/>
            <a:ext cx="3593976" cy="159990"/>
          </a:xfrm>
          <a:prstGeom prst="rect">
            <a:avLst/>
          </a:prstGeom>
          <a:noFill/>
          <a:ln/>
        </p:spPr>
        <p:txBody>
          <a:bodyPr wrap="square" lIns="0" tIns="0" rIns="0" bIns="0" rtlCol="0" anchor="t"/>
          <a:lstStyle/>
          <a:p>
            <a:pPr algn="l" indent="0" marL="0">
              <a:lnSpc>
                <a:spcPts val="1260"/>
              </a:lnSpc>
              <a:spcAft>
                <a:spcPts val="450"/>
              </a:spcAft>
              <a:buNone/>
            </a:pPr>
            <a:r>
              <a:rPr lang="en-US" sz="900" b="1" dirty="0">
                <a:solidFill>
                  <a:srgbClr val="1A1F2E"/>
                </a:solidFill>
                <a:latin typeface="Arial" pitchFamily="34" charset="0"/>
                <a:ea typeface="Arial" pitchFamily="34" charset="-122"/>
                <a:cs typeface="Arial" pitchFamily="34" charset="-120"/>
              </a:rPr>
              <a:t>CROSS-PLATFORM</a:t>
            </a:r>
            <a:endParaRPr lang="en-US" sz="900" dirty="0"/>
          </a:p>
        </p:txBody>
      </p:sp>
      <p:sp>
        <p:nvSpPr>
          <p:cNvPr id="14" name="Text 12"/>
          <p:cNvSpPr/>
          <p:nvPr/>
        </p:nvSpPr>
        <p:spPr>
          <a:xfrm>
            <a:off x="5134719" y="1859459"/>
            <a:ext cx="3593976" cy="146596"/>
          </a:xfrm>
          <a:prstGeom prst="rect">
            <a:avLst/>
          </a:prstGeom>
          <a:noFill/>
          <a:ln/>
        </p:spPr>
        <p:txBody>
          <a:bodyPr wrap="square" lIns="0" tIns="0" rIns="0" bIns="0" rtlCol="0" anchor="t"/>
          <a:lstStyle/>
          <a:p>
            <a:pPr algn="l" indent="0" marL="0">
              <a:lnSpc>
                <a:spcPts val="1155"/>
              </a:lnSpc>
              <a:buNone/>
            </a:pPr>
            <a:r>
              <a:rPr lang="en-US" sz="825" dirty="0">
                <a:solidFill>
                  <a:srgbClr val="6B7280"/>
                </a:solidFill>
                <a:latin typeface="Arial" pitchFamily="34" charset="0"/>
                <a:ea typeface="Arial" pitchFamily="34" charset="-122"/>
                <a:cs typeface="Arial" pitchFamily="34" charset="-120"/>
              </a:rPr>
              <a:t>Works on Mac, Windows, and iOS. Same experience across your devices.</a:t>
            </a:r>
            <a:endParaRPr lang="en-US" sz="825" dirty="0"/>
          </a:p>
        </p:txBody>
      </p:sp>
      <p:sp>
        <p:nvSpPr>
          <p:cNvPr id="15" name="Text 13"/>
          <p:cNvSpPr/>
          <p:nvPr/>
        </p:nvSpPr>
        <p:spPr>
          <a:xfrm>
            <a:off x="4991844" y="2282279"/>
            <a:ext cx="3809256" cy="649486"/>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6" name="Text 14"/>
          <p:cNvSpPr/>
          <p:nvPr/>
        </p:nvSpPr>
        <p:spPr>
          <a:xfrm>
            <a:off x="5134719" y="2425154"/>
            <a:ext cx="3593976" cy="159990"/>
          </a:xfrm>
          <a:prstGeom prst="rect">
            <a:avLst/>
          </a:prstGeom>
          <a:noFill/>
          <a:ln/>
        </p:spPr>
        <p:txBody>
          <a:bodyPr wrap="square" lIns="0" tIns="0" rIns="0" bIns="0" rtlCol="0" anchor="t"/>
          <a:lstStyle/>
          <a:p>
            <a:pPr algn="l" indent="0" marL="0">
              <a:lnSpc>
                <a:spcPts val="1260"/>
              </a:lnSpc>
              <a:spcAft>
                <a:spcPts val="450"/>
              </a:spcAft>
              <a:buNone/>
            </a:pPr>
            <a:r>
              <a:rPr lang="en-US" sz="900" b="1" dirty="0">
                <a:solidFill>
                  <a:srgbClr val="1A1F2E"/>
                </a:solidFill>
                <a:latin typeface="Arial" pitchFamily="34" charset="0"/>
                <a:ea typeface="Arial" pitchFamily="34" charset="-122"/>
                <a:cs typeface="Arial" pitchFamily="34" charset="-120"/>
              </a:rPr>
              <a:t>CUSTOM MODES</a:t>
            </a:r>
            <a:endParaRPr lang="en-US" sz="900" dirty="0"/>
          </a:p>
        </p:txBody>
      </p:sp>
      <p:sp>
        <p:nvSpPr>
          <p:cNvPr id="17" name="Text 15"/>
          <p:cNvSpPr/>
          <p:nvPr/>
        </p:nvSpPr>
        <p:spPr>
          <a:xfrm>
            <a:off x="5134719" y="2642295"/>
            <a:ext cx="3593976" cy="146596"/>
          </a:xfrm>
          <a:prstGeom prst="rect">
            <a:avLst/>
          </a:prstGeom>
          <a:noFill/>
          <a:ln/>
        </p:spPr>
        <p:txBody>
          <a:bodyPr wrap="square" lIns="0" tIns="0" rIns="0" bIns="0" rtlCol="0" anchor="t"/>
          <a:lstStyle/>
          <a:p>
            <a:pPr algn="l" indent="0" marL="0">
              <a:lnSpc>
                <a:spcPts val="1155"/>
              </a:lnSpc>
              <a:buNone/>
            </a:pPr>
            <a:r>
              <a:rPr lang="en-US" sz="825" dirty="0">
                <a:solidFill>
                  <a:srgbClr val="6B7280"/>
                </a:solidFill>
                <a:latin typeface="Arial" pitchFamily="34" charset="0"/>
                <a:ea typeface="Arial" pitchFamily="34" charset="-122"/>
                <a:cs typeface="Arial" pitchFamily="34" charset="-120"/>
              </a:rPr>
              <a:t>3 free custom modes let us build application-specific workflows together.</a:t>
            </a:r>
            <a:endParaRPr lang="en-US" sz="825" dirty="0"/>
          </a:p>
        </p:txBody>
      </p:sp>
      <p:sp>
        <p:nvSpPr>
          <p:cNvPr id="18" name="Text 16"/>
          <p:cNvSpPr/>
          <p:nvPr/>
        </p:nvSpPr>
        <p:spPr>
          <a:xfrm>
            <a:off x="4991844" y="3065115"/>
            <a:ext cx="3809256" cy="649486"/>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9" name="Text 17"/>
          <p:cNvSpPr/>
          <p:nvPr/>
        </p:nvSpPr>
        <p:spPr>
          <a:xfrm>
            <a:off x="5134719" y="3207990"/>
            <a:ext cx="3593976" cy="159990"/>
          </a:xfrm>
          <a:prstGeom prst="rect">
            <a:avLst/>
          </a:prstGeom>
          <a:noFill/>
          <a:ln/>
        </p:spPr>
        <p:txBody>
          <a:bodyPr wrap="square" lIns="0" tIns="0" rIns="0" bIns="0" rtlCol="0" anchor="t"/>
          <a:lstStyle/>
          <a:p>
            <a:pPr algn="l" indent="0" marL="0">
              <a:lnSpc>
                <a:spcPts val="1260"/>
              </a:lnSpc>
              <a:spcAft>
                <a:spcPts val="450"/>
              </a:spcAft>
              <a:buNone/>
            </a:pPr>
            <a:r>
              <a:rPr lang="en-US" sz="900" b="1" dirty="0">
                <a:solidFill>
                  <a:srgbClr val="1A1F2E"/>
                </a:solidFill>
                <a:latin typeface="Arial" pitchFamily="34" charset="0"/>
                <a:ea typeface="Arial" pitchFamily="34" charset="-122"/>
                <a:cs typeface="Arial" pitchFamily="34" charset="-120"/>
              </a:rPr>
              <a:t>AUTO-ACTIVATION</a:t>
            </a:r>
            <a:endParaRPr lang="en-US" sz="900" dirty="0"/>
          </a:p>
        </p:txBody>
      </p:sp>
      <p:sp>
        <p:nvSpPr>
          <p:cNvPr id="20" name="Text 18"/>
          <p:cNvSpPr/>
          <p:nvPr/>
        </p:nvSpPr>
        <p:spPr>
          <a:xfrm>
            <a:off x="5134719" y="3425130"/>
            <a:ext cx="3593976" cy="146596"/>
          </a:xfrm>
          <a:prstGeom prst="rect">
            <a:avLst/>
          </a:prstGeom>
          <a:noFill/>
          <a:ln/>
        </p:spPr>
        <p:txBody>
          <a:bodyPr wrap="square" lIns="0" tIns="0" rIns="0" bIns="0" rtlCol="0" anchor="t"/>
          <a:lstStyle/>
          <a:p>
            <a:pPr algn="l" indent="0" marL="0">
              <a:lnSpc>
                <a:spcPts val="1155"/>
              </a:lnSpc>
              <a:buNone/>
            </a:pPr>
            <a:r>
              <a:rPr lang="en-US" sz="825" dirty="0">
                <a:solidFill>
                  <a:srgbClr val="6B7280"/>
                </a:solidFill>
                <a:latin typeface="Arial" pitchFamily="34" charset="0"/>
                <a:ea typeface="Arial" pitchFamily="34" charset="-122"/>
                <a:cs typeface="Arial" pitchFamily="34" charset="-120"/>
              </a:rPr>
              <a:t>Modes switch automatically based on your active application.</a:t>
            </a:r>
            <a:endParaRPr lang="en-US" sz="825" dirty="0"/>
          </a:p>
        </p:txBody>
      </p:sp>
      <p:sp>
        <p:nvSpPr>
          <p:cNvPr id="21" name="Text 19"/>
          <p:cNvSpPr/>
          <p:nvPr/>
        </p:nvSpPr>
        <p:spPr>
          <a:xfrm>
            <a:off x="4991844" y="3847951"/>
            <a:ext cx="3809256" cy="559891"/>
          </a:xfrm>
          <a:prstGeom prst="rect">
            <a:avLst/>
          </a:prstGeom>
          <a:solidFill>
            <a:srgbClr val="FEF3C7"/>
          </a:solidFill>
          <a:ln/>
        </p:spPr>
        <p:txBody>
          <a:bodyPr wrap="square" rtlCol="0" anchor="ctr"/>
          <a:lstStyle/>
          <a:p>
            <a:pPr indent="0" marL="0">
              <a:buNone/>
            </a:pPr>
            <a:endParaRPr lang="en-US" dirty="0"/>
          </a:p>
        </p:txBody>
      </p:sp>
      <p:sp>
        <p:nvSpPr>
          <p:cNvPr id="22" name="Shape 20"/>
          <p:cNvSpPr/>
          <p:nvPr/>
        </p:nvSpPr>
        <p:spPr>
          <a:xfrm>
            <a:off x="5010894" y="3847951"/>
            <a:ext cx="0" cy="559891"/>
          </a:xfrm>
          <a:prstGeom prst="line">
            <a:avLst/>
          </a:prstGeom>
          <a:noFill/>
          <a:ln w="38100">
            <a:solidFill>
              <a:srgbClr val="F59E0B"/>
            </a:solidFill>
            <a:prstDash val="solid"/>
          </a:ln>
        </p:spPr>
      </p:sp>
      <p:sp>
        <p:nvSpPr>
          <p:cNvPr id="23" name="Text 21"/>
          <p:cNvSpPr/>
          <p:nvPr/>
        </p:nvSpPr>
        <p:spPr>
          <a:xfrm>
            <a:off x="5163294" y="3981301"/>
            <a:ext cx="3574545" cy="293191"/>
          </a:xfrm>
          <a:prstGeom prst="rect">
            <a:avLst/>
          </a:prstGeom>
          <a:noFill/>
          <a:ln/>
        </p:spPr>
        <p:txBody>
          <a:bodyPr wrap="square" lIns="0" tIns="0" rIns="0" bIns="0" rtlCol="0" anchor="t"/>
          <a:lstStyle/>
          <a:p>
            <a:pPr algn="l" indent="0" marL="0">
              <a:lnSpc>
                <a:spcPts val="1155"/>
              </a:lnSpc>
              <a:buNone/>
            </a:pPr>
            <a:r>
              <a:rPr lang="en-US" sz="825" b="1" dirty="0">
                <a:solidFill>
                  <a:srgbClr val="92400E"/>
                </a:solidFill>
                <a:latin typeface="Arial" pitchFamily="34" charset="0"/>
                <a:ea typeface="Arial" pitchFamily="34" charset="-122"/>
                <a:cs typeface="Arial" pitchFamily="34" charset="-120"/>
              </a:rPr>
              <a:t>Wispr Flow</a:t>
            </a:r>
            <a:pPr algn="l" indent="0" marL="0">
              <a:lnSpc>
                <a:spcPts val="1155"/>
              </a:lnSpc>
              <a:buNone/>
            </a:pPr>
            <a:r>
              <a:rPr lang="en-US" sz="825" dirty="0">
                <a:solidFill>
                  <a:srgbClr val="92400E"/>
                </a:solidFill>
                <a:latin typeface="Arial" pitchFamily="34" charset="0"/>
                <a:ea typeface="Arial" pitchFamily="34" charset="-122"/>
                <a:cs typeface="Arial" pitchFamily="34" charset="-120"/>
              </a:rPr>
              <a:t> is excellent for non-sensitive work, but it's cloud-only. For PHI compliance, we need local processing.</a:t>
            </a:r>
            <a:endParaRPr lang="en-US" sz="82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037954" y="1041202"/>
            <a:ext cx="1067794" cy="186630"/>
          </a:xfrm>
          <a:prstGeom prst="rect">
            <a:avLst/>
          </a:prstGeom>
          <a:noFill/>
          <a:ln/>
        </p:spPr>
        <p:txBody>
          <a:bodyPr wrap="square" lIns="0" tIns="0" rIns="0" bIns="0" rtlCol="0" anchor="t"/>
          <a:lstStyle/>
          <a:p>
            <a:pPr algn="ctr" indent="0" marL="0">
              <a:lnSpc>
                <a:spcPts val="1470"/>
              </a:lnSpc>
              <a:spcAft>
                <a:spcPts val="1500"/>
              </a:spcAft>
              <a:buNone/>
            </a:pPr>
            <a:r>
              <a:rPr lang="en-US" sz="1050" dirty="0">
                <a:solidFill>
                  <a:srgbClr val="C9A227"/>
                </a:solidFill>
                <a:latin typeface="Arial" pitchFamily="34" charset="0"/>
                <a:ea typeface="Arial" pitchFamily="34" charset="-122"/>
                <a:cs typeface="Arial" pitchFamily="34" charset="-120"/>
              </a:rPr>
              <a:t>SECTION 8</a:t>
            </a:r>
            <a:endParaRPr lang="en-US" sz="1050" dirty="0"/>
          </a:p>
        </p:txBody>
      </p:sp>
      <p:sp>
        <p:nvSpPr>
          <p:cNvPr id="3" name="Text 1"/>
          <p:cNvSpPr/>
          <p:nvPr/>
        </p:nvSpPr>
        <p:spPr>
          <a:xfrm>
            <a:off x="2032916" y="1570732"/>
            <a:ext cx="5078019" cy="495300"/>
          </a:xfrm>
          <a:prstGeom prst="rect">
            <a:avLst/>
          </a:prstGeom>
          <a:noFill/>
          <a:ln/>
        </p:spPr>
        <p:txBody>
          <a:bodyPr wrap="square" lIns="0" tIns="0" rIns="0" bIns="0" rtlCol="0" anchor="t"/>
          <a:lstStyle/>
          <a:p>
            <a:pPr algn="ctr" indent="0" marL="0">
              <a:lnSpc>
                <a:spcPts val="3900"/>
              </a:lnSpc>
              <a:spcAft>
                <a:spcPts val="1500"/>
              </a:spcAft>
              <a:buNone/>
            </a:pPr>
            <a:r>
              <a:rPr lang="en-US" sz="3900" dirty="0">
                <a:solidFill>
                  <a:srgbClr val="FFFFFF"/>
                </a:solidFill>
                <a:latin typeface="Georgia" pitchFamily="34" charset="0"/>
                <a:ea typeface="Georgia" pitchFamily="34" charset="-122"/>
                <a:cs typeface="Georgia" pitchFamily="34" charset="-120"/>
              </a:rPr>
              <a:t>Security &amp; Compliance</a:t>
            </a:r>
            <a:endParaRPr lang="en-US" sz="3900" dirty="0"/>
          </a:p>
        </p:txBody>
      </p:sp>
      <p:sp>
        <p:nvSpPr>
          <p:cNvPr id="4" name="Text 2"/>
          <p:cNvSpPr/>
          <p:nvPr/>
        </p:nvSpPr>
        <p:spPr>
          <a:xfrm>
            <a:off x="4190851" y="2408932"/>
            <a:ext cx="762000" cy="28575"/>
          </a:xfrm>
          <a:prstGeom prst="rect">
            <a:avLst/>
          </a:prstGeom>
          <a:solidFill>
            <a:srgbClr val="C9A227"/>
          </a:solidFill>
          <a:ln/>
        </p:spPr>
        <p:txBody>
          <a:bodyPr wrap="square" rtlCol="0" anchor="ctr"/>
          <a:lstStyle/>
          <a:p>
            <a:pPr indent="0" marL="0">
              <a:buNone/>
            </a:pPr>
            <a:endParaRPr lang="en-US" dirty="0"/>
          </a:p>
        </p:txBody>
      </p:sp>
      <p:sp>
        <p:nvSpPr>
          <p:cNvPr id="5" name="Text 3"/>
          <p:cNvSpPr/>
          <p:nvPr/>
        </p:nvSpPr>
        <p:spPr>
          <a:xfrm>
            <a:off x="2831864" y="2818507"/>
            <a:ext cx="3480122" cy="239911"/>
          </a:xfrm>
          <a:prstGeom prst="rect">
            <a:avLst/>
          </a:prstGeom>
          <a:noFill/>
          <a:ln/>
        </p:spPr>
        <p:txBody>
          <a:bodyPr wrap="square" lIns="0" tIns="0" rIns="0" bIns="0" rtlCol="0" anchor="t"/>
          <a:lstStyle/>
          <a:p>
            <a:pPr algn="ctr" indent="0" marL="0">
              <a:lnSpc>
                <a:spcPts val="1890"/>
              </a:lnSpc>
              <a:buNone/>
            </a:pPr>
            <a:r>
              <a:rPr lang="en-US" sz="1350" dirty="0">
                <a:solidFill>
                  <a:srgbClr val="FFFFFF">
                    <a:alpha val="70000"/>
                  </a:srgbClr>
                </a:solidFill>
                <a:latin typeface="Arial" pitchFamily="34" charset="0"/>
                <a:ea typeface="Arial" pitchFamily="34" charset="-122"/>
                <a:cs typeface="Arial" pitchFamily="34" charset="-120"/>
              </a:rPr>
              <a:t>Understanding Data Flows and PHI Handling</a:t>
            </a:r>
            <a:endParaRPr lang="en-US" sz="1350" dirty="0"/>
          </a:p>
        </p:txBody>
      </p:sp>
      <p:sp>
        <p:nvSpPr>
          <p:cNvPr id="6" name="Text 4"/>
          <p:cNvSpPr/>
          <p:nvPr/>
        </p:nvSpPr>
        <p:spPr>
          <a:xfrm>
            <a:off x="3931444" y="3591818"/>
            <a:ext cx="1280964" cy="510480"/>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7" name="Text 5"/>
          <p:cNvSpPr/>
          <p:nvPr/>
        </p:nvSpPr>
        <p:spPr>
          <a:xfrm>
            <a:off x="4239246" y="3753743"/>
            <a:ext cx="665360" cy="186630"/>
          </a:xfrm>
          <a:prstGeom prst="rect">
            <a:avLst/>
          </a:prstGeom>
          <a:noFill/>
          <a:ln/>
        </p:spPr>
        <p:txBody>
          <a:bodyPr wrap="square" lIns="0" tIns="0" rIns="0" bIns="0" rtlCol="0" anchor="t"/>
          <a:lstStyle/>
          <a:p>
            <a:pPr algn="ctr" indent="0" marL="0">
              <a:lnSpc>
                <a:spcPts val="1470"/>
              </a:lnSpc>
              <a:buNone/>
            </a:pPr>
            <a:r>
              <a:rPr lang="en-US" sz="1050" dirty="0">
                <a:solidFill>
                  <a:srgbClr val="C9A227"/>
                </a:solidFill>
                <a:latin typeface="Arial" pitchFamily="34" charset="0"/>
                <a:ea typeface="Arial" pitchFamily="34" charset="-122"/>
                <a:cs typeface="Arial" pitchFamily="34" charset="-120"/>
              </a:rPr>
              <a:t>10 minutes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381000" y="228600"/>
            <a:ext cx="8549640" cy="133350"/>
          </a:xfrm>
          <a:prstGeom prst="rect">
            <a:avLst/>
          </a:prstGeom>
          <a:noFill/>
          <a:ln/>
        </p:spPr>
        <p:txBody>
          <a:bodyPr wrap="square" lIns="0" tIns="0" rIns="0" bIns="0" rtlCol="0" anchor="t"/>
          <a:lstStyle/>
          <a:p>
            <a:pPr algn="l" indent="0" marL="0">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DATA SECURITY</a:t>
            </a:r>
            <a:endParaRPr lang="en-US" sz="750" dirty="0"/>
          </a:p>
        </p:txBody>
      </p:sp>
      <p:sp>
        <p:nvSpPr>
          <p:cNvPr id="3" name="Text 1"/>
          <p:cNvSpPr/>
          <p:nvPr/>
        </p:nvSpPr>
        <p:spPr>
          <a:xfrm>
            <a:off x="381000" y="419100"/>
            <a:ext cx="4284536" cy="266700"/>
          </a:xfrm>
          <a:prstGeom prst="rect">
            <a:avLst/>
          </a:prstGeom>
          <a:noFill/>
          <a:ln/>
        </p:spPr>
        <p:txBody>
          <a:bodyPr wrap="square" lIns="0" tIns="0" rIns="0" bIns="0" rtlCol="0" anchor="t"/>
          <a:lstStyle/>
          <a:p>
            <a:pPr algn="l" indent="0" marL="0">
              <a:lnSpc>
                <a:spcPts val="2100"/>
              </a:lnSpc>
              <a:buNone/>
            </a:pPr>
            <a:r>
              <a:rPr lang="en-US" sz="2100" dirty="0">
                <a:solidFill>
                  <a:srgbClr val="1A1F2E"/>
                </a:solidFill>
                <a:latin typeface="Georgia" pitchFamily="34" charset="0"/>
                <a:ea typeface="Georgia" pitchFamily="34" charset="-122"/>
                <a:cs typeface="Georgia" pitchFamily="34" charset="-120"/>
              </a:rPr>
              <a:t>Data Flow Awareness</a:t>
            </a:r>
            <a:endParaRPr lang="en-US" sz="2100" dirty="0"/>
          </a:p>
        </p:txBody>
      </p:sp>
      <p:sp>
        <p:nvSpPr>
          <p:cNvPr id="4" name="Text 2"/>
          <p:cNvSpPr/>
          <p:nvPr/>
        </p:nvSpPr>
        <p:spPr>
          <a:xfrm>
            <a:off x="381000" y="742950"/>
            <a:ext cx="8549640" cy="159990"/>
          </a:xfrm>
          <a:prstGeom prst="rect">
            <a:avLst/>
          </a:prstGeom>
          <a:noFill/>
          <a:ln/>
        </p:spPr>
        <p:txBody>
          <a:bodyPr wrap="square" lIns="0" tIns="0" rIns="0" bIns="0" rtlCol="0" anchor="t"/>
          <a:lstStyle/>
          <a:p>
            <a:pPr algn="l" indent="0" marL="0">
              <a:lnSpc>
                <a:spcPts val="1260"/>
              </a:lnSpc>
              <a:spcBef>
                <a:spcPts val="450"/>
              </a:spcBef>
              <a:buNone/>
            </a:pPr>
            <a:r>
              <a:rPr lang="en-US" sz="900" dirty="0">
                <a:solidFill>
                  <a:srgbClr val="6B7280"/>
                </a:solidFill>
                <a:latin typeface="Arial" pitchFamily="34" charset="0"/>
                <a:ea typeface="Arial" pitchFamily="34" charset="-122"/>
                <a:cs typeface="Arial" pitchFamily="34" charset="-120"/>
              </a:rPr>
              <a:t>Understanding where your data goes</a:t>
            </a:r>
            <a:endParaRPr lang="en-US" sz="900" dirty="0"/>
          </a:p>
        </p:txBody>
      </p:sp>
      <p:sp>
        <p:nvSpPr>
          <p:cNvPr id="5" name="Text 3"/>
          <p:cNvSpPr/>
          <p:nvPr/>
        </p:nvSpPr>
        <p:spPr>
          <a:xfrm>
            <a:off x="381000" y="1360438"/>
            <a:ext cx="2730550" cy="1407468"/>
          </a:xfrm>
          <a:prstGeom prst="rect">
            <a:avLst/>
          </a:prstGeom>
          <a:solidFill>
            <a:srgbClr val="DCFCE7"/>
          </a:solidFill>
          <a:ln/>
        </p:spPr>
        <p:txBody>
          <a:bodyPr wrap="square" rtlCol="0" anchor="ctr"/>
          <a:lstStyle/>
          <a:p>
            <a:pPr indent="0" marL="0">
              <a:buNone/>
            </a:pPr>
            <a:endParaRPr lang="en-US" dirty="0"/>
          </a:p>
        </p:txBody>
      </p:sp>
      <p:sp>
        <p:nvSpPr>
          <p:cNvPr id="6" name="Shape 4"/>
          <p:cNvSpPr/>
          <p:nvPr/>
        </p:nvSpPr>
        <p:spPr>
          <a:xfrm>
            <a:off x="400050" y="1360438"/>
            <a:ext cx="0" cy="1407468"/>
          </a:xfrm>
          <a:prstGeom prst="line">
            <a:avLst/>
          </a:prstGeom>
          <a:noFill/>
          <a:ln w="38100">
            <a:solidFill>
              <a:srgbClr val="059669"/>
            </a:solidFill>
            <a:prstDash val="solid"/>
          </a:ln>
        </p:spPr>
      </p:sp>
      <p:sp>
        <p:nvSpPr>
          <p:cNvPr id="7" name="Text 5"/>
          <p:cNvSpPr/>
          <p:nvPr/>
        </p:nvSpPr>
        <p:spPr>
          <a:xfrm>
            <a:off x="533400" y="1474738"/>
            <a:ext cx="2513127" cy="146596"/>
          </a:xfrm>
          <a:prstGeom prst="rect">
            <a:avLst/>
          </a:prstGeom>
          <a:noFill/>
          <a:ln/>
        </p:spPr>
        <p:txBody>
          <a:bodyPr wrap="square" lIns="0" tIns="0" rIns="0" bIns="0" rtlCol="0" anchor="t"/>
          <a:lstStyle/>
          <a:p>
            <a:pPr algn="l" indent="0" marL="0">
              <a:lnSpc>
                <a:spcPts val="1155"/>
              </a:lnSpc>
              <a:spcAft>
                <a:spcPts val="600"/>
              </a:spcAft>
              <a:buNone/>
            </a:pPr>
            <a:r>
              <a:rPr lang="en-US" sz="825" b="1" dirty="0">
                <a:solidFill>
                  <a:srgbClr val="059669"/>
                </a:solidFill>
                <a:latin typeface="Arial" pitchFamily="34" charset="0"/>
                <a:ea typeface="Arial" pitchFamily="34" charset="-122"/>
                <a:cs typeface="Arial" pitchFamily="34" charset="-120"/>
              </a:rPr>
              <a:t>LOCAL (SAFE)</a:t>
            </a:r>
            <a:endParaRPr lang="en-US" sz="825" dirty="0"/>
          </a:p>
        </p:txBody>
      </p:sp>
      <p:sp>
        <p:nvSpPr>
          <p:cNvPr id="8" name="Text 6"/>
          <p:cNvSpPr/>
          <p:nvPr/>
        </p:nvSpPr>
        <p:spPr>
          <a:xfrm>
            <a:off x="533400" y="1849934"/>
            <a:ext cx="2513127" cy="133350"/>
          </a:xfrm>
          <a:prstGeom prst="rect">
            <a:avLst/>
          </a:prstGeom>
          <a:noFill/>
          <a:ln/>
        </p:spPr>
        <p:txBody>
          <a:bodyPr wrap="square" lIns="0" tIns="0" rIns="0" bIns="0" rtlCol="0" anchor="t"/>
          <a:lstStyle/>
          <a:p>
            <a:pPr algn="l" indent="0" marL="0">
              <a:lnSpc>
                <a:spcPts val="1050"/>
              </a:lnSpc>
              <a:spcAft>
                <a:spcPts val="300"/>
              </a:spcAft>
              <a:buNone/>
            </a:pPr>
            <a:r>
              <a:rPr lang="en-US" sz="750" dirty="0">
                <a:solidFill>
                  <a:srgbClr val="166534"/>
                </a:solidFill>
                <a:latin typeface="Arial" pitchFamily="34" charset="0"/>
                <a:ea typeface="Arial" pitchFamily="34" charset="-122"/>
                <a:cs typeface="Arial" pitchFamily="34" charset="-120"/>
              </a:rPr>
              <a:t>Your Device Only</a:t>
            </a:r>
            <a:endParaRPr lang="en-US" sz="750" dirty="0"/>
          </a:p>
        </p:txBody>
      </p:sp>
      <p:sp>
        <p:nvSpPr>
          <p:cNvPr id="9" name="Text 7"/>
          <p:cNvSpPr/>
          <p:nvPr/>
        </p:nvSpPr>
        <p:spPr>
          <a:xfrm>
            <a:off x="533400" y="2173784"/>
            <a:ext cx="2513127" cy="479822"/>
          </a:xfrm>
          <a:prstGeom prst="rect">
            <a:avLst/>
          </a:prstGeom>
          <a:noFill/>
          <a:ln/>
        </p:spPr>
        <p:txBody>
          <a:bodyPr wrap="square" lIns="0" tIns="0" rIns="0" bIns="0" rtlCol="0" anchor="t"/>
          <a:lstStyle/>
          <a:p>
            <a:pPr algn="l" indent="0" marL="0">
              <a:lnSpc>
                <a:spcPts val="945"/>
              </a:lnSpc>
              <a:buNone/>
            </a:pPr>
            <a:r>
              <a:rPr lang="en-US" sz="675" dirty="0">
                <a:solidFill>
                  <a:srgbClr val="6B7280"/>
                </a:solidFill>
                <a:latin typeface="Arial" pitchFamily="34" charset="0"/>
                <a:ea typeface="Arial" pitchFamily="34" charset="-122"/>
                <a:cs typeface="Arial" pitchFamily="34" charset="-120"/>
              </a:rPr>
              <a:t>SuperWhisper local models</a:t>
            </a:r>
            <a:endParaRPr lang="en-US" sz="675" dirty="0"/>
          </a:p>
          <a:p>
            <a:pPr algn="l" indent="0" marL="0">
              <a:lnSpc>
                <a:spcPts val="945"/>
              </a:lnSpc>
              <a:buNone/>
            </a:pPr>
            <a:r>
              <a:rPr lang="en-US" sz="675" dirty="0">
                <a:solidFill>
                  <a:srgbClr val="6B7280"/>
                </a:solidFill>
                <a:latin typeface="Arial" pitchFamily="34" charset="0"/>
                <a:ea typeface="Arial" pitchFamily="34" charset="-122"/>
                <a:cs typeface="Arial" pitchFamily="34" charset="-120"/>
              </a:rPr>
              <a:t>Ollama local models</a:t>
            </a:r>
            <a:endParaRPr lang="en-US" sz="675" dirty="0"/>
          </a:p>
          <a:p>
            <a:pPr algn="l" indent="0" marL="0">
              <a:lnSpc>
                <a:spcPts val="945"/>
              </a:lnSpc>
              <a:buNone/>
            </a:pPr>
            <a:r>
              <a:rPr lang="en-US" sz="675" dirty="0">
                <a:solidFill>
                  <a:srgbClr val="6B7280"/>
                </a:solidFill>
                <a:latin typeface="Arial" pitchFamily="34" charset="0"/>
                <a:ea typeface="Arial" pitchFamily="34" charset="-122"/>
                <a:cs typeface="Arial" pitchFamily="34" charset="-120"/>
              </a:rPr>
              <a:t>Local file operations</a:t>
            </a:r>
            <a:endParaRPr lang="en-US" sz="675" dirty="0"/>
          </a:p>
          <a:p>
            <a:pPr algn="l" indent="0" marL="0">
              <a:lnSpc>
                <a:spcPts val="945"/>
              </a:lnSpc>
              <a:buNone/>
            </a:pPr>
            <a:r>
              <a:rPr lang="en-US" sz="675" dirty="0">
                <a:solidFill>
                  <a:srgbClr val="6B7280"/>
                </a:solidFill>
                <a:latin typeface="Arial" pitchFamily="34" charset="0"/>
                <a:ea typeface="Arial" pitchFamily="34" charset="-122"/>
                <a:cs typeface="Arial" pitchFamily="34" charset="-120"/>
              </a:rPr>
              <a:t>macOS dictation (on-device)</a:t>
            </a:r>
            <a:endParaRPr lang="en-US" sz="675" dirty="0"/>
          </a:p>
        </p:txBody>
      </p:sp>
      <p:sp>
        <p:nvSpPr>
          <p:cNvPr id="10" name="Text 8"/>
          <p:cNvSpPr/>
          <p:nvPr/>
        </p:nvSpPr>
        <p:spPr>
          <a:xfrm>
            <a:off x="3206800" y="1360438"/>
            <a:ext cx="2730550" cy="1407468"/>
          </a:xfrm>
          <a:prstGeom prst="rect">
            <a:avLst/>
          </a:prstGeom>
          <a:solidFill>
            <a:srgbClr val="FEF3C7"/>
          </a:solidFill>
          <a:ln/>
        </p:spPr>
        <p:txBody>
          <a:bodyPr wrap="square" rtlCol="0" anchor="ctr"/>
          <a:lstStyle/>
          <a:p>
            <a:pPr indent="0" marL="0">
              <a:buNone/>
            </a:pPr>
            <a:endParaRPr lang="en-US" dirty="0"/>
          </a:p>
        </p:txBody>
      </p:sp>
      <p:sp>
        <p:nvSpPr>
          <p:cNvPr id="11" name="Shape 9"/>
          <p:cNvSpPr/>
          <p:nvPr/>
        </p:nvSpPr>
        <p:spPr>
          <a:xfrm>
            <a:off x="3225850" y="1360438"/>
            <a:ext cx="0" cy="1407468"/>
          </a:xfrm>
          <a:prstGeom prst="line">
            <a:avLst/>
          </a:prstGeom>
          <a:noFill/>
          <a:ln w="38100">
            <a:solidFill>
              <a:srgbClr val="F59E0B"/>
            </a:solidFill>
            <a:prstDash val="solid"/>
          </a:ln>
        </p:spPr>
      </p:sp>
      <p:sp>
        <p:nvSpPr>
          <p:cNvPr id="12" name="Text 10"/>
          <p:cNvSpPr/>
          <p:nvPr/>
        </p:nvSpPr>
        <p:spPr>
          <a:xfrm>
            <a:off x="3359200" y="1474738"/>
            <a:ext cx="2513127" cy="146596"/>
          </a:xfrm>
          <a:prstGeom prst="rect">
            <a:avLst/>
          </a:prstGeom>
          <a:noFill/>
          <a:ln/>
        </p:spPr>
        <p:txBody>
          <a:bodyPr wrap="square" lIns="0" tIns="0" rIns="0" bIns="0" rtlCol="0" anchor="t"/>
          <a:lstStyle/>
          <a:p>
            <a:pPr algn="l" indent="0" marL="0">
              <a:lnSpc>
                <a:spcPts val="1155"/>
              </a:lnSpc>
              <a:spcAft>
                <a:spcPts val="600"/>
              </a:spcAft>
              <a:buNone/>
            </a:pPr>
            <a:r>
              <a:rPr lang="en-US" sz="825" b="1" dirty="0">
                <a:solidFill>
                  <a:srgbClr val="B45309"/>
                </a:solidFill>
                <a:latin typeface="Arial" pitchFamily="34" charset="0"/>
                <a:ea typeface="Arial" pitchFamily="34" charset="-122"/>
                <a:cs typeface="Arial" pitchFamily="34" charset="-120"/>
              </a:rPr>
              <a:t>CLOUD (VERIFY)</a:t>
            </a:r>
            <a:endParaRPr lang="en-US" sz="825" dirty="0"/>
          </a:p>
        </p:txBody>
      </p:sp>
      <p:sp>
        <p:nvSpPr>
          <p:cNvPr id="13" name="Text 11"/>
          <p:cNvSpPr/>
          <p:nvPr/>
        </p:nvSpPr>
        <p:spPr>
          <a:xfrm>
            <a:off x="3359200" y="1849934"/>
            <a:ext cx="2513127" cy="133350"/>
          </a:xfrm>
          <a:prstGeom prst="rect">
            <a:avLst/>
          </a:prstGeom>
          <a:noFill/>
          <a:ln/>
        </p:spPr>
        <p:txBody>
          <a:bodyPr wrap="square" lIns="0" tIns="0" rIns="0" bIns="0" rtlCol="0" anchor="t"/>
          <a:lstStyle/>
          <a:p>
            <a:pPr algn="l" indent="0" marL="0">
              <a:lnSpc>
                <a:spcPts val="1050"/>
              </a:lnSpc>
              <a:spcAft>
                <a:spcPts val="300"/>
              </a:spcAft>
              <a:buNone/>
            </a:pPr>
            <a:r>
              <a:rPr lang="en-US" sz="750" dirty="0">
                <a:solidFill>
                  <a:srgbClr val="92400E"/>
                </a:solidFill>
                <a:latin typeface="Arial" pitchFamily="34" charset="0"/>
                <a:ea typeface="Arial" pitchFamily="34" charset="-122"/>
                <a:cs typeface="Arial" pitchFamily="34" charset="-120"/>
              </a:rPr>
              <a:t>Enterprise Approved</a:t>
            </a:r>
            <a:endParaRPr lang="en-US" sz="750" dirty="0"/>
          </a:p>
        </p:txBody>
      </p:sp>
      <p:sp>
        <p:nvSpPr>
          <p:cNvPr id="14" name="Text 12"/>
          <p:cNvSpPr/>
          <p:nvPr/>
        </p:nvSpPr>
        <p:spPr>
          <a:xfrm>
            <a:off x="3359200" y="2173784"/>
            <a:ext cx="2513127" cy="479822"/>
          </a:xfrm>
          <a:prstGeom prst="rect">
            <a:avLst/>
          </a:prstGeom>
          <a:noFill/>
          <a:ln/>
        </p:spPr>
        <p:txBody>
          <a:bodyPr wrap="square" lIns="0" tIns="0" rIns="0" bIns="0" rtlCol="0" anchor="t"/>
          <a:lstStyle/>
          <a:p>
            <a:pPr algn="l" indent="0" marL="0">
              <a:lnSpc>
                <a:spcPts val="945"/>
              </a:lnSpc>
              <a:buNone/>
            </a:pPr>
            <a:r>
              <a:rPr lang="en-US" sz="675" dirty="0">
                <a:solidFill>
                  <a:srgbClr val="6B7280"/>
                </a:solidFill>
                <a:latin typeface="Arial" pitchFamily="34" charset="0"/>
                <a:ea typeface="Arial" pitchFamily="34" charset="-122"/>
                <a:cs typeface="Arial" pitchFamily="34" charset="-120"/>
              </a:rPr>
              <a:t>Azure OpenAI (with BAA)</a:t>
            </a:r>
            <a:endParaRPr lang="en-US" sz="675" dirty="0"/>
          </a:p>
          <a:p>
            <a:pPr algn="l" indent="0" marL="0">
              <a:lnSpc>
                <a:spcPts val="945"/>
              </a:lnSpc>
              <a:buNone/>
            </a:pPr>
            <a:r>
              <a:rPr lang="en-US" sz="675" dirty="0">
                <a:solidFill>
                  <a:srgbClr val="6B7280"/>
                </a:solidFill>
                <a:latin typeface="Arial" pitchFamily="34" charset="0"/>
                <a:ea typeface="Arial" pitchFamily="34" charset="-122"/>
                <a:cs typeface="Arial" pitchFamily="34" charset="-120"/>
              </a:rPr>
              <a:t>Azure AI Foundry</a:t>
            </a:r>
            <a:endParaRPr lang="en-US" sz="675" dirty="0"/>
          </a:p>
          <a:p>
            <a:pPr algn="l" indent="0" marL="0">
              <a:lnSpc>
                <a:spcPts val="945"/>
              </a:lnSpc>
              <a:buNone/>
            </a:pPr>
            <a:r>
              <a:rPr lang="en-US" sz="675" dirty="0">
                <a:solidFill>
                  <a:srgbClr val="6B7280"/>
                </a:solidFill>
                <a:latin typeface="Arial" pitchFamily="34" charset="0"/>
                <a:ea typeface="Arial" pitchFamily="34" charset="-122"/>
                <a:cs typeface="Arial" pitchFamily="34" charset="-120"/>
              </a:rPr>
              <a:t>GCC/GCC-High endpoints</a:t>
            </a:r>
            <a:endParaRPr lang="en-US" sz="675" dirty="0"/>
          </a:p>
          <a:p>
            <a:pPr algn="l" indent="0" marL="0">
              <a:lnSpc>
                <a:spcPts val="945"/>
              </a:lnSpc>
              <a:buNone/>
            </a:pPr>
            <a:r>
              <a:rPr lang="en-US" sz="675" dirty="0">
                <a:solidFill>
                  <a:srgbClr val="6B7280"/>
                </a:solidFill>
                <a:latin typeface="Arial" pitchFamily="34" charset="0"/>
                <a:ea typeface="Arial" pitchFamily="34" charset="-122"/>
                <a:cs typeface="Arial" pitchFamily="34" charset="-120"/>
              </a:rPr>
              <a:t>GitHub Enterprise</a:t>
            </a:r>
            <a:endParaRPr lang="en-US" sz="675" dirty="0"/>
          </a:p>
        </p:txBody>
      </p:sp>
      <p:sp>
        <p:nvSpPr>
          <p:cNvPr id="15" name="Text 13"/>
          <p:cNvSpPr/>
          <p:nvPr/>
        </p:nvSpPr>
        <p:spPr>
          <a:xfrm>
            <a:off x="6032599" y="1360438"/>
            <a:ext cx="2730550" cy="1407468"/>
          </a:xfrm>
          <a:prstGeom prst="rect">
            <a:avLst/>
          </a:prstGeom>
          <a:solidFill>
            <a:srgbClr val="FEF2F2"/>
          </a:solidFill>
          <a:ln/>
        </p:spPr>
        <p:txBody>
          <a:bodyPr wrap="square" rtlCol="0" anchor="ctr"/>
          <a:lstStyle/>
          <a:p>
            <a:pPr indent="0" marL="0">
              <a:buNone/>
            </a:pPr>
            <a:endParaRPr lang="en-US" dirty="0"/>
          </a:p>
        </p:txBody>
      </p:sp>
      <p:sp>
        <p:nvSpPr>
          <p:cNvPr id="16" name="Shape 14"/>
          <p:cNvSpPr/>
          <p:nvPr/>
        </p:nvSpPr>
        <p:spPr>
          <a:xfrm>
            <a:off x="6051649" y="1360438"/>
            <a:ext cx="0" cy="1407468"/>
          </a:xfrm>
          <a:prstGeom prst="line">
            <a:avLst/>
          </a:prstGeom>
          <a:noFill/>
          <a:ln w="38100">
            <a:solidFill>
              <a:srgbClr val="DC2626"/>
            </a:solidFill>
            <a:prstDash val="solid"/>
          </a:ln>
        </p:spPr>
      </p:sp>
      <p:sp>
        <p:nvSpPr>
          <p:cNvPr id="17" name="Text 15"/>
          <p:cNvSpPr/>
          <p:nvPr/>
        </p:nvSpPr>
        <p:spPr>
          <a:xfrm>
            <a:off x="6184999" y="1474738"/>
            <a:ext cx="2513127" cy="146596"/>
          </a:xfrm>
          <a:prstGeom prst="rect">
            <a:avLst/>
          </a:prstGeom>
          <a:noFill/>
          <a:ln/>
        </p:spPr>
        <p:txBody>
          <a:bodyPr wrap="square" lIns="0" tIns="0" rIns="0" bIns="0" rtlCol="0" anchor="t"/>
          <a:lstStyle/>
          <a:p>
            <a:pPr algn="l" indent="0" marL="0">
              <a:lnSpc>
                <a:spcPts val="1155"/>
              </a:lnSpc>
              <a:spcAft>
                <a:spcPts val="600"/>
              </a:spcAft>
              <a:buNone/>
            </a:pPr>
            <a:r>
              <a:rPr lang="en-US" sz="825" b="1" dirty="0">
                <a:solidFill>
                  <a:srgbClr val="DC2626"/>
                </a:solidFill>
                <a:latin typeface="Arial" pitchFamily="34" charset="0"/>
                <a:ea typeface="Arial" pitchFamily="34" charset="-122"/>
                <a:cs typeface="Arial" pitchFamily="34" charset="-120"/>
              </a:rPr>
              <a:t>PUBLIC (CAUTION)</a:t>
            </a:r>
            <a:endParaRPr lang="en-US" sz="825" dirty="0"/>
          </a:p>
        </p:txBody>
      </p:sp>
      <p:sp>
        <p:nvSpPr>
          <p:cNvPr id="18" name="Text 16"/>
          <p:cNvSpPr/>
          <p:nvPr/>
        </p:nvSpPr>
        <p:spPr>
          <a:xfrm>
            <a:off x="6184999" y="1849934"/>
            <a:ext cx="2513127" cy="133350"/>
          </a:xfrm>
          <a:prstGeom prst="rect">
            <a:avLst/>
          </a:prstGeom>
          <a:noFill/>
          <a:ln/>
        </p:spPr>
        <p:txBody>
          <a:bodyPr wrap="square" lIns="0" tIns="0" rIns="0" bIns="0" rtlCol="0" anchor="t"/>
          <a:lstStyle/>
          <a:p>
            <a:pPr algn="l" indent="0" marL="0">
              <a:lnSpc>
                <a:spcPts val="1050"/>
              </a:lnSpc>
              <a:spcAft>
                <a:spcPts val="300"/>
              </a:spcAft>
              <a:buNone/>
            </a:pPr>
            <a:r>
              <a:rPr lang="en-US" sz="750" dirty="0">
                <a:solidFill>
                  <a:srgbClr val="991B1B"/>
                </a:solidFill>
                <a:latin typeface="Arial" pitchFamily="34" charset="0"/>
                <a:ea typeface="Arial" pitchFamily="34" charset="-122"/>
                <a:cs typeface="Arial" pitchFamily="34" charset="-120"/>
              </a:rPr>
              <a:t>Not for PHI</a:t>
            </a:r>
            <a:endParaRPr lang="en-US" sz="750" dirty="0"/>
          </a:p>
        </p:txBody>
      </p:sp>
      <p:sp>
        <p:nvSpPr>
          <p:cNvPr id="19" name="Text 17"/>
          <p:cNvSpPr/>
          <p:nvPr/>
        </p:nvSpPr>
        <p:spPr>
          <a:xfrm>
            <a:off x="6184999" y="2173784"/>
            <a:ext cx="2513127" cy="479822"/>
          </a:xfrm>
          <a:prstGeom prst="rect">
            <a:avLst/>
          </a:prstGeom>
          <a:noFill/>
          <a:ln/>
        </p:spPr>
        <p:txBody>
          <a:bodyPr wrap="square" lIns="0" tIns="0" rIns="0" bIns="0" rtlCol="0" anchor="t"/>
          <a:lstStyle/>
          <a:p>
            <a:pPr algn="l" indent="0" marL="0">
              <a:lnSpc>
                <a:spcPts val="945"/>
              </a:lnSpc>
              <a:buNone/>
            </a:pPr>
            <a:r>
              <a:rPr lang="en-US" sz="675" dirty="0">
                <a:solidFill>
                  <a:srgbClr val="6B7280"/>
                </a:solidFill>
                <a:latin typeface="Arial" pitchFamily="34" charset="0"/>
                <a:ea typeface="Arial" pitchFamily="34" charset="-122"/>
                <a:cs typeface="Arial" pitchFamily="34" charset="-120"/>
              </a:rPr>
              <a:t>Wispr Flow (cloud-based)*</a:t>
            </a:r>
            <a:endParaRPr lang="en-US" sz="675" dirty="0"/>
          </a:p>
          <a:p>
            <a:pPr algn="l" indent="0" marL="0">
              <a:lnSpc>
                <a:spcPts val="945"/>
              </a:lnSpc>
              <a:buNone/>
            </a:pPr>
            <a:r>
              <a:rPr lang="en-US" sz="675" dirty="0">
                <a:solidFill>
                  <a:srgbClr val="6B7280"/>
                </a:solidFill>
                <a:latin typeface="Arial" pitchFamily="34" charset="0"/>
                <a:ea typeface="Arial" pitchFamily="34" charset="-122"/>
                <a:cs typeface="Arial" pitchFamily="34" charset="-120"/>
              </a:rPr>
              <a:t>OpenAI/Anthropic direct</a:t>
            </a:r>
            <a:endParaRPr lang="en-US" sz="675" dirty="0"/>
          </a:p>
          <a:p>
            <a:pPr algn="l" indent="0" marL="0">
              <a:lnSpc>
                <a:spcPts val="945"/>
              </a:lnSpc>
              <a:buNone/>
            </a:pPr>
            <a:r>
              <a:rPr lang="en-US" sz="675" dirty="0">
                <a:solidFill>
                  <a:srgbClr val="6B7280"/>
                </a:solidFill>
                <a:latin typeface="Arial" pitchFamily="34" charset="0"/>
                <a:ea typeface="Arial" pitchFamily="34" charset="-122"/>
                <a:cs typeface="Arial" pitchFamily="34" charset="-120"/>
              </a:rPr>
              <a:t>ChatGPT/Claude.ai free</a:t>
            </a:r>
            <a:endParaRPr lang="en-US" sz="675" dirty="0"/>
          </a:p>
          <a:p>
            <a:pPr algn="l" indent="0" marL="0">
              <a:lnSpc>
                <a:spcPts val="945"/>
              </a:lnSpc>
              <a:buNone/>
            </a:pPr>
            <a:r>
              <a:rPr lang="en-US" sz="675" dirty="0">
                <a:solidFill>
                  <a:srgbClr val="6B7280"/>
                </a:solidFill>
                <a:latin typeface="Arial" pitchFamily="34" charset="0"/>
                <a:ea typeface="Arial" pitchFamily="34" charset="-122"/>
                <a:cs typeface="Arial" pitchFamily="34" charset="-120"/>
              </a:rPr>
              <a:t>Default OS dictation</a:t>
            </a:r>
            <a:endParaRPr lang="en-US" sz="675" dirty="0"/>
          </a:p>
        </p:txBody>
      </p:sp>
      <p:sp>
        <p:nvSpPr>
          <p:cNvPr id="20" name="Text 18"/>
          <p:cNvSpPr/>
          <p:nvPr/>
        </p:nvSpPr>
        <p:spPr>
          <a:xfrm>
            <a:off x="381000" y="3034605"/>
            <a:ext cx="8382000" cy="1047601"/>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21" name="Text 19"/>
          <p:cNvSpPr/>
          <p:nvPr/>
        </p:nvSpPr>
        <p:spPr>
          <a:xfrm>
            <a:off x="542925" y="3196530"/>
            <a:ext cx="8219313" cy="146596"/>
          </a:xfrm>
          <a:prstGeom prst="rect">
            <a:avLst/>
          </a:prstGeom>
          <a:noFill/>
          <a:ln/>
        </p:spPr>
        <p:txBody>
          <a:bodyPr wrap="square" lIns="0" tIns="0" rIns="0" bIns="0" rtlCol="0" anchor="t"/>
          <a:lstStyle/>
          <a:p>
            <a:pPr algn="l" indent="0" marL="0">
              <a:lnSpc>
                <a:spcPts val="1155"/>
              </a:lnSpc>
              <a:spcAft>
                <a:spcPts val="750"/>
              </a:spcAft>
              <a:buNone/>
            </a:pPr>
            <a:r>
              <a:rPr lang="en-US" sz="825" b="1" dirty="0">
                <a:solidFill>
                  <a:srgbClr val="1A1F2E"/>
                </a:solidFill>
                <a:latin typeface="Arial" pitchFamily="34" charset="0"/>
                <a:ea typeface="Arial" pitchFamily="34" charset="-122"/>
                <a:cs typeface="Arial" pitchFamily="34" charset="-120"/>
              </a:rPr>
              <a:t>TYPICAL VOICE WORKFLOW DATA FLOW</a:t>
            </a:r>
            <a:endParaRPr lang="en-US" sz="825" dirty="0"/>
          </a:p>
        </p:txBody>
      </p:sp>
      <p:sp>
        <p:nvSpPr>
          <p:cNvPr id="22" name="Text 20"/>
          <p:cNvSpPr/>
          <p:nvPr/>
        </p:nvSpPr>
        <p:spPr>
          <a:xfrm>
            <a:off x="2590502" y="3447901"/>
            <a:ext cx="699939" cy="247650"/>
          </a:xfrm>
          <a:prstGeom prst="rect">
            <a:avLst/>
          </a:prstGeom>
          <a:solidFill>
            <a:srgbClr val="DCFCE7"/>
          </a:solidFill>
          <a:ln/>
        </p:spPr>
        <p:txBody>
          <a:bodyPr wrap="square" rtlCol="0" anchor="ctr"/>
          <a:lstStyle/>
          <a:p>
            <a:pPr indent="0" marL="0">
              <a:buNone/>
            </a:pPr>
            <a:endParaRPr lang="en-US" dirty="0"/>
          </a:p>
        </p:txBody>
      </p:sp>
      <p:sp>
        <p:nvSpPr>
          <p:cNvPr id="23" name="Text 21"/>
          <p:cNvSpPr/>
          <p:nvPr/>
        </p:nvSpPr>
        <p:spPr>
          <a:xfrm>
            <a:off x="2704802" y="3505051"/>
            <a:ext cx="480765" cy="133350"/>
          </a:xfrm>
          <a:prstGeom prst="rect">
            <a:avLst/>
          </a:prstGeom>
          <a:noFill/>
          <a:ln/>
        </p:spPr>
        <p:txBody>
          <a:bodyPr wrap="square" lIns="0" tIns="0" rIns="0" bIns="0" rtlCol="0" anchor="t"/>
          <a:lstStyle/>
          <a:p>
            <a:pPr algn="l" indent="0" marL="0">
              <a:lnSpc>
                <a:spcPts val="1050"/>
              </a:lnSpc>
              <a:buNone/>
            </a:pPr>
            <a:r>
              <a:rPr lang="en-US" sz="750" dirty="0">
                <a:solidFill>
                  <a:srgbClr val="166534"/>
                </a:solidFill>
                <a:latin typeface="Arial" pitchFamily="34" charset="0"/>
                <a:ea typeface="Arial" pitchFamily="34" charset="-122"/>
                <a:cs typeface="Arial" pitchFamily="34" charset="-120"/>
              </a:rPr>
              <a:t>Voice Input</a:t>
            </a:r>
            <a:endParaRPr lang="en-US" sz="750" dirty="0"/>
          </a:p>
        </p:txBody>
      </p:sp>
      <p:sp>
        <p:nvSpPr>
          <p:cNvPr id="24" name="Text 22"/>
          <p:cNvSpPr/>
          <p:nvPr/>
        </p:nvSpPr>
        <p:spPr>
          <a:xfrm>
            <a:off x="3347591" y="3438376"/>
            <a:ext cx="178219" cy="266700"/>
          </a:xfrm>
          <a:prstGeom prst="rect">
            <a:avLst/>
          </a:prstGeom>
          <a:noFill/>
          <a:ln/>
        </p:spPr>
        <p:txBody>
          <a:bodyPr wrap="square" lIns="0" tIns="0" rIns="0" bIns="0" rtlCol="0" anchor="t"/>
          <a:lstStyle/>
          <a:p>
            <a:pPr algn="l" indent="0" marL="0">
              <a:lnSpc>
                <a:spcPts val="2100"/>
              </a:lnSpc>
              <a:buNone/>
            </a:pPr>
            <a:r>
              <a:rPr lang="en-US" sz="1500" dirty="0">
                <a:solidFill>
                  <a:srgbClr val="6B7280"/>
                </a:solidFill>
                <a:latin typeface="Arial" pitchFamily="34" charset="0"/>
                <a:ea typeface="Arial" pitchFamily="34" charset="-122"/>
                <a:cs typeface="Arial" pitchFamily="34" charset="-120"/>
              </a:rPr>
              <a:t>-&gt;</a:t>
            </a:r>
            <a:endParaRPr lang="en-US" sz="1500" dirty="0"/>
          </a:p>
        </p:txBody>
      </p:sp>
      <p:sp>
        <p:nvSpPr>
          <p:cNvPr id="25" name="Text 23"/>
          <p:cNvSpPr/>
          <p:nvPr/>
        </p:nvSpPr>
        <p:spPr>
          <a:xfrm>
            <a:off x="3579465" y="3447901"/>
            <a:ext cx="832098" cy="247650"/>
          </a:xfrm>
          <a:prstGeom prst="rect">
            <a:avLst/>
          </a:prstGeom>
          <a:solidFill>
            <a:srgbClr val="DCFCE7"/>
          </a:solidFill>
          <a:ln/>
        </p:spPr>
        <p:txBody>
          <a:bodyPr wrap="square" rtlCol="0" anchor="ctr"/>
          <a:lstStyle/>
          <a:p>
            <a:pPr indent="0" marL="0">
              <a:buNone/>
            </a:pPr>
            <a:endParaRPr lang="en-US" dirty="0"/>
          </a:p>
        </p:txBody>
      </p:sp>
      <p:sp>
        <p:nvSpPr>
          <p:cNvPr id="26" name="Text 24"/>
          <p:cNvSpPr/>
          <p:nvPr/>
        </p:nvSpPr>
        <p:spPr>
          <a:xfrm>
            <a:off x="3693765" y="3505051"/>
            <a:ext cx="615568" cy="133350"/>
          </a:xfrm>
          <a:prstGeom prst="rect">
            <a:avLst/>
          </a:prstGeom>
          <a:noFill/>
          <a:ln/>
        </p:spPr>
        <p:txBody>
          <a:bodyPr wrap="square" lIns="0" tIns="0" rIns="0" bIns="0" rtlCol="0" anchor="t"/>
          <a:lstStyle/>
          <a:p>
            <a:pPr algn="l" indent="0" marL="0">
              <a:lnSpc>
                <a:spcPts val="1050"/>
              </a:lnSpc>
              <a:buNone/>
            </a:pPr>
            <a:r>
              <a:rPr lang="en-US" sz="750" dirty="0">
                <a:solidFill>
                  <a:srgbClr val="166534"/>
                </a:solidFill>
                <a:latin typeface="Arial" pitchFamily="34" charset="0"/>
                <a:ea typeface="Arial" pitchFamily="34" charset="-122"/>
                <a:cs typeface="Arial" pitchFamily="34" charset="-120"/>
              </a:rPr>
              <a:t>Local Whisper</a:t>
            </a:r>
            <a:endParaRPr lang="en-US" sz="750" dirty="0"/>
          </a:p>
        </p:txBody>
      </p:sp>
      <p:sp>
        <p:nvSpPr>
          <p:cNvPr id="27" name="Text 25"/>
          <p:cNvSpPr/>
          <p:nvPr/>
        </p:nvSpPr>
        <p:spPr>
          <a:xfrm>
            <a:off x="4468713" y="3438376"/>
            <a:ext cx="178219" cy="266700"/>
          </a:xfrm>
          <a:prstGeom prst="rect">
            <a:avLst/>
          </a:prstGeom>
          <a:noFill/>
          <a:ln/>
        </p:spPr>
        <p:txBody>
          <a:bodyPr wrap="square" lIns="0" tIns="0" rIns="0" bIns="0" rtlCol="0" anchor="t"/>
          <a:lstStyle/>
          <a:p>
            <a:pPr algn="l" indent="0" marL="0">
              <a:lnSpc>
                <a:spcPts val="2100"/>
              </a:lnSpc>
              <a:buNone/>
            </a:pPr>
            <a:r>
              <a:rPr lang="en-US" sz="1500" dirty="0">
                <a:solidFill>
                  <a:srgbClr val="6B7280"/>
                </a:solidFill>
                <a:latin typeface="Arial" pitchFamily="34" charset="0"/>
                <a:ea typeface="Arial" pitchFamily="34" charset="-122"/>
                <a:cs typeface="Arial" pitchFamily="34" charset="-120"/>
              </a:rPr>
              <a:t>-&gt;</a:t>
            </a:r>
            <a:endParaRPr lang="en-US" sz="1500" dirty="0"/>
          </a:p>
        </p:txBody>
      </p:sp>
      <p:sp>
        <p:nvSpPr>
          <p:cNvPr id="28" name="Text 26"/>
          <p:cNvSpPr/>
          <p:nvPr/>
        </p:nvSpPr>
        <p:spPr>
          <a:xfrm>
            <a:off x="4700588" y="3447901"/>
            <a:ext cx="853380" cy="247650"/>
          </a:xfrm>
          <a:prstGeom prst="rect">
            <a:avLst/>
          </a:prstGeom>
          <a:solidFill>
            <a:srgbClr val="FEF3C7"/>
          </a:solidFill>
          <a:ln/>
        </p:spPr>
        <p:txBody>
          <a:bodyPr wrap="square" rtlCol="0" anchor="ctr"/>
          <a:lstStyle/>
          <a:p>
            <a:pPr indent="0" marL="0">
              <a:buNone/>
            </a:pPr>
            <a:endParaRPr lang="en-US" dirty="0"/>
          </a:p>
        </p:txBody>
      </p:sp>
      <p:sp>
        <p:nvSpPr>
          <p:cNvPr id="29" name="Text 27"/>
          <p:cNvSpPr/>
          <p:nvPr/>
        </p:nvSpPr>
        <p:spPr>
          <a:xfrm>
            <a:off x="4814888" y="3505051"/>
            <a:ext cx="637276" cy="133350"/>
          </a:xfrm>
          <a:prstGeom prst="rect">
            <a:avLst/>
          </a:prstGeom>
          <a:noFill/>
          <a:ln/>
        </p:spPr>
        <p:txBody>
          <a:bodyPr wrap="square" lIns="0" tIns="0" rIns="0" bIns="0" rtlCol="0" anchor="t"/>
          <a:lstStyle/>
          <a:p>
            <a:pPr algn="l" indent="0" marL="0">
              <a:lnSpc>
                <a:spcPts val="1050"/>
              </a:lnSpc>
              <a:buNone/>
            </a:pPr>
            <a:r>
              <a:rPr lang="en-US" sz="750" dirty="0">
                <a:solidFill>
                  <a:srgbClr val="92400E"/>
                </a:solidFill>
                <a:latin typeface="Arial" pitchFamily="34" charset="0"/>
                <a:ea typeface="Arial" pitchFamily="34" charset="-122"/>
                <a:cs typeface="Arial" pitchFamily="34" charset="-120"/>
              </a:rPr>
              <a:t>AI Processing*</a:t>
            </a:r>
            <a:endParaRPr lang="en-US" sz="750" dirty="0"/>
          </a:p>
        </p:txBody>
      </p:sp>
      <p:sp>
        <p:nvSpPr>
          <p:cNvPr id="30" name="Text 28"/>
          <p:cNvSpPr/>
          <p:nvPr/>
        </p:nvSpPr>
        <p:spPr>
          <a:xfrm>
            <a:off x="5611118" y="3438376"/>
            <a:ext cx="178219" cy="266700"/>
          </a:xfrm>
          <a:prstGeom prst="rect">
            <a:avLst/>
          </a:prstGeom>
          <a:noFill/>
          <a:ln/>
        </p:spPr>
        <p:txBody>
          <a:bodyPr wrap="square" lIns="0" tIns="0" rIns="0" bIns="0" rtlCol="0" anchor="t"/>
          <a:lstStyle/>
          <a:p>
            <a:pPr algn="l" indent="0" marL="0">
              <a:lnSpc>
                <a:spcPts val="2100"/>
              </a:lnSpc>
              <a:buNone/>
            </a:pPr>
            <a:r>
              <a:rPr lang="en-US" sz="1500" dirty="0">
                <a:solidFill>
                  <a:srgbClr val="6B7280"/>
                </a:solidFill>
                <a:latin typeface="Arial" pitchFamily="34" charset="0"/>
                <a:ea typeface="Arial" pitchFamily="34" charset="-122"/>
                <a:cs typeface="Arial" pitchFamily="34" charset="-120"/>
              </a:rPr>
              <a:t>-&gt;</a:t>
            </a:r>
            <a:endParaRPr lang="en-US" sz="1500" dirty="0"/>
          </a:p>
        </p:txBody>
      </p:sp>
      <p:sp>
        <p:nvSpPr>
          <p:cNvPr id="31" name="Text 29"/>
          <p:cNvSpPr/>
          <p:nvPr/>
        </p:nvSpPr>
        <p:spPr>
          <a:xfrm>
            <a:off x="5842992" y="3447901"/>
            <a:ext cx="710505" cy="247650"/>
          </a:xfrm>
          <a:prstGeom prst="rect">
            <a:avLst/>
          </a:prstGeom>
          <a:solidFill>
            <a:srgbClr val="DCFCE7"/>
          </a:solidFill>
          <a:ln/>
        </p:spPr>
        <p:txBody>
          <a:bodyPr wrap="square" rtlCol="0" anchor="ctr"/>
          <a:lstStyle/>
          <a:p>
            <a:pPr indent="0" marL="0">
              <a:buNone/>
            </a:pPr>
            <a:endParaRPr lang="en-US" dirty="0"/>
          </a:p>
        </p:txBody>
      </p:sp>
      <p:sp>
        <p:nvSpPr>
          <p:cNvPr id="32" name="Text 30"/>
          <p:cNvSpPr/>
          <p:nvPr/>
        </p:nvSpPr>
        <p:spPr>
          <a:xfrm>
            <a:off x="5957292" y="3505051"/>
            <a:ext cx="491544" cy="133350"/>
          </a:xfrm>
          <a:prstGeom prst="rect">
            <a:avLst/>
          </a:prstGeom>
          <a:noFill/>
          <a:ln/>
        </p:spPr>
        <p:txBody>
          <a:bodyPr wrap="square" lIns="0" tIns="0" rIns="0" bIns="0" rtlCol="0" anchor="t"/>
          <a:lstStyle/>
          <a:p>
            <a:pPr algn="l" indent="0" marL="0">
              <a:lnSpc>
                <a:spcPts val="1050"/>
              </a:lnSpc>
              <a:buNone/>
            </a:pPr>
            <a:r>
              <a:rPr lang="en-US" sz="750" dirty="0">
                <a:solidFill>
                  <a:srgbClr val="166534"/>
                </a:solidFill>
                <a:latin typeface="Arial" pitchFamily="34" charset="0"/>
                <a:ea typeface="Arial" pitchFamily="34" charset="-122"/>
                <a:cs typeface="Arial" pitchFamily="34" charset="-120"/>
              </a:rPr>
              <a:t>Local Code</a:t>
            </a:r>
            <a:endParaRPr lang="en-US" sz="750" dirty="0"/>
          </a:p>
        </p:txBody>
      </p:sp>
      <p:sp>
        <p:nvSpPr>
          <p:cNvPr id="33" name="Text 31"/>
          <p:cNvSpPr/>
          <p:nvPr/>
        </p:nvSpPr>
        <p:spPr>
          <a:xfrm>
            <a:off x="462344" y="3800326"/>
            <a:ext cx="8219313" cy="119955"/>
          </a:xfrm>
          <a:prstGeom prst="rect">
            <a:avLst/>
          </a:prstGeom>
          <a:noFill/>
          <a:ln/>
        </p:spPr>
        <p:txBody>
          <a:bodyPr wrap="square" lIns="0" tIns="0" rIns="0" bIns="0" rtlCol="0" anchor="t"/>
          <a:lstStyle/>
          <a:p>
            <a:pPr algn="ctr" indent="0" marL="0">
              <a:lnSpc>
                <a:spcPts val="945"/>
              </a:lnSpc>
              <a:spcBef>
                <a:spcPts val="750"/>
              </a:spcBef>
              <a:buNone/>
            </a:pPr>
            <a:r>
              <a:rPr lang="en-US" sz="675" dirty="0">
                <a:solidFill>
                  <a:srgbClr val="6B7280"/>
                </a:solidFill>
                <a:latin typeface="Arial" pitchFamily="34" charset="0"/>
                <a:ea typeface="Arial" pitchFamily="34" charset="-122"/>
                <a:cs typeface="Arial" pitchFamily="34" charset="-120"/>
              </a:rPr>
              <a:t>*Wispr Flow Privacy Mode = zero retention, but audio still sent to cloud servers</a:t>
            </a:r>
            <a:endParaRPr lang="en-US" sz="675" dirty="0"/>
          </a:p>
        </p:txBody>
      </p:sp>
      <p:sp>
        <p:nvSpPr>
          <p:cNvPr id="34" name="Text 32"/>
          <p:cNvSpPr/>
          <p:nvPr/>
        </p:nvSpPr>
        <p:spPr>
          <a:xfrm>
            <a:off x="381000" y="4348907"/>
            <a:ext cx="8382000" cy="375196"/>
          </a:xfrm>
          <a:prstGeom prst="rect">
            <a:avLst/>
          </a:prstGeom>
          <a:solidFill>
            <a:srgbClr val="1A1F2E"/>
          </a:solidFill>
          <a:ln/>
        </p:spPr>
        <p:txBody>
          <a:bodyPr wrap="square" rtlCol="0" anchor="ctr"/>
          <a:lstStyle/>
          <a:p>
            <a:pPr indent="0" marL="0">
              <a:buNone/>
            </a:pPr>
            <a:endParaRPr lang="en-US" dirty="0"/>
          </a:p>
        </p:txBody>
      </p:sp>
      <p:sp>
        <p:nvSpPr>
          <p:cNvPr id="35" name="Text 33"/>
          <p:cNvSpPr/>
          <p:nvPr/>
        </p:nvSpPr>
        <p:spPr>
          <a:xfrm>
            <a:off x="413766" y="4463207"/>
            <a:ext cx="8316468" cy="146596"/>
          </a:xfrm>
          <a:prstGeom prst="rect">
            <a:avLst/>
          </a:prstGeom>
          <a:noFill/>
          <a:ln/>
        </p:spPr>
        <p:txBody>
          <a:bodyPr wrap="square" lIns="0" tIns="0" rIns="0" bIns="0" rtlCol="0" anchor="t"/>
          <a:lstStyle/>
          <a:p>
            <a:pPr algn="ctr" indent="0" marL="0">
              <a:lnSpc>
                <a:spcPts val="1155"/>
              </a:lnSpc>
              <a:buNone/>
            </a:pPr>
            <a:r>
              <a:rPr lang="en-US" sz="825" b="1" dirty="0">
                <a:solidFill>
                  <a:srgbClr val="C9A227"/>
                </a:solidFill>
                <a:latin typeface="Arial" pitchFamily="34" charset="0"/>
                <a:ea typeface="Arial" pitchFamily="34" charset="-122"/>
                <a:cs typeface="Arial" pitchFamily="34" charset="-120"/>
              </a:rPr>
              <a:t>Always know where your data flows before including sensitive information</a:t>
            </a:r>
            <a:endParaRPr lang="en-US" sz="82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4047679" cy="5143500"/>
          </a:xfrm>
          <a:prstGeom prst="rect">
            <a:avLst/>
          </a:prstGeom>
          <a:solidFill>
            <a:srgbClr val="DC2626"/>
          </a:solidFill>
          <a:ln/>
        </p:spPr>
        <p:txBody>
          <a:bodyPr wrap="square" rtlCol="0" anchor="ctr"/>
          <a:lstStyle/>
          <a:p>
            <a:pPr indent="0" marL="0">
              <a:buNone/>
            </a:pPr>
            <a:endParaRPr lang="en-US" dirty="0"/>
          </a:p>
        </p:txBody>
      </p:sp>
      <p:sp>
        <p:nvSpPr>
          <p:cNvPr id="3" name="Text 1"/>
          <p:cNvSpPr/>
          <p:nvPr/>
        </p:nvSpPr>
        <p:spPr>
          <a:xfrm>
            <a:off x="381000" y="1331714"/>
            <a:ext cx="762000" cy="762000"/>
          </a:xfrm>
          <a:prstGeom prst="rect">
            <a:avLst/>
          </a:prstGeom>
          <a:solidFill>
            <a:srgbClr val="FFFFFF"/>
          </a:solidFill>
          <a:ln/>
        </p:spPr>
        <p:txBody>
          <a:bodyPr wrap="square" rtlCol="0" anchor="ctr"/>
          <a:lstStyle/>
          <a:p>
            <a:pPr indent="0" marL="0">
              <a:buNone/>
            </a:pPr>
            <a:endParaRPr lang="en-US" dirty="0"/>
          </a:p>
        </p:txBody>
      </p:sp>
      <p:sp>
        <p:nvSpPr>
          <p:cNvPr id="4" name="Text 2"/>
          <p:cNvSpPr/>
          <p:nvPr/>
        </p:nvSpPr>
        <p:spPr>
          <a:xfrm>
            <a:off x="675829" y="1392734"/>
            <a:ext cx="175638" cy="639961"/>
          </a:xfrm>
          <a:prstGeom prst="rect">
            <a:avLst/>
          </a:prstGeom>
          <a:noFill/>
          <a:ln/>
        </p:spPr>
        <p:txBody>
          <a:bodyPr wrap="square" lIns="0" tIns="0" rIns="0" bIns="0" rtlCol="0" anchor="t"/>
          <a:lstStyle/>
          <a:p>
            <a:pPr algn="l" indent="0" marL="0">
              <a:lnSpc>
                <a:spcPts val="5040"/>
              </a:lnSpc>
              <a:buNone/>
            </a:pPr>
            <a:r>
              <a:rPr lang="en-US" sz="3600" b="1" dirty="0">
                <a:solidFill>
                  <a:srgbClr val="DC2626"/>
                </a:solidFill>
                <a:latin typeface="Georgia" pitchFamily="34" charset="0"/>
                <a:ea typeface="Georgia" pitchFamily="34" charset="-122"/>
                <a:cs typeface="Georgia" pitchFamily="34" charset="-120"/>
              </a:rPr>
              <a:t>!</a:t>
            </a:r>
            <a:endParaRPr lang="en-US" sz="3600" dirty="0"/>
          </a:p>
        </p:txBody>
      </p:sp>
      <p:sp>
        <p:nvSpPr>
          <p:cNvPr id="5" name="Text 3"/>
          <p:cNvSpPr/>
          <p:nvPr/>
        </p:nvSpPr>
        <p:spPr>
          <a:xfrm>
            <a:off x="381000" y="2436614"/>
            <a:ext cx="2487168" cy="319980"/>
          </a:xfrm>
          <a:prstGeom prst="rect">
            <a:avLst/>
          </a:prstGeom>
          <a:noFill/>
          <a:ln/>
        </p:spPr>
        <p:txBody>
          <a:bodyPr wrap="square" lIns="0" tIns="0" rIns="0" bIns="0" rtlCol="0" anchor="t"/>
          <a:lstStyle/>
          <a:p>
            <a:pPr algn="l" indent="0" marL="0">
              <a:lnSpc>
                <a:spcPts val="2520"/>
              </a:lnSpc>
              <a:spcAft>
                <a:spcPts val="1200"/>
              </a:spcAft>
              <a:buNone/>
            </a:pPr>
            <a:r>
              <a:rPr lang="en-US" sz="2100" dirty="0">
                <a:solidFill>
                  <a:srgbClr val="FFFFFF"/>
                </a:solidFill>
                <a:latin typeface="Georgia" pitchFamily="34" charset="0"/>
                <a:ea typeface="Georgia" pitchFamily="34" charset="-122"/>
                <a:cs typeface="Georgia" pitchFamily="34" charset="-120"/>
              </a:rPr>
              <a:t>PHI Handling Guide</a:t>
            </a:r>
            <a:endParaRPr lang="en-US" sz="2100" dirty="0"/>
          </a:p>
        </p:txBody>
      </p:sp>
      <p:sp>
        <p:nvSpPr>
          <p:cNvPr id="6" name="Text 4"/>
          <p:cNvSpPr/>
          <p:nvPr/>
        </p:nvSpPr>
        <p:spPr>
          <a:xfrm>
            <a:off x="381000" y="3061395"/>
            <a:ext cx="457200" cy="19050"/>
          </a:xfrm>
          <a:prstGeom prst="rect">
            <a:avLst/>
          </a:prstGeom>
          <a:solidFill>
            <a:srgbClr val="FFFFFF"/>
          </a:solidFill>
          <a:ln/>
        </p:spPr>
        <p:txBody>
          <a:bodyPr wrap="square" rtlCol="0" anchor="ctr"/>
          <a:lstStyle/>
          <a:p>
            <a:pPr indent="0" marL="0">
              <a:buNone/>
            </a:pPr>
            <a:endParaRPr lang="en-US" dirty="0"/>
          </a:p>
        </p:txBody>
      </p:sp>
      <p:sp>
        <p:nvSpPr>
          <p:cNvPr id="7" name="Text 5"/>
          <p:cNvSpPr/>
          <p:nvPr/>
        </p:nvSpPr>
        <p:spPr>
          <a:xfrm>
            <a:off x="381000" y="3385245"/>
            <a:ext cx="3351392" cy="426541"/>
          </a:xfrm>
          <a:prstGeom prst="rect">
            <a:avLst/>
          </a:prstGeom>
          <a:noFill/>
          <a:ln/>
        </p:spPr>
        <p:txBody>
          <a:bodyPr wrap="square" lIns="0" tIns="0" rIns="0" bIns="0" rtlCol="0" anchor="t"/>
          <a:lstStyle/>
          <a:p>
            <a:pPr algn="l" indent="0" marL="0">
              <a:lnSpc>
                <a:spcPts val="1680"/>
              </a:lnSpc>
              <a:buNone/>
            </a:pPr>
            <a:r>
              <a:rPr lang="en-US" sz="1050" dirty="0">
                <a:solidFill>
                  <a:srgbClr val="FFFFFF">
                    <a:alpha val="90000"/>
                  </a:srgbClr>
                </a:solidFill>
                <a:latin typeface="Arial" pitchFamily="34" charset="0"/>
                <a:ea typeface="Arial" pitchFamily="34" charset="-122"/>
                <a:cs typeface="Arial" pitchFamily="34" charset="-120"/>
              </a:rPr>
              <a:t>Protected Health Information requires special handling. Know your boundaries.</a:t>
            </a:r>
            <a:endParaRPr lang="en-US" sz="1050" dirty="0"/>
          </a:p>
        </p:txBody>
      </p:sp>
      <p:sp>
        <p:nvSpPr>
          <p:cNvPr id="8" name="Text 6"/>
          <p:cNvSpPr/>
          <p:nvPr/>
        </p:nvSpPr>
        <p:spPr>
          <a:xfrm>
            <a:off x="4200079" y="0"/>
            <a:ext cx="4943921" cy="5143500"/>
          </a:xfrm>
          <a:prstGeom prst="rect">
            <a:avLst/>
          </a:prstGeom>
          <a:solidFill>
            <a:srgbClr val="F7F8FA"/>
          </a:solidFill>
          <a:ln/>
        </p:spPr>
        <p:txBody>
          <a:bodyPr wrap="square" rtlCol="0" anchor="ctr"/>
          <a:lstStyle/>
          <a:p>
            <a:pPr indent="0" marL="0">
              <a:buNone/>
            </a:pPr>
            <a:endParaRPr lang="en-US" dirty="0"/>
          </a:p>
        </p:txBody>
      </p:sp>
      <p:sp>
        <p:nvSpPr>
          <p:cNvPr id="9" name="Text 7"/>
          <p:cNvSpPr/>
          <p:nvPr/>
        </p:nvSpPr>
        <p:spPr>
          <a:xfrm>
            <a:off x="4581079" y="404366"/>
            <a:ext cx="4181921" cy="1331119"/>
          </a:xfrm>
          <a:prstGeom prst="rect">
            <a:avLst/>
          </a:prstGeom>
          <a:solidFill>
            <a:srgbClr val="059669"/>
          </a:solidFill>
          <a:ln/>
        </p:spPr>
        <p:txBody>
          <a:bodyPr wrap="square" rtlCol="0" anchor="ctr"/>
          <a:lstStyle/>
          <a:p>
            <a:pPr indent="0" marL="0">
              <a:buNone/>
            </a:pPr>
            <a:endParaRPr lang="en-US" dirty="0"/>
          </a:p>
        </p:txBody>
      </p:sp>
      <p:sp>
        <p:nvSpPr>
          <p:cNvPr id="10" name="Text 8"/>
          <p:cNvSpPr/>
          <p:nvPr/>
        </p:nvSpPr>
        <p:spPr>
          <a:xfrm>
            <a:off x="4733479" y="556766"/>
            <a:ext cx="3954664" cy="173236"/>
          </a:xfrm>
          <a:prstGeom prst="rect">
            <a:avLst/>
          </a:prstGeom>
          <a:noFill/>
          <a:ln/>
        </p:spPr>
        <p:txBody>
          <a:bodyPr wrap="square" lIns="0" tIns="0" rIns="0" bIns="0" rtlCol="0" anchor="t"/>
          <a:lstStyle/>
          <a:p>
            <a:pPr algn="l" indent="0" marL="0">
              <a:lnSpc>
                <a:spcPts val="1365"/>
              </a:lnSpc>
              <a:spcAft>
                <a:spcPts val="600"/>
              </a:spcAft>
              <a:buNone/>
            </a:pPr>
            <a:r>
              <a:rPr lang="en-US" sz="975" b="1" dirty="0">
                <a:solidFill>
                  <a:srgbClr val="FFFFFF"/>
                </a:solidFill>
                <a:latin typeface="Arial" pitchFamily="34" charset="0"/>
                <a:ea typeface="Arial" pitchFamily="34" charset="-122"/>
                <a:cs typeface="Arial" pitchFamily="34" charset="-120"/>
              </a:rPr>
              <a:t>SAFE FOR PHI</a:t>
            </a:r>
            <a:endParaRPr lang="en-US" sz="975" dirty="0"/>
          </a:p>
        </p:txBody>
      </p:sp>
      <p:sp>
        <p:nvSpPr>
          <p:cNvPr id="11" name="Text 9"/>
          <p:cNvSpPr/>
          <p:nvPr/>
        </p:nvSpPr>
        <p:spPr>
          <a:xfrm>
            <a:off x="4733479" y="806202"/>
            <a:ext cx="3954664" cy="776883"/>
          </a:xfrm>
          <a:prstGeom prst="rect">
            <a:avLst/>
          </a:prstGeom>
          <a:noFill/>
          <a:ln/>
        </p:spPr>
        <p:txBody>
          <a:bodyPr wrap="square" lIns="0" tIns="0" rIns="0" bIns="0" rtlCol="0" anchor="t"/>
          <a:lstStyle/>
          <a:p>
            <a:pPr algn="l" indent="0" marL="0">
              <a:lnSpc>
                <a:spcPts val="1530"/>
              </a:lnSpc>
              <a:buNone/>
            </a:pPr>
            <a:r>
              <a:rPr lang="en-US" sz="900" dirty="0">
                <a:solidFill>
                  <a:srgbClr val="FFFFFF">
                    <a:alpha val="90000"/>
                  </a:srgbClr>
                </a:solidFill>
                <a:latin typeface="Arial" pitchFamily="34" charset="0"/>
                <a:ea typeface="Arial" pitchFamily="34" charset="-122"/>
                <a:cs typeface="Arial" pitchFamily="34" charset="-120"/>
              </a:rPr>
              <a:t>SuperWhisper with local models (FREE tier works!)</a:t>
            </a:r>
            <a:endParaRPr lang="en-US" sz="900" dirty="0"/>
          </a:p>
          <a:p>
            <a:pPr algn="l" indent="0" marL="0">
              <a:lnSpc>
                <a:spcPts val="1530"/>
              </a:lnSpc>
              <a:buNone/>
            </a:pPr>
            <a:r>
              <a:rPr lang="en-US" sz="900" dirty="0">
                <a:solidFill>
                  <a:srgbClr val="FFFFFF">
                    <a:alpha val="90000"/>
                  </a:srgbClr>
                </a:solidFill>
                <a:latin typeface="Arial" pitchFamily="34" charset="0"/>
                <a:ea typeface="Arial" pitchFamily="34" charset="-122"/>
                <a:cs typeface="Arial" pitchFamily="34" charset="-120"/>
              </a:rPr>
              <a:t>Ollama with local models</a:t>
            </a:r>
            <a:endParaRPr lang="en-US" sz="900" dirty="0"/>
          </a:p>
          <a:p>
            <a:pPr algn="l" indent="0" marL="0">
              <a:lnSpc>
                <a:spcPts val="1530"/>
              </a:lnSpc>
              <a:buNone/>
            </a:pPr>
            <a:r>
              <a:rPr lang="en-US" sz="900" dirty="0">
                <a:solidFill>
                  <a:srgbClr val="FFFFFF">
                    <a:alpha val="90000"/>
                  </a:srgbClr>
                </a:solidFill>
                <a:latin typeface="Arial" pitchFamily="34" charset="0"/>
                <a:ea typeface="Arial" pitchFamily="34" charset="-122"/>
                <a:cs typeface="Arial" pitchFamily="34" charset="-120"/>
              </a:rPr>
              <a:t>Azure OpenAI with BAA in place*</a:t>
            </a:r>
            <a:endParaRPr lang="en-US" sz="900" dirty="0"/>
          </a:p>
          <a:p>
            <a:pPr algn="l" indent="0" marL="0">
              <a:lnSpc>
                <a:spcPts val="1530"/>
              </a:lnSpc>
              <a:buNone/>
            </a:pPr>
            <a:r>
              <a:rPr lang="en-US" sz="900" dirty="0">
                <a:solidFill>
                  <a:srgbClr val="FFFFFF">
                    <a:alpha val="90000"/>
                  </a:srgbClr>
                </a:solidFill>
                <a:latin typeface="Arial" pitchFamily="34" charset="0"/>
                <a:ea typeface="Arial" pitchFamily="34" charset="-122"/>
                <a:cs typeface="Arial" pitchFamily="34" charset="-120"/>
              </a:rPr>
              <a:t>Air-gapped systems</a:t>
            </a:r>
            <a:endParaRPr lang="en-US" sz="900" dirty="0"/>
          </a:p>
        </p:txBody>
      </p:sp>
      <p:sp>
        <p:nvSpPr>
          <p:cNvPr id="12" name="Text 10"/>
          <p:cNvSpPr/>
          <p:nvPr/>
        </p:nvSpPr>
        <p:spPr>
          <a:xfrm>
            <a:off x="4581079" y="1849785"/>
            <a:ext cx="4181921" cy="1331119"/>
          </a:xfrm>
          <a:prstGeom prst="rect">
            <a:avLst/>
          </a:prstGeom>
          <a:solidFill>
            <a:srgbClr val="FEF2F2"/>
          </a:solidFill>
          <a:ln/>
        </p:spPr>
        <p:txBody>
          <a:bodyPr wrap="square" rtlCol="0" anchor="ctr"/>
          <a:lstStyle/>
          <a:p>
            <a:pPr indent="0" marL="0">
              <a:buNone/>
            </a:pPr>
            <a:endParaRPr lang="en-US" dirty="0"/>
          </a:p>
        </p:txBody>
      </p:sp>
      <p:sp>
        <p:nvSpPr>
          <p:cNvPr id="13" name="Shape 11"/>
          <p:cNvSpPr/>
          <p:nvPr/>
        </p:nvSpPr>
        <p:spPr>
          <a:xfrm>
            <a:off x="4600129" y="1849785"/>
            <a:ext cx="0" cy="1331119"/>
          </a:xfrm>
          <a:prstGeom prst="line">
            <a:avLst/>
          </a:prstGeom>
          <a:noFill/>
          <a:ln w="38100">
            <a:solidFill>
              <a:srgbClr val="DC2626"/>
            </a:solidFill>
            <a:prstDash val="solid"/>
          </a:ln>
        </p:spPr>
      </p:sp>
      <p:sp>
        <p:nvSpPr>
          <p:cNvPr id="14" name="Text 12"/>
          <p:cNvSpPr/>
          <p:nvPr/>
        </p:nvSpPr>
        <p:spPr>
          <a:xfrm>
            <a:off x="4771579" y="2002185"/>
            <a:ext cx="3915802" cy="173236"/>
          </a:xfrm>
          <a:prstGeom prst="rect">
            <a:avLst/>
          </a:prstGeom>
          <a:noFill/>
          <a:ln/>
        </p:spPr>
        <p:txBody>
          <a:bodyPr wrap="square" lIns="0" tIns="0" rIns="0" bIns="0" rtlCol="0" anchor="t"/>
          <a:lstStyle/>
          <a:p>
            <a:pPr algn="l" indent="0" marL="0">
              <a:lnSpc>
                <a:spcPts val="1365"/>
              </a:lnSpc>
              <a:spcAft>
                <a:spcPts val="600"/>
              </a:spcAft>
              <a:buNone/>
            </a:pPr>
            <a:r>
              <a:rPr lang="en-US" sz="975" b="1" dirty="0">
                <a:solidFill>
                  <a:srgbClr val="991B1B"/>
                </a:solidFill>
                <a:latin typeface="Arial" pitchFamily="34" charset="0"/>
                <a:ea typeface="Arial" pitchFamily="34" charset="-122"/>
                <a:cs typeface="Arial" pitchFamily="34" charset="-120"/>
              </a:rPr>
              <a:t>NOT SAFE FOR PHI (without approval)</a:t>
            </a:r>
            <a:endParaRPr lang="en-US" sz="975" dirty="0"/>
          </a:p>
        </p:txBody>
      </p:sp>
      <p:sp>
        <p:nvSpPr>
          <p:cNvPr id="15" name="Text 13"/>
          <p:cNvSpPr/>
          <p:nvPr/>
        </p:nvSpPr>
        <p:spPr>
          <a:xfrm>
            <a:off x="4771579" y="2251621"/>
            <a:ext cx="3915802" cy="776883"/>
          </a:xfrm>
          <a:prstGeom prst="rect">
            <a:avLst/>
          </a:prstGeom>
          <a:noFill/>
          <a:ln/>
        </p:spPr>
        <p:txBody>
          <a:bodyPr wrap="square" lIns="0" tIns="0" rIns="0" bIns="0" rtlCol="0" anchor="t"/>
          <a:lstStyle/>
          <a:p>
            <a:pPr algn="l" indent="0" marL="0">
              <a:lnSpc>
                <a:spcPts val="1530"/>
              </a:lnSpc>
              <a:buNone/>
            </a:pPr>
            <a:r>
              <a:rPr lang="en-US" sz="900" dirty="0">
                <a:solidFill>
                  <a:srgbClr val="991B1B"/>
                </a:solidFill>
                <a:latin typeface="Arial" pitchFamily="34" charset="0"/>
                <a:ea typeface="Arial" pitchFamily="34" charset="-122"/>
                <a:cs typeface="Arial" pitchFamily="34" charset="-120"/>
              </a:rPr>
              <a:t>Wispr Flow (cloud-based, even with Privacy Mode)</a:t>
            </a:r>
            <a:endParaRPr lang="en-US" sz="900" dirty="0"/>
          </a:p>
          <a:p>
            <a:pPr algn="l" indent="0" marL="0">
              <a:lnSpc>
                <a:spcPts val="1530"/>
              </a:lnSpc>
              <a:buNone/>
            </a:pPr>
            <a:r>
              <a:rPr lang="en-US" sz="900" dirty="0">
                <a:solidFill>
                  <a:srgbClr val="991B1B"/>
                </a:solidFill>
                <a:latin typeface="Arial" pitchFamily="34" charset="0"/>
                <a:ea typeface="Arial" pitchFamily="34" charset="-122"/>
                <a:cs typeface="Arial" pitchFamily="34" charset="-120"/>
              </a:rPr>
              <a:t>Direct OpenAI/Anthropic API calls</a:t>
            </a:r>
            <a:endParaRPr lang="en-US" sz="900" dirty="0"/>
          </a:p>
          <a:p>
            <a:pPr algn="l" indent="0" marL="0">
              <a:lnSpc>
                <a:spcPts val="1530"/>
              </a:lnSpc>
              <a:buNone/>
            </a:pPr>
            <a:r>
              <a:rPr lang="en-US" sz="900" dirty="0">
                <a:solidFill>
                  <a:srgbClr val="991B1B"/>
                </a:solidFill>
                <a:latin typeface="Arial" pitchFamily="34" charset="0"/>
                <a:ea typeface="Arial" pitchFamily="34" charset="-122"/>
                <a:cs typeface="Arial" pitchFamily="34" charset="-120"/>
              </a:rPr>
              <a:t>Consumer AI tools (ChatGPT, Claude.ai free)</a:t>
            </a:r>
            <a:endParaRPr lang="en-US" sz="900" dirty="0"/>
          </a:p>
          <a:p>
            <a:pPr algn="l" indent="0" marL="0">
              <a:lnSpc>
                <a:spcPts val="1530"/>
              </a:lnSpc>
              <a:buNone/>
            </a:pPr>
            <a:r>
              <a:rPr lang="en-US" sz="900" dirty="0">
                <a:solidFill>
                  <a:srgbClr val="991B1B"/>
                </a:solidFill>
                <a:latin typeface="Arial" pitchFamily="34" charset="0"/>
                <a:ea typeface="Arial" pitchFamily="34" charset="-122"/>
                <a:cs typeface="Arial" pitchFamily="34" charset="-120"/>
              </a:rPr>
              <a:t>Default OS cloud dictation</a:t>
            </a:r>
            <a:endParaRPr lang="en-US" sz="900" dirty="0"/>
          </a:p>
        </p:txBody>
      </p:sp>
      <p:sp>
        <p:nvSpPr>
          <p:cNvPr id="16" name="Text 14"/>
          <p:cNvSpPr/>
          <p:nvPr/>
        </p:nvSpPr>
        <p:spPr>
          <a:xfrm>
            <a:off x="4581079" y="3295204"/>
            <a:ext cx="4181921" cy="916186"/>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7" name="Text 15"/>
          <p:cNvSpPr/>
          <p:nvPr/>
        </p:nvSpPr>
        <p:spPr>
          <a:xfrm>
            <a:off x="4743004" y="3457129"/>
            <a:ext cx="3935233" cy="173236"/>
          </a:xfrm>
          <a:prstGeom prst="rect">
            <a:avLst/>
          </a:prstGeom>
          <a:noFill/>
          <a:ln/>
        </p:spPr>
        <p:txBody>
          <a:bodyPr wrap="square" lIns="0" tIns="0" rIns="0" bIns="0" rtlCol="0" anchor="t"/>
          <a:lstStyle/>
          <a:p>
            <a:pPr algn="l" indent="0" marL="0">
              <a:lnSpc>
                <a:spcPts val="1365"/>
              </a:lnSpc>
              <a:spcAft>
                <a:spcPts val="600"/>
              </a:spcAft>
              <a:buNone/>
            </a:pPr>
            <a:r>
              <a:rPr lang="en-US" sz="975" b="1" dirty="0">
                <a:solidFill>
                  <a:srgbClr val="1A1F2E"/>
                </a:solidFill>
                <a:latin typeface="Arial" pitchFamily="34" charset="0"/>
                <a:ea typeface="Arial" pitchFamily="34" charset="-122"/>
                <a:cs typeface="Arial" pitchFamily="34" charset="-120"/>
              </a:rPr>
              <a:t>PHI INCLUDES</a:t>
            </a:r>
            <a:endParaRPr lang="en-US" sz="975" dirty="0"/>
          </a:p>
        </p:txBody>
      </p:sp>
      <p:sp>
        <p:nvSpPr>
          <p:cNvPr id="18" name="Text 16"/>
          <p:cNvSpPr/>
          <p:nvPr/>
        </p:nvSpPr>
        <p:spPr>
          <a:xfrm>
            <a:off x="4743004" y="3706564"/>
            <a:ext cx="3935233" cy="342900"/>
          </a:xfrm>
          <a:prstGeom prst="rect">
            <a:avLst/>
          </a:prstGeom>
          <a:noFill/>
          <a:ln/>
        </p:spPr>
        <p:txBody>
          <a:bodyPr wrap="square" lIns="0" tIns="0" rIns="0" bIns="0" rtlCol="0" anchor="t"/>
          <a:lstStyle/>
          <a:p>
            <a:pPr algn="l" indent="0" marL="0">
              <a:lnSpc>
                <a:spcPts val="1350"/>
              </a:lnSpc>
              <a:buNone/>
            </a:pPr>
            <a:r>
              <a:rPr lang="en-US" sz="900" dirty="0">
                <a:solidFill>
                  <a:srgbClr val="6B7280"/>
                </a:solidFill>
                <a:latin typeface="Arial" pitchFamily="34" charset="0"/>
                <a:ea typeface="Arial" pitchFamily="34" charset="-122"/>
                <a:cs typeface="Arial" pitchFamily="34" charset="-120"/>
              </a:rPr>
              <a:t>Names, dates, addresses, SSN, medical record numbers, health conditions, test results, provider information, any data that could identify a patient</a:t>
            </a:r>
            <a:endParaRPr lang="en-US" sz="900" dirty="0"/>
          </a:p>
        </p:txBody>
      </p:sp>
      <p:sp>
        <p:nvSpPr>
          <p:cNvPr id="19" name="Text 17"/>
          <p:cNvSpPr/>
          <p:nvPr/>
        </p:nvSpPr>
        <p:spPr>
          <a:xfrm>
            <a:off x="4581079" y="4325689"/>
            <a:ext cx="4181921" cy="413296"/>
          </a:xfrm>
          <a:prstGeom prst="rect">
            <a:avLst/>
          </a:prstGeom>
          <a:solidFill>
            <a:srgbClr val="1A1F2E"/>
          </a:solidFill>
          <a:ln/>
        </p:spPr>
        <p:txBody>
          <a:bodyPr wrap="square" rtlCol="0" anchor="ctr"/>
          <a:lstStyle/>
          <a:p>
            <a:pPr indent="0" marL="0">
              <a:buNone/>
            </a:pPr>
            <a:endParaRPr lang="en-US" dirty="0"/>
          </a:p>
        </p:txBody>
      </p:sp>
      <p:sp>
        <p:nvSpPr>
          <p:cNvPr id="20" name="Text 18"/>
          <p:cNvSpPr/>
          <p:nvPr/>
        </p:nvSpPr>
        <p:spPr>
          <a:xfrm>
            <a:off x="4675276" y="4459039"/>
            <a:ext cx="3993526" cy="146596"/>
          </a:xfrm>
          <a:prstGeom prst="rect">
            <a:avLst/>
          </a:prstGeom>
          <a:noFill/>
          <a:ln/>
        </p:spPr>
        <p:txBody>
          <a:bodyPr wrap="square" lIns="0" tIns="0" rIns="0" bIns="0" rtlCol="0" anchor="t"/>
          <a:lstStyle/>
          <a:p>
            <a:pPr algn="ctr" indent="0" marL="0">
              <a:lnSpc>
                <a:spcPts val="1155"/>
              </a:lnSpc>
              <a:buNone/>
            </a:pPr>
            <a:r>
              <a:rPr lang="en-US" sz="825" dirty="0">
                <a:solidFill>
                  <a:srgbClr val="C9A227"/>
                </a:solidFill>
                <a:latin typeface="Arial" pitchFamily="34" charset="0"/>
                <a:ea typeface="Arial" pitchFamily="34" charset="-122"/>
                <a:cs typeface="Arial" pitchFamily="34" charset="-120"/>
              </a:rPr>
              <a:t>*Always verify BAA status with your compliance team before use</a:t>
            </a:r>
            <a:endParaRPr lang="en-US" sz="82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457200" y="266700"/>
            <a:ext cx="8394192" cy="146596"/>
          </a:xfrm>
          <a:prstGeom prst="rect">
            <a:avLst/>
          </a:prstGeom>
          <a:noFill/>
          <a:ln/>
        </p:spPr>
        <p:txBody>
          <a:bodyPr wrap="square" lIns="0" tIns="0" rIns="0" bIns="0" rtlCol="0" anchor="t"/>
          <a:lstStyle/>
          <a:p>
            <a:pPr algn="l" indent="0" marL="0">
              <a:lnSpc>
                <a:spcPts val="1155"/>
              </a:lnSpc>
              <a:spcAft>
                <a:spcPts val="600"/>
              </a:spcAft>
              <a:buNone/>
            </a:pPr>
            <a:r>
              <a:rPr lang="en-US" sz="825" dirty="0">
                <a:solidFill>
                  <a:srgbClr val="C9A227"/>
                </a:solidFill>
                <a:latin typeface="Arial" pitchFamily="34" charset="0"/>
                <a:ea typeface="Arial" pitchFamily="34" charset="-122"/>
                <a:cs typeface="Arial" pitchFamily="34" charset="-120"/>
              </a:rPr>
              <a:t>CHECKLIST</a:t>
            </a:r>
            <a:endParaRPr lang="en-US" sz="825" dirty="0"/>
          </a:p>
        </p:txBody>
      </p:sp>
      <p:sp>
        <p:nvSpPr>
          <p:cNvPr id="3" name="Text 1"/>
          <p:cNvSpPr/>
          <p:nvPr/>
        </p:nvSpPr>
        <p:spPr>
          <a:xfrm>
            <a:off x="457200" y="489496"/>
            <a:ext cx="4206812" cy="304800"/>
          </a:xfrm>
          <a:prstGeom prst="rect">
            <a:avLst/>
          </a:prstGeom>
          <a:noFill/>
          <a:ln/>
        </p:spPr>
        <p:txBody>
          <a:bodyPr wrap="square" lIns="0" tIns="0" rIns="0" bIns="0" rtlCol="0" anchor="t"/>
          <a:lstStyle/>
          <a:p>
            <a:pPr algn="l" indent="0" marL="0">
              <a:lnSpc>
                <a:spcPts val="2400"/>
              </a:lnSpc>
              <a:buNone/>
            </a:pPr>
            <a:r>
              <a:rPr lang="en-US" sz="2400" dirty="0">
                <a:solidFill>
                  <a:srgbClr val="1A1F2E"/>
                </a:solidFill>
                <a:latin typeface="Georgia" pitchFamily="34" charset="0"/>
                <a:ea typeface="Georgia" pitchFamily="34" charset="-122"/>
                <a:cs typeface="Georgia" pitchFamily="34" charset="-120"/>
              </a:rPr>
              <a:t>Before Using AI Tools</a:t>
            </a:r>
            <a:endParaRPr lang="en-US" sz="2400" dirty="0"/>
          </a:p>
        </p:txBody>
      </p:sp>
      <p:sp>
        <p:nvSpPr>
          <p:cNvPr id="4" name="Text 2"/>
          <p:cNvSpPr/>
          <p:nvPr/>
        </p:nvSpPr>
        <p:spPr>
          <a:xfrm>
            <a:off x="457200" y="1545878"/>
            <a:ext cx="2808536" cy="2884140"/>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5" name="Text 3"/>
          <p:cNvSpPr/>
          <p:nvPr/>
        </p:nvSpPr>
        <p:spPr>
          <a:xfrm>
            <a:off x="657225" y="1745903"/>
            <a:ext cx="2456655" cy="159990"/>
          </a:xfrm>
          <a:prstGeom prst="rect">
            <a:avLst/>
          </a:prstGeom>
          <a:noFill/>
          <a:ln/>
        </p:spPr>
        <p:txBody>
          <a:bodyPr wrap="square" lIns="0" tIns="0" rIns="0" bIns="0" rtlCol="0" anchor="t"/>
          <a:lstStyle/>
          <a:p>
            <a:pPr algn="l" indent="0" marL="0">
              <a:lnSpc>
                <a:spcPts val="1260"/>
              </a:lnSpc>
              <a:spcAft>
                <a:spcPts val="1200"/>
              </a:spcAft>
              <a:buNone/>
            </a:pPr>
            <a:r>
              <a:rPr lang="en-US" sz="900" b="1" dirty="0">
                <a:solidFill>
                  <a:srgbClr val="C9A227"/>
                </a:solidFill>
                <a:latin typeface="Arial" pitchFamily="34" charset="0"/>
                <a:ea typeface="Arial" pitchFamily="34" charset="-122"/>
                <a:cs typeface="Arial" pitchFamily="34" charset="-120"/>
              </a:rPr>
              <a:t>INITIAL SETUP</a:t>
            </a:r>
            <a:endParaRPr lang="en-US" sz="900" dirty="0"/>
          </a:p>
        </p:txBody>
      </p:sp>
      <p:sp>
        <p:nvSpPr>
          <p:cNvPr id="6" name="Text 4"/>
          <p:cNvSpPr/>
          <p:nvPr/>
        </p:nvSpPr>
        <p:spPr>
          <a:xfrm>
            <a:off x="657225" y="2210693"/>
            <a:ext cx="190500" cy="190500"/>
          </a:xfrm>
          <a:prstGeom prst="rect">
            <a:avLst/>
          </a:prstGeom>
          <a:noFill/>
          <a:ln w="19050">
            <a:solidFill>
              <a:srgbClr val="059669"/>
            </a:solidFill>
          </a:ln>
        </p:spPr>
        <p:txBody>
          <a:bodyPr wrap="square" rtlCol="0" anchor="ctr"/>
          <a:lstStyle/>
          <a:p>
            <a:pPr indent="0" marL="0">
              <a:buNone/>
            </a:pPr>
            <a:endParaRPr lang="en-US" dirty="0"/>
          </a:p>
        </p:txBody>
      </p:sp>
      <p:sp>
        <p:nvSpPr>
          <p:cNvPr id="7" name="Text 5"/>
          <p:cNvSpPr/>
          <p:nvPr/>
        </p:nvSpPr>
        <p:spPr>
          <a:xfrm>
            <a:off x="942975" y="2225873"/>
            <a:ext cx="1380360" cy="159990"/>
          </a:xfrm>
          <a:prstGeom prst="rect">
            <a:avLst/>
          </a:prstGeom>
          <a:noFill/>
          <a:ln/>
        </p:spPr>
        <p:txBody>
          <a:bodyPr wrap="square" lIns="0" tIns="0" rIns="0" bIns="0" rtlCol="0" anchor="t"/>
          <a:lstStyle/>
          <a:p>
            <a:pPr algn="l" indent="0" marL="0">
              <a:lnSpc>
                <a:spcPts val="1260"/>
              </a:lnSpc>
              <a:buNone/>
            </a:pPr>
            <a:r>
              <a:rPr lang="en-US" sz="900" dirty="0">
                <a:solidFill>
                  <a:srgbClr val="1A1F2E"/>
                </a:solidFill>
                <a:latin typeface="Arial" pitchFamily="34" charset="0"/>
                <a:ea typeface="Arial" pitchFamily="34" charset="-122"/>
                <a:cs typeface="Arial" pitchFamily="34" charset="-120"/>
              </a:rPr>
              <a:t>Verified tool is IT-approved</a:t>
            </a:r>
            <a:endParaRPr lang="en-US" sz="900" dirty="0"/>
          </a:p>
        </p:txBody>
      </p:sp>
      <p:sp>
        <p:nvSpPr>
          <p:cNvPr id="8" name="Text 6"/>
          <p:cNvSpPr/>
          <p:nvPr/>
        </p:nvSpPr>
        <p:spPr>
          <a:xfrm>
            <a:off x="657225" y="2667893"/>
            <a:ext cx="190500" cy="190500"/>
          </a:xfrm>
          <a:prstGeom prst="rect">
            <a:avLst/>
          </a:prstGeom>
          <a:noFill/>
          <a:ln w="19050">
            <a:solidFill>
              <a:srgbClr val="059669"/>
            </a:solidFill>
          </a:ln>
        </p:spPr>
        <p:txBody>
          <a:bodyPr wrap="square" rtlCol="0" anchor="ctr"/>
          <a:lstStyle/>
          <a:p>
            <a:pPr indent="0" marL="0">
              <a:buNone/>
            </a:pPr>
            <a:endParaRPr lang="en-US" dirty="0"/>
          </a:p>
        </p:txBody>
      </p:sp>
      <p:sp>
        <p:nvSpPr>
          <p:cNvPr id="9" name="Text 7"/>
          <p:cNvSpPr/>
          <p:nvPr/>
        </p:nvSpPr>
        <p:spPr>
          <a:xfrm>
            <a:off x="942975" y="2683073"/>
            <a:ext cx="1911676" cy="159990"/>
          </a:xfrm>
          <a:prstGeom prst="rect">
            <a:avLst/>
          </a:prstGeom>
          <a:noFill/>
          <a:ln/>
        </p:spPr>
        <p:txBody>
          <a:bodyPr wrap="square" lIns="0" tIns="0" rIns="0" bIns="0" rtlCol="0" anchor="t"/>
          <a:lstStyle/>
          <a:p>
            <a:pPr algn="l" indent="0" marL="0">
              <a:lnSpc>
                <a:spcPts val="1260"/>
              </a:lnSpc>
              <a:buNone/>
            </a:pPr>
            <a:r>
              <a:rPr lang="en-US" sz="900" dirty="0">
                <a:solidFill>
                  <a:srgbClr val="1A1F2E"/>
                </a:solidFill>
                <a:latin typeface="Arial" pitchFamily="34" charset="0"/>
                <a:ea typeface="Arial" pitchFamily="34" charset="-122"/>
                <a:cs typeface="Arial" pitchFamily="34" charset="-120"/>
              </a:rPr>
              <a:t>Understand data flow (local vs cloud)</a:t>
            </a:r>
            <a:endParaRPr lang="en-US" sz="900" dirty="0"/>
          </a:p>
        </p:txBody>
      </p:sp>
      <p:sp>
        <p:nvSpPr>
          <p:cNvPr id="10" name="Text 8"/>
          <p:cNvSpPr/>
          <p:nvPr/>
        </p:nvSpPr>
        <p:spPr>
          <a:xfrm>
            <a:off x="657225" y="3125093"/>
            <a:ext cx="190500" cy="190500"/>
          </a:xfrm>
          <a:prstGeom prst="rect">
            <a:avLst/>
          </a:prstGeom>
          <a:noFill/>
          <a:ln w="19050">
            <a:solidFill>
              <a:srgbClr val="059669"/>
            </a:solidFill>
          </a:ln>
        </p:spPr>
        <p:txBody>
          <a:bodyPr wrap="square" rtlCol="0" anchor="ctr"/>
          <a:lstStyle/>
          <a:p>
            <a:pPr indent="0" marL="0">
              <a:buNone/>
            </a:pPr>
            <a:endParaRPr lang="en-US" dirty="0"/>
          </a:p>
        </p:txBody>
      </p:sp>
      <p:sp>
        <p:nvSpPr>
          <p:cNvPr id="11" name="Text 9"/>
          <p:cNvSpPr/>
          <p:nvPr/>
        </p:nvSpPr>
        <p:spPr>
          <a:xfrm>
            <a:off x="942975" y="3140273"/>
            <a:ext cx="1833649" cy="159990"/>
          </a:xfrm>
          <a:prstGeom prst="rect">
            <a:avLst/>
          </a:prstGeom>
          <a:noFill/>
          <a:ln/>
        </p:spPr>
        <p:txBody>
          <a:bodyPr wrap="square" lIns="0" tIns="0" rIns="0" bIns="0" rtlCol="0" anchor="t"/>
          <a:lstStyle/>
          <a:p>
            <a:pPr algn="l" indent="0" marL="0">
              <a:lnSpc>
                <a:spcPts val="1260"/>
              </a:lnSpc>
              <a:buNone/>
            </a:pPr>
            <a:r>
              <a:rPr lang="en-US" sz="900" dirty="0">
                <a:solidFill>
                  <a:srgbClr val="1A1F2E"/>
                </a:solidFill>
                <a:latin typeface="Arial" pitchFamily="34" charset="0"/>
                <a:ea typeface="Arial" pitchFamily="34" charset="-122"/>
                <a:cs typeface="Arial" pitchFamily="34" charset="-120"/>
              </a:rPr>
              <a:t>API keys stored securely (env vars)</a:t>
            </a:r>
            <a:endParaRPr lang="en-US" sz="900" dirty="0"/>
          </a:p>
        </p:txBody>
      </p:sp>
      <p:sp>
        <p:nvSpPr>
          <p:cNvPr id="12" name="Text 10"/>
          <p:cNvSpPr/>
          <p:nvPr/>
        </p:nvSpPr>
        <p:spPr>
          <a:xfrm>
            <a:off x="657225" y="3582293"/>
            <a:ext cx="190500" cy="190500"/>
          </a:xfrm>
          <a:prstGeom prst="rect">
            <a:avLst/>
          </a:prstGeom>
          <a:noFill/>
          <a:ln w="19050">
            <a:solidFill>
              <a:srgbClr val="059669"/>
            </a:solidFill>
          </a:ln>
        </p:spPr>
        <p:txBody>
          <a:bodyPr wrap="square" rtlCol="0" anchor="ctr"/>
          <a:lstStyle/>
          <a:p>
            <a:pPr indent="0" marL="0">
              <a:buNone/>
            </a:pPr>
            <a:endParaRPr lang="en-US" dirty="0"/>
          </a:p>
        </p:txBody>
      </p:sp>
      <p:sp>
        <p:nvSpPr>
          <p:cNvPr id="13" name="Text 11"/>
          <p:cNvSpPr/>
          <p:nvPr/>
        </p:nvSpPr>
        <p:spPr>
          <a:xfrm>
            <a:off x="942975" y="3597473"/>
            <a:ext cx="1393567" cy="159990"/>
          </a:xfrm>
          <a:prstGeom prst="rect">
            <a:avLst/>
          </a:prstGeom>
          <a:noFill/>
          <a:ln/>
        </p:spPr>
        <p:txBody>
          <a:bodyPr wrap="square" lIns="0" tIns="0" rIns="0" bIns="0" rtlCol="0" anchor="t"/>
          <a:lstStyle/>
          <a:p>
            <a:pPr algn="l" indent="0" marL="0">
              <a:lnSpc>
                <a:spcPts val="1260"/>
              </a:lnSpc>
              <a:buNone/>
            </a:pPr>
            <a:r>
              <a:rPr lang="en-US" sz="900" dirty="0">
                <a:solidFill>
                  <a:srgbClr val="1A1F2E"/>
                </a:solidFill>
                <a:latin typeface="Arial" pitchFamily="34" charset="0"/>
                <a:ea typeface="Arial" pitchFamily="34" charset="-122"/>
                <a:cs typeface="Arial" pitchFamily="34" charset="-120"/>
              </a:rPr>
              <a:t>Local transcription enabled</a:t>
            </a:r>
            <a:endParaRPr lang="en-US" sz="900" dirty="0"/>
          </a:p>
        </p:txBody>
      </p:sp>
      <p:sp>
        <p:nvSpPr>
          <p:cNvPr id="14" name="Text 12"/>
          <p:cNvSpPr/>
          <p:nvPr/>
        </p:nvSpPr>
        <p:spPr>
          <a:xfrm>
            <a:off x="657225" y="4039493"/>
            <a:ext cx="190500" cy="190500"/>
          </a:xfrm>
          <a:prstGeom prst="rect">
            <a:avLst/>
          </a:prstGeom>
          <a:noFill/>
          <a:ln w="19050">
            <a:solidFill>
              <a:srgbClr val="059669"/>
            </a:solidFill>
          </a:ln>
        </p:spPr>
        <p:txBody>
          <a:bodyPr wrap="square" rtlCol="0" anchor="ctr"/>
          <a:lstStyle/>
          <a:p>
            <a:pPr indent="0" marL="0">
              <a:buNone/>
            </a:pPr>
            <a:endParaRPr lang="en-US" dirty="0"/>
          </a:p>
        </p:txBody>
      </p:sp>
      <p:sp>
        <p:nvSpPr>
          <p:cNvPr id="15" name="Text 13"/>
          <p:cNvSpPr/>
          <p:nvPr/>
        </p:nvSpPr>
        <p:spPr>
          <a:xfrm>
            <a:off x="942975" y="4054673"/>
            <a:ext cx="1639642" cy="159990"/>
          </a:xfrm>
          <a:prstGeom prst="rect">
            <a:avLst/>
          </a:prstGeom>
          <a:noFill/>
          <a:ln/>
        </p:spPr>
        <p:txBody>
          <a:bodyPr wrap="square" lIns="0" tIns="0" rIns="0" bIns="0" rtlCol="0" anchor="t"/>
          <a:lstStyle/>
          <a:p>
            <a:pPr algn="l" indent="0" marL="0">
              <a:lnSpc>
                <a:spcPts val="1260"/>
              </a:lnSpc>
              <a:buNone/>
            </a:pPr>
            <a:r>
              <a:rPr lang="en-US" sz="900" dirty="0">
                <a:solidFill>
                  <a:srgbClr val="1A1F2E"/>
                </a:solidFill>
                <a:latin typeface="Arial" pitchFamily="34" charset="0"/>
                <a:ea typeface="Arial" pitchFamily="34" charset="-122"/>
                <a:cs typeface="Arial" pitchFamily="34" charset="-120"/>
              </a:rPr>
              <a:t>Know escalation path for issues</a:t>
            </a:r>
            <a:endParaRPr lang="en-US" sz="900" dirty="0"/>
          </a:p>
        </p:txBody>
      </p:sp>
      <p:sp>
        <p:nvSpPr>
          <p:cNvPr id="16" name="Text 14"/>
          <p:cNvSpPr/>
          <p:nvPr/>
        </p:nvSpPr>
        <p:spPr>
          <a:xfrm>
            <a:off x="3418136" y="1545878"/>
            <a:ext cx="2808536" cy="2884140"/>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7" name="Text 15"/>
          <p:cNvSpPr/>
          <p:nvPr/>
        </p:nvSpPr>
        <p:spPr>
          <a:xfrm>
            <a:off x="3618161" y="1745903"/>
            <a:ext cx="2456655" cy="159990"/>
          </a:xfrm>
          <a:prstGeom prst="rect">
            <a:avLst/>
          </a:prstGeom>
          <a:noFill/>
          <a:ln/>
        </p:spPr>
        <p:txBody>
          <a:bodyPr wrap="square" lIns="0" tIns="0" rIns="0" bIns="0" rtlCol="0" anchor="t"/>
          <a:lstStyle/>
          <a:p>
            <a:pPr algn="l" indent="0" marL="0">
              <a:lnSpc>
                <a:spcPts val="1260"/>
              </a:lnSpc>
              <a:spcAft>
                <a:spcPts val="1200"/>
              </a:spcAft>
              <a:buNone/>
            </a:pPr>
            <a:r>
              <a:rPr lang="en-US" sz="900" b="1" dirty="0">
                <a:solidFill>
                  <a:srgbClr val="C9A227"/>
                </a:solidFill>
                <a:latin typeface="Arial" pitchFamily="34" charset="0"/>
                <a:ea typeface="Arial" pitchFamily="34" charset="-122"/>
                <a:cs typeface="Arial" pitchFamily="34" charset="-120"/>
              </a:rPr>
              <a:t>BEFORE EACH USE</a:t>
            </a:r>
            <a:endParaRPr lang="en-US" sz="900" dirty="0"/>
          </a:p>
        </p:txBody>
      </p:sp>
      <p:sp>
        <p:nvSpPr>
          <p:cNvPr id="18" name="Text 16"/>
          <p:cNvSpPr/>
          <p:nvPr/>
        </p:nvSpPr>
        <p:spPr>
          <a:xfrm>
            <a:off x="3618161" y="2210693"/>
            <a:ext cx="190500" cy="190500"/>
          </a:xfrm>
          <a:prstGeom prst="rect">
            <a:avLst/>
          </a:prstGeom>
          <a:noFill/>
          <a:ln w="19050">
            <a:solidFill>
              <a:srgbClr val="F59E0B"/>
            </a:solidFill>
          </a:ln>
        </p:spPr>
        <p:txBody>
          <a:bodyPr wrap="square" rtlCol="0" anchor="ctr"/>
          <a:lstStyle/>
          <a:p>
            <a:pPr indent="0" marL="0">
              <a:buNone/>
            </a:pPr>
            <a:endParaRPr lang="en-US" dirty="0"/>
          </a:p>
        </p:txBody>
      </p:sp>
      <p:sp>
        <p:nvSpPr>
          <p:cNvPr id="19" name="Text 17"/>
          <p:cNvSpPr/>
          <p:nvPr/>
        </p:nvSpPr>
        <p:spPr>
          <a:xfrm>
            <a:off x="3903911" y="2225873"/>
            <a:ext cx="1367457" cy="159990"/>
          </a:xfrm>
          <a:prstGeom prst="rect">
            <a:avLst/>
          </a:prstGeom>
          <a:noFill/>
          <a:ln/>
        </p:spPr>
        <p:txBody>
          <a:bodyPr wrap="square" lIns="0" tIns="0" rIns="0" bIns="0" rtlCol="0" anchor="t"/>
          <a:lstStyle/>
          <a:p>
            <a:pPr algn="l" indent="0" marL="0">
              <a:lnSpc>
                <a:spcPts val="1260"/>
              </a:lnSpc>
              <a:buNone/>
            </a:pPr>
            <a:r>
              <a:rPr lang="en-US" sz="900" dirty="0">
                <a:solidFill>
                  <a:srgbClr val="1A1F2E"/>
                </a:solidFill>
                <a:latin typeface="Arial" pitchFamily="34" charset="0"/>
                <a:ea typeface="Arial" pitchFamily="34" charset="-122"/>
                <a:cs typeface="Arial" pitchFamily="34" charset="-120"/>
              </a:rPr>
              <a:t>Does prompt contain PHI?</a:t>
            </a:r>
            <a:endParaRPr lang="en-US" sz="900" dirty="0"/>
          </a:p>
        </p:txBody>
      </p:sp>
      <p:sp>
        <p:nvSpPr>
          <p:cNvPr id="20" name="Text 18"/>
          <p:cNvSpPr/>
          <p:nvPr/>
        </p:nvSpPr>
        <p:spPr>
          <a:xfrm>
            <a:off x="3618161" y="2667893"/>
            <a:ext cx="190500" cy="190500"/>
          </a:xfrm>
          <a:prstGeom prst="rect">
            <a:avLst/>
          </a:prstGeom>
          <a:noFill/>
          <a:ln w="19050">
            <a:solidFill>
              <a:srgbClr val="F59E0B"/>
            </a:solidFill>
          </a:ln>
        </p:spPr>
        <p:txBody>
          <a:bodyPr wrap="square" rtlCol="0" anchor="ctr"/>
          <a:lstStyle/>
          <a:p>
            <a:pPr indent="0" marL="0">
              <a:buNone/>
            </a:pPr>
            <a:endParaRPr lang="en-US" dirty="0"/>
          </a:p>
        </p:txBody>
      </p:sp>
      <p:sp>
        <p:nvSpPr>
          <p:cNvPr id="21" name="Text 19"/>
          <p:cNvSpPr/>
          <p:nvPr/>
        </p:nvSpPr>
        <p:spPr>
          <a:xfrm>
            <a:off x="3903911" y="2683073"/>
            <a:ext cx="1452012" cy="159990"/>
          </a:xfrm>
          <a:prstGeom prst="rect">
            <a:avLst/>
          </a:prstGeom>
          <a:noFill/>
          <a:ln/>
        </p:spPr>
        <p:txBody>
          <a:bodyPr wrap="square" lIns="0" tIns="0" rIns="0" bIns="0" rtlCol="0" anchor="t"/>
          <a:lstStyle/>
          <a:p>
            <a:pPr algn="l" indent="0" marL="0">
              <a:lnSpc>
                <a:spcPts val="1260"/>
              </a:lnSpc>
              <a:buNone/>
            </a:pPr>
            <a:r>
              <a:rPr lang="en-US" sz="900" dirty="0">
                <a:solidFill>
                  <a:srgbClr val="1A1F2E"/>
                </a:solidFill>
                <a:latin typeface="Arial" pitchFamily="34" charset="0"/>
                <a:ea typeface="Arial" pitchFamily="34" charset="-122"/>
                <a:cs typeface="Arial" pitchFamily="34" charset="-120"/>
              </a:rPr>
              <a:t>Is the endpoint appropriate?</a:t>
            </a:r>
            <a:endParaRPr lang="en-US" sz="900" dirty="0"/>
          </a:p>
        </p:txBody>
      </p:sp>
      <p:sp>
        <p:nvSpPr>
          <p:cNvPr id="22" name="Text 20"/>
          <p:cNvSpPr/>
          <p:nvPr/>
        </p:nvSpPr>
        <p:spPr>
          <a:xfrm>
            <a:off x="3618161" y="3125093"/>
            <a:ext cx="190500" cy="190500"/>
          </a:xfrm>
          <a:prstGeom prst="rect">
            <a:avLst/>
          </a:prstGeom>
          <a:noFill/>
          <a:ln w="19050">
            <a:solidFill>
              <a:srgbClr val="F59E0B"/>
            </a:solidFill>
          </a:ln>
        </p:spPr>
        <p:txBody>
          <a:bodyPr wrap="square" rtlCol="0" anchor="ctr"/>
          <a:lstStyle/>
          <a:p>
            <a:pPr indent="0" marL="0">
              <a:buNone/>
            </a:pPr>
            <a:endParaRPr lang="en-US" dirty="0"/>
          </a:p>
        </p:txBody>
      </p:sp>
      <p:sp>
        <p:nvSpPr>
          <p:cNvPr id="23" name="Text 21"/>
          <p:cNvSpPr/>
          <p:nvPr/>
        </p:nvSpPr>
        <p:spPr>
          <a:xfrm>
            <a:off x="3903911" y="3140273"/>
            <a:ext cx="1270302" cy="159990"/>
          </a:xfrm>
          <a:prstGeom prst="rect">
            <a:avLst/>
          </a:prstGeom>
          <a:noFill/>
          <a:ln/>
        </p:spPr>
        <p:txBody>
          <a:bodyPr wrap="square" lIns="0" tIns="0" rIns="0" bIns="0" rtlCol="0" anchor="t"/>
          <a:lstStyle/>
          <a:p>
            <a:pPr algn="l" indent="0" marL="0">
              <a:lnSpc>
                <a:spcPts val="1260"/>
              </a:lnSpc>
              <a:buNone/>
            </a:pPr>
            <a:r>
              <a:rPr lang="en-US" sz="900" dirty="0">
                <a:solidFill>
                  <a:srgbClr val="1A1F2E"/>
                </a:solidFill>
                <a:latin typeface="Arial" pitchFamily="34" charset="0"/>
                <a:ea typeface="Arial" pitchFamily="34" charset="-122"/>
                <a:cs typeface="Arial" pitchFamily="34" charset="-120"/>
              </a:rPr>
              <a:t>Any credentials in code?</a:t>
            </a:r>
            <a:endParaRPr lang="en-US" sz="900" dirty="0"/>
          </a:p>
        </p:txBody>
      </p:sp>
      <p:sp>
        <p:nvSpPr>
          <p:cNvPr id="24" name="Text 22"/>
          <p:cNvSpPr/>
          <p:nvPr/>
        </p:nvSpPr>
        <p:spPr>
          <a:xfrm>
            <a:off x="3618161" y="3582293"/>
            <a:ext cx="190500" cy="190500"/>
          </a:xfrm>
          <a:prstGeom prst="rect">
            <a:avLst/>
          </a:prstGeom>
          <a:noFill/>
          <a:ln w="19050">
            <a:solidFill>
              <a:srgbClr val="F59E0B"/>
            </a:solidFill>
          </a:ln>
        </p:spPr>
        <p:txBody>
          <a:bodyPr wrap="square" rtlCol="0" anchor="ctr"/>
          <a:lstStyle/>
          <a:p>
            <a:pPr indent="0" marL="0">
              <a:buNone/>
            </a:pPr>
            <a:endParaRPr lang="en-US" dirty="0"/>
          </a:p>
        </p:txBody>
      </p:sp>
      <p:sp>
        <p:nvSpPr>
          <p:cNvPr id="25" name="Text 23"/>
          <p:cNvSpPr/>
          <p:nvPr/>
        </p:nvSpPr>
        <p:spPr>
          <a:xfrm>
            <a:off x="3903911" y="3597473"/>
            <a:ext cx="1833952" cy="159990"/>
          </a:xfrm>
          <a:prstGeom prst="rect">
            <a:avLst/>
          </a:prstGeom>
          <a:noFill/>
          <a:ln/>
        </p:spPr>
        <p:txBody>
          <a:bodyPr wrap="square" lIns="0" tIns="0" rIns="0" bIns="0" rtlCol="0" anchor="t"/>
          <a:lstStyle/>
          <a:p>
            <a:pPr algn="l" indent="0" marL="0">
              <a:lnSpc>
                <a:spcPts val="1260"/>
              </a:lnSpc>
              <a:buNone/>
            </a:pPr>
            <a:r>
              <a:rPr lang="en-US" sz="900" dirty="0">
                <a:solidFill>
                  <a:srgbClr val="1A1F2E"/>
                </a:solidFill>
                <a:latin typeface="Arial" pitchFamily="34" charset="0"/>
                <a:ea typeface="Arial" pitchFamily="34" charset="-122"/>
                <a:cs typeface="Arial" pitchFamily="34" charset="-120"/>
              </a:rPr>
              <a:t>Review AI output before committing</a:t>
            </a:r>
            <a:endParaRPr lang="en-US" sz="900" dirty="0"/>
          </a:p>
        </p:txBody>
      </p:sp>
      <p:sp>
        <p:nvSpPr>
          <p:cNvPr id="26" name="Text 24"/>
          <p:cNvSpPr/>
          <p:nvPr/>
        </p:nvSpPr>
        <p:spPr>
          <a:xfrm>
            <a:off x="3618161" y="4039493"/>
            <a:ext cx="190500" cy="190500"/>
          </a:xfrm>
          <a:prstGeom prst="rect">
            <a:avLst/>
          </a:prstGeom>
          <a:noFill/>
          <a:ln w="19050">
            <a:solidFill>
              <a:srgbClr val="F59E0B"/>
            </a:solidFill>
          </a:ln>
        </p:spPr>
        <p:txBody>
          <a:bodyPr wrap="square" rtlCol="0" anchor="ctr"/>
          <a:lstStyle/>
          <a:p>
            <a:pPr indent="0" marL="0">
              <a:buNone/>
            </a:pPr>
            <a:endParaRPr lang="en-US" dirty="0"/>
          </a:p>
        </p:txBody>
      </p:sp>
      <p:sp>
        <p:nvSpPr>
          <p:cNvPr id="27" name="Text 25"/>
          <p:cNvSpPr/>
          <p:nvPr/>
        </p:nvSpPr>
        <p:spPr>
          <a:xfrm>
            <a:off x="3903911" y="4054673"/>
            <a:ext cx="1633418" cy="159990"/>
          </a:xfrm>
          <a:prstGeom prst="rect">
            <a:avLst/>
          </a:prstGeom>
          <a:noFill/>
          <a:ln/>
        </p:spPr>
        <p:txBody>
          <a:bodyPr wrap="square" lIns="0" tIns="0" rIns="0" bIns="0" rtlCol="0" anchor="t"/>
          <a:lstStyle/>
          <a:p>
            <a:pPr algn="l" indent="0" marL="0">
              <a:lnSpc>
                <a:spcPts val="1260"/>
              </a:lnSpc>
              <a:buNone/>
            </a:pPr>
            <a:r>
              <a:rPr lang="en-US" sz="900" dirty="0">
                <a:solidFill>
                  <a:srgbClr val="1A1F2E"/>
                </a:solidFill>
                <a:latin typeface="Arial" pitchFamily="34" charset="0"/>
                <a:ea typeface="Arial" pitchFamily="34" charset="-122"/>
                <a:cs typeface="Arial" pitchFamily="34" charset="-120"/>
              </a:rPr>
              <a:t>Test generated code thoroughly</a:t>
            </a:r>
            <a:endParaRPr lang="en-US" sz="900" dirty="0"/>
          </a:p>
        </p:txBody>
      </p:sp>
      <p:sp>
        <p:nvSpPr>
          <p:cNvPr id="28" name="Text 26"/>
          <p:cNvSpPr/>
          <p:nvPr/>
        </p:nvSpPr>
        <p:spPr>
          <a:xfrm>
            <a:off x="6379071" y="1403152"/>
            <a:ext cx="2307729" cy="3169444"/>
          </a:xfrm>
          <a:prstGeom prst="rect">
            <a:avLst/>
          </a:prstGeom>
          <a:solidFill>
            <a:srgbClr val="1A1F2E"/>
          </a:solidFill>
          <a:ln/>
        </p:spPr>
        <p:txBody>
          <a:bodyPr wrap="square" rtlCol="0" anchor="ctr"/>
          <a:lstStyle/>
          <a:p>
            <a:pPr indent="0" marL="0">
              <a:buNone/>
            </a:pPr>
            <a:endParaRPr lang="en-US" dirty="0"/>
          </a:p>
        </p:txBody>
      </p:sp>
      <p:sp>
        <p:nvSpPr>
          <p:cNvPr id="29" name="Text 27"/>
          <p:cNvSpPr/>
          <p:nvPr/>
        </p:nvSpPr>
        <p:spPr>
          <a:xfrm>
            <a:off x="6569571" y="1593652"/>
            <a:ext cx="1965263" cy="159990"/>
          </a:xfrm>
          <a:prstGeom prst="rect">
            <a:avLst/>
          </a:prstGeom>
          <a:noFill/>
          <a:ln/>
        </p:spPr>
        <p:txBody>
          <a:bodyPr wrap="square" lIns="0" tIns="0" rIns="0" bIns="0" rtlCol="0" anchor="t"/>
          <a:lstStyle/>
          <a:p>
            <a:pPr algn="l" indent="0" marL="0">
              <a:lnSpc>
                <a:spcPts val="1260"/>
              </a:lnSpc>
              <a:spcAft>
                <a:spcPts val="1200"/>
              </a:spcAft>
              <a:buNone/>
            </a:pPr>
            <a:r>
              <a:rPr lang="en-US" sz="900" b="1" dirty="0">
                <a:solidFill>
                  <a:srgbClr val="C9A227"/>
                </a:solidFill>
                <a:latin typeface="Arial" pitchFamily="34" charset="0"/>
                <a:ea typeface="Arial" pitchFamily="34" charset="-122"/>
                <a:cs typeface="Arial" pitchFamily="34" charset="-120"/>
              </a:rPr>
              <a:t>RESOURCES</a:t>
            </a:r>
            <a:endParaRPr lang="en-US" sz="900" dirty="0"/>
          </a:p>
        </p:txBody>
      </p:sp>
      <p:sp>
        <p:nvSpPr>
          <p:cNvPr id="30" name="Text 28"/>
          <p:cNvSpPr/>
          <p:nvPr/>
        </p:nvSpPr>
        <p:spPr>
          <a:xfrm>
            <a:off x="6569571" y="2058442"/>
            <a:ext cx="1965263"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FFFFFF"/>
                </a:solidFill>
                <a:latin typeface="Arial" pitchFamily="34" charset="0"/>
                <a:ea typeface="Arial" pitchFamily="34" charset="-122"/>
                <a:cs typeface="Arial" pitchFamily="34" charset="-120"/>
              </a:rPr>
              <a:t>Questions?</a:t>
            </a:r>
            <a:endParaRPr lang="en-US" sz="900" dirty="0"/>
          </a:p>
        </p:txBody>
      </p:sp>
      <p:sp>
        <p:nvSpPr>
          <p:cNvPr id="31" name="Text 29"/>
          <p:cNvSpPr/>
          <p:nvPr/>
        </p:nvSpPr>
        <p:spPr>
          <a:xfrm>
            <a:off x="6569571" y="2256532"/>
            <a:ext cx="1965263" cy="146596"/>
          </a:xfrm>
          <a:prstGeom prst="rect">
            <a:avLst/>
          </a:prstGeom>
          <a:noFill/>
          <a:ln/>
        </p:spPr>
        <p:txBody>
          <a:bodyPr wrap="square" lIns="0" tIns="0" rIns="0" bIns="0" rtlCol="0" anchor="t"/>
          <a:lstStyle/>
          <a:p>
            <a:pPr algn="l" indent="0" marL="0">
              <a:lnSpc>
                <a:spcPts val="1155"/>
              </a:lnSpc>
              <a:buNone/>
            </a:pPr>
            <a:r>
              <a:rPr lang="en-US" sz="825" dirty="0">
                <a:solidFill>
                  <a:srgbClr val="FFFFFF">
                    <a:alpha val="60000"/>
                  </a:srgbClr>
                </a:solidFill>
                <a:latin typeface="Arial" pitchFamily="34" charset="0"/>
                <a:ea typeface="Arial" pitchFamily="34" charset="-122"/>
                <a:cs typeface="Arial" pitchFamily="34" charset="-120"/>
              </a:rPr>
              <a:t>Contact IT Security</a:t>
            </a:r>
            <a:endParaRPr lang="en-US" sz="825" dirty="0"/>
          </a:p>
        </p:txBody>
      </p:sp>
      <p:sp>
        <p:nvSpPr>
          <p:cNvPr id="32" name="Text 30"/>
          <p:cNvSpPr/>
          <p:nvPr/>
        </p:nvSpPr>
        <p:spPr>
          <a:xfrm>
            <a:off x="6569571" y="2707928"/>
            <a:ext cx="1965263"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FFFFFF"/>
                </a:solidFill>
                <a:latin typeface="Arial" pitchFamily="34" charset="0"/>
                <a:ea typeface="Arial" pitchFamily="34" charset="-122"/>
                <a:cs typeface="Arial" pitchFamily="34" charset="-120"/>
              </a:rPr>
              <a:t>PHI Incident?</a:t>
            </a:r>
            <a:endParaRPr lang="en-US" sz="900" dirty="0"/>
          </a:p>
        </p:txBody>
      </p:sp>
      <p:sp>
        <p:nvSpPr>
          <p:cNvPr id="33" name="Text 31"/>
          <p:cNvSpPr/>
          <p:nvPr/>
        </p:nvSpPr>
        <p:spPr>
          <a:xfrm>
            <a:off x="6569571" y="2906018"/>
            <a:ext cx="1965263" cy="146596"/>
          </a:xfrm>
          <a:prstGeom prst="rect">
            <a:avLst/>
          </a:prstGeom>
          <a:noFill/>
          <a:ln/>
        </p:spPr>
        <p:txBody>
          <a:bodyPr wrap="square" lIns="0" tIns="0" rIns="0" bIns="0" rtlCol="0" anchor="t"/>
          <a:lstStyle/>
          <a:p>
            <a:pPr algn="l" indent="0" marL="0">
              <a:lnSpc>
                <a:spcPts val="1155"/>
              </a:lnSpc>
              <a:buNone/>
            </a:pPr>
            <a:r>
              <a:rPr lang="en-US" sz="825" dirty="0">
                <a:solidFill>
                  <a:srgbClr val="FFFFFF">
                    <a:alpha val="60000"/>
                  </a:srgbClr>
                </a:solidFill>
                <a:latin typeface="Arial" pitchFamily="34" charset="0"/>
                <a:ea typeface="Arial" pitchFamily="34" charset="-122"/>
                <a:cs typeface="Arial" pitchFamily="34" charset="-120"/>
              </a:rPr>
              <a:t>Report immediately to Privacy Officer</a:t>
            </a:r>
            <a:endParaRPr lang="en-US" sz="825" dirty="0"/>
          </a:p>
        </p:txBody>
      </p:sp>
      <p:sp>
        <p:nvSpPr>
          <p:cNvPr id="34" name="Text 32"/>
          <p:cNvSpPr/>
          <p:nvPr/>
        </p:nvSpPr>
        <p:spPr>
          <a:xfrm>
            <a:off x="6569571" y="3357414"/>
            <a:ext cx="1965263"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FFFFFF"/>
                </a:solidFill>
                <a:latin typeface="Arial" pitchFamily="34" charset="0"/>
                <a:ea typeface="Arial" pitchFamily="34" charset="-122"/>
                <a:cs typeface="Arial" pitchFamily="34" charset="-120"/>
              </a:rPr>
              <a:t>New Tool Request?</a:t>
            </a:r>
            <a:endParaRPr lang="en-US" sz="900" dirty="0"/>
          </a:p>
        </p:txBody>
      </p:sp>
      <p:sp>
        <p:nvSpPr>
          <p:cNvPr id="35" name="Text 33"/>
          <p:cNvSpPr/>
          <p:nvPr/>
        </p:nvSpPr>
        <p:spPr>
          <a:xfrm>
            <a:off x="6569571" y="3555504"/>
            <a:ext cx="1965263" cy="146596"/>
          </a:xfrm>
          <a:prstGeom prst="rect">
            <a:avLst/>
          </a:prstGeom>
          <a:noFill/>
          <a:ln/>
        </p:spPr>
        <p:txBody>
          <a:bodyPr wrap="square" lIns="0" tIns="0" rIns="0" bIns="0" rtlCol="0" anchor="t"/>
          <a:lstStyle/>
          <a:p>
            <a:pPr algn="l" indent="0" marL="0">
              <a:lnSpc>
                <a:spcPts val="1155"/>
              </a:lnSpc>
              <a:buNone/>
            </a:pPr>
            <a:r>
              <a:rPr lang="en-US" sz="825" dirty="0">
                <a:solidFill>
                  <a:srgbClr val="FFFFFF">
                    <a:alpha val="60000"/>
                  </a:srgbClr>
                </a:solidFill>
                <a:latin typeface="Arial" pitchFamily="34" charset="0"/>
                <a:ea typeface="Arial" pitchFamily="34" charset="-122"/>
                <a:cs typeface="Arial" pitchFamily="34" charset="-120"/>
              </a:rPr>
              <a:t>Submit through IT approval process</a:t>
            </a:r>
            <a:endParaRPr lang="en-US" sz="825" dirty="0"/>
          </a:p>
        </p:txBody>
      </p:sp>
      <p:sp>
        <p:nvSpPr>
          <p:cNvPr id="36" name="Text 34"/>
          <p:cNvSpPr/>
          <p:nvPr/>
        </p:nvSpPr>
        <p:spPr>
          <a:xfrm>
            <a:off x="6569571" y="4006900"/>
            <a:ext cx="1926729" cy="375196"/>
          </a:xfrm>
          <a:prstGeom prst="rect">
            <a:avLst/>
          </a:prstGeom>
          <a:solidFill>
            <a:srgbClr val="252B3D"/>
          </a:solidFill>
          <a:ln/>
        </p:spPr>
        <p:txBody>
          <a:bodyPr wrap="square" rtlCol="0" anchor="ctr"/>
          <a:lstStyle/>
          <a:p>
            <a:pPr indent="0" marL="0">
              <a:buNone/>
            </a:pPr>
            <a:endParaRPr lang="en-US" dirty="0"/>
          </a:p>
        </p:txBody>
      </p:sp>
      <p:sp>
        <p:nvSpPr>
          <p:cNvPr id="37" name="Text 35"/>
          <p:cNvSpPr/>
          <p:nvPr/>
        </p:nvSpPr>
        <p:spPr>
          <a:xfrm>
            <a:off x="6666890" y="4121200"/>
            <a:ext cx="1732091" cy="146596"/>
          </a:xfrm>
          <a:prstGeom prst="rect">
            <a:avLst/>
          </a:prstGeom>
          <a:noFill/>
          <a:ln/>
        </p:spPr>
        <p:txBody>
          <a:bodyPr wrap="square" lIns="0" tIns="0" rIns="0" bIns="0" rtlCol="0" anchor="t"/>
          <a:lstStyle/>
          <a:p>
            <a:pPr algn="ctr" indent="0" marL="0">
              <a:lnSpc>
                <a:spcPts val="1155"/>
              </a:lnSpc>
              <a:buNone/>
            </a:pPr>
            <a:r>
              <a:rPr lang="en-US" sz="825" dirty="0">
                <a:solidFill>
                  <a:srgbClr val="C9A227"/>
                </a:solidFill>
                <a:latin typeface="Arial" pitchFamily="34" charset="0"/>
                <a:ea typeface="Arial" pitchFamily="34" charset="-122"/>
                <a:cs typeface="Arial" pitchFamily="34" charset="-120"/>
              </a:rPr>
              <a:t>Security is everyone's responsibility</a:t>
            </a:r>
            <a:endParaRPr lang="en-US" sz="82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249479" y="905917"/>
            <a:ext cx="2644893" cy="159990"/>
          </a:xfrm>
          <a:prstGeom prst="rect">
            <a:avLst/>
          </a:prstGeom>
          <a:noFill/>
          <a:ln/>
        </p:spPr>
        <p:txBody>
          <a:bodyPr wrap="square" lIns="0" tIns="0" rIns="0" bIns="0" rtlCol="0" anchor="t"/>
          <a:lstStyle/>
          <a:p>
            <a:pPr algn="ctr" indent="0" marL="0">
              <a:lnSpc>
                <a:spcPts val="1260"/>
              </a:lnSpc>
              <a:spcAft>
                <a:spcPts val="1800"/>
              </a:spcAft>
              <a:buNone/>
            </a:pPr>
            <a:r>
              <a:rPr lang="en-US" sz="900" dirty="0">
                <a:solidFill>
                  <a:srgbClr val="C9A227"/>
                </a:solidFill>
                <a:latin typeface="Arial" pitchFamily="34" charset="0"/>
                <a:ea typeface="Arial" pitchFamily="34" charset="-122"/>
                <a:cs typeface="Arial" pitchFamily="34" charset="-120"/>
              </a:rPr>
              <a:t>PART 3 • HANDS-ON SECTION</a:t>
            </a:r>
            <a:endParaRPr lang="en-US" sz="900" dirty="0"/>
          </a:p>
        </p:txBody>
      </p:sp>
      <p:sp>
        <p:nvSpPr>
          <p:cNvPr id="3" name="Text 1"/>
          <p:cNvSpPr/>
          <p:nvPr/>
        </p:nvSpPr>
        <p:spPr>
          <a:xfrm>
            <a:off x="1758148" y="1446907"/>
            <a:ext cx="5627703" cy="495300"/>
          </a:xfrm>
          <a:prstGeom prst="rect">
            <a:avLst/>
          </a:prstGeom>
          <a:noFill/>
          <a:ln/>
        </p:spPr>
        <p:txBody>
          <a:bodyPr wrap="square" lIns="0" tIns="0" rIns="0" bIns="0" rtlCol="0" anchor="t"/>
          <a:lstStyle/>
          <a:p>
            <a:pPr algn="ctr" indent="0" marL="0">
              <a:lnSpc>
                <a:spcPts val="3900"/>
              </a:lnSpc>
              <a:spcAft>
                <a:spcPts val="1200"/>
              </a:spcAft>
              <a:buNone/>
            </a:pPr>
            <a:r>
              <a:rPr lang="en-US" sz="3900" dirty="0">
                <a:solidFill>
                  <a:srgbClr val="FFFFFF"/>
                </a:solidFill>
                <a:latin typeface="Georgia" pitchFamily="34" charset="0"/>
                <a:ea typeface="Georgia" pitchFamily="34" charset="-122"/>
                <a:cs typeface="Georgia" pitchFamily="34" charset="-120"/>
              </a:rPr>
              <a:t>SuperWhisper Deep Dive</a:t>
            </a:r>
            <a:endParaRPr lang="en-US" sz="3900" dirty="0"/>
          </a:p>
        </p:txBody>
      </p:sp>
      <p:sp>
        <p:nvSpPr>
          <p:cNvPr id="4" name="Text 2"/>
          <p:cNvSpPr/>
          <p:nvPr/>
        </p:nvSpPr>
        <p:spPr>
          <a:xfrm>
            <a:off x="4191000" y="2247007"/>
            <a:ext cx="762000" cy="28575"/>
          </a:xfrm>
          <a:prstGeom prst="rect">
            <a:avLst/>
          </a:prstGeom>
          <a:solidFill>
            <a:srgbClr val="C9A227"/>
          </a:solidFill>
          <a:ln/>
        </p:spPr>
        <p:txBody>
          <a:bodyPr wrap="square" rtlCol="0" anchor="ctr"/>
          <a:lstStyle/>
          <a:p>
            <a:pPr indent="0" marL="0">
              <a:buNone/>
            </a:pPr>
            <a:endParaRPr lang="en-US" dirty="0"/>
          </a:p>
        </p:txBody>
      </p:sp>
      <p:sp>
        <p:nvSpPr>
          <p:cNvPr id="5" name="Text 3"/>
          <p:cNvSpPr/>
          <p:nvPr/>
        </p:nvSpPr>
        <p:spPr>
          <a:xfrm>
            <a:off x="1657350" y="2656582"/>
            <a:ext cx="5829300" cy="487561"/>
          </a:xfrm>
          <a:prstGeom prst="rect">
            <a:avLst/>
          </a:prstGeom>
          <a:noFill/>
          <a:ln/>
        </p:spPr>
        <p:txBody>
          <a:bodyPr wrap="square" lIns="0" tIns="0" rIns="0" bIns="0" rtlCol="0" anchor="t"/>
          <a:lstStyle/>
          <a:p>
            <a:pPr algn="ctr" indent="0" marL="0">
              <a:lnSpc>
                <a:spcPts val="1920"/>
              </a:lnSpc>
              <a:spcAft>
                <a:spcPts val="2400"/>
              </a:spcAft>
              <a:buNone/>
            </a:pPr>
            <a:r>
              <a:rPr lang="en-US" sz="1200" dirty="0">
                <a:solidFill>
                  <a:srgbClr val="FFFFFF">
                    <a:alpha val="70000"/>
                  </a:srgbClr>
                </a:solidFill>
                <a:latin typeface="Arial" pitchFamily="34" charset="0"/>
                <a:ea typeface="Arial" pitchFamily="34" charset="-122"/>
                <a:cs typeface="Arial" pitchFamily="34" charset="-120"/>
              </a:rPr>
              <a:t>Configure SuperWhisper for your specific workflow. We'll walk through setup, custom modes, and optimization together.</a:t>
            </a:r>
            <a:endParaRPr lang="en-US" sz="1200" dirty="0"/>
          </a:p>
        </p:txBody>
      </p:sp>
      <p:sp>
        <p:nvSpPr>
          <p:cNvPr id="6" name="Text 4"/>
          <p:cNvSpPr/>
          <p:nvPr/>
        </p:nvSpPr>
        <p:spPr>
          <a:xfrm>
            <a:off x="2454622" y="3753743"/>
            <a:ext cx="1073646" cy="483840"/>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7" name="Text 5"/>
          <p:cNvSpPr/>
          <p:nvPr/>
        </p:nvSpPr>
        <p:spPr>
          <a:xfrm>
            <a:off x="2686773" y="3915668"/>
            <a:ext cx="609344" cy="159990"/>
          </a:xfrm>
          <a:prstGeom prst="rect">
            <a:avLst/>
          </a:prstGeom>
          <a:noFill/>
          <a:ln/>
        </p:spPr>
        <p:txBody>
          <a:bodyPr wrap="square" lIns="0" tIns="0" rIns="0" bIns="0" rtlCol="0" anchor="t"/>
          <a:lstStyle/>
          <a:p>
            <a:pPr algn="ctr" indent="0" marL="0">
              <a:lnSpc>
                <a:spcPts val="1260"/>
              </a:lnSpc>
              <a:buNone/>
            </a:pPr>
            <a:r>
              <a:rPr lang="en-US" sz="900" dirty="0">
                <a:solidFill>
                  <a:srgbClr val="C9A227"/>
                </a:solidFill>
                <a:latin typeface="Arial" pitchFamily="34" charset="0"/>
                <a:ea typeface="Arial" pitchFamily="34" charset="-122"/>
                <a:cs typeface="Arial" pitchFamily="34" charset="-120"/>
              </a:rPr>
              <a:t>Initial Setup</a:t>
            </a:r>
            <a:endParaRPr lang="en-US" sz="900" dirty="0"/>
          </a:p>
        </p:txBody>
      </p:sp>
      <p:sp>
        <p:nvSpPr>
          <p:cNvPr id="8" name="Text 6"/>
          <p:cNvSpPr/>
          <p:nvPr/>
        </p:nvSpPr>
        <p:spPr>
          <a:xfrm>
            <a:off x="3756868" y="3753743"/>
            <a:ext cx="1244947" cy="483840"/>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9" name="Text 7"/>
          <p:cNvSpPr/>
          <p:nvPr/>
        </p:nvSpPr>
        <p:spPr>
          <a:xfrm>
            <a:off x="3987306" y="3915668"/>
            <a:ext cx="784071" cy="159990"/>
          </a:xfrm>
          <a:prstGeom prst="rect">
            <a:avLst/>
          </a:prstGeom>
          <a:noFill/>
          <a:ln/>
        </p:spPr>
        <p:txBody>
          <a:bodyPr wrap="square" lIns="0" tIns="0" rIns="0" bIns="0" rtlCol="0" anchor="t"/>
          <a:lstStyle/>
          <a:p>
            <a:pPr algn="ctr" indent="0" marL="0">
              <a:lnSpc>
                <a:spcPts val="1260"/>
              </a:lnSpc>
              <a:buNone/>
            </a:pPr>
            <a:r>
              <a:rPr lang="en-US" sz="900" dirty="0">
                <a:solidFill>
                  <a:srgbClr val="C9A227"/>
                </a:solidFill>
                <a:latin typeface="Arial" pitchFamily="34" charset="0"/>
                <a:ea typeface="Arial" pitchFamily="34" charset="-122"/>
                <a:cs typeface="Arial" pitchFamily="34" charset="-120"/>
              </a:rPr>
              <a:t>Custom Modes</a:t>
            </a:r>
            <a:endParaRPr lang="en-US" sz="900" dirty="0"/>
          </a:p>
        </p:txBody>
      </p:sp>
      <p:sp>
        <p:nvSpPr>
          <p:cNvPr id="10" name="Text 8"/>
          <p:cNvSpPr/>
          <p:nvPr/>
        </p:nvSpPr>
        <p:spPr>
          <a:xfrm>
            <a:off x="5230416" y="3753743"/>
            <a:ext cx="1458962" cy="483840"/>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11" name="Text 9"/>
          <p:cNvSpPr/>
          <p:nvPr/>
        </p:nvSpPr>
        <p:spPr>
          <a:xfrm>
            <a:off x="5458714" y="3915668"/>
            <a:ext cx="1002366" cy="159990"/>
          </a:xfrm>
          <a:prstGeom prst="rect">
            <a:avLst/>
          </a:prstGeom>
          <a:noFill/>
          <a:ln/>
        </p:spPr>
        <p:txBody>
          <a:bodyPr wrap="square" lIns="0" tIns="0" rIns="0" bIns="0" rtlCol="0" anchor="t"/>
          <a:lstStyle/>
          <a:p>
            <a:pPr algn="ctr" indent="0" marL="0">
              <a:lnSpc>
                <a:spcPts val="1260"/>
              </a:lnSpc>
              <a:buNone/>
            </a:pPr>
            <a:r>
              <a:rPr lang="en-US" sz="900" dirty="0">
                <a:solidFill>
                  <a:srgbClr val="C9A227"/>
                </a:solidFill>
                <a:latin typeface="Arial" pitchFamily="34" charset="0"/>
                <a:ea typeface="Arial" pitchFamily="34" charset="-122"/>
                <a:cs typeface="Arial" pitchFamily="34" charset="-120"/>
              </a:rPr>
              <a:t>Context Awareness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381000" y="266700"/>
            <a:ext cx="8549640" cy="133350"/>
          </a:xfrm>
          <a:prstGeom prst="rect">
            <a:avLst/>
          </a:prstGeom>
          <a:noFill/>
          <a:ln/>
        </p:spPr>
        <p:txBody>
          <a:bodyPr wrap="square" lIns="0" tIns="0" rIns="0" bIns="0" rtlCol="0" anchor="t"/>
          <a:lstStyle/>
          <a:p>
            <a:pPr algn="l" indent="0" marL="0">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HANDS-ON</a:t>
            </a:r>
            <a:endParaRPr lang="en-US" sz="750" dirty="0"/>
          </a:p>
        </p:txBody>
      </p:sp>
      <p:sp>
        <p:nvSpPr>
          <p:cNvPr id="3" name="Text 1"/>
          <p:cNvSpPr/>
          <p:nvPr/>
        </p:nvSpPr>
        <p:spPr>
          <a:xfrm>
            <a:off x="381000" y="457200"/>
            <a:ext cx="4284536" cy="266700"/>
          </a:xfrm>
          <a:prstGeom prst="rect">
            <a:avLst/>
          </a:prstGeom>
          <a:noFill/>
          <a:ln/>
        </p:spPr>
        <p:txBody>
          <a:bodyPr wrap="square" lIns="0" tIns="0" rIns="0" bIns="0" rtlCol="0" anchor="t"/>
          <a:lstStyle/>
          <a:p>
            <a:pPr algn="l" indent="0" marL="0">
              <a:lnSpc>
                <a:spcPts val="2100"/>
              </a:lnSpc>
              <a:buNone/>
            </a:pPr>
            <a:r>
              <a:rPr lang="en-US" sz="2100" dirty="0">
                <a:solidFill>
                  <a:srgbClr val="1A1F2E"/>
                </a:solidFill>
                <a:latin typeface="Georgia" pitchFamily="34" charset="0"/>
                <a:ea typeface="Georgia" pitchFamily="34" charset="-122"/>
                <a:cs typeface="Georgia" pitchFamily="34" charset="-120"/>
              </a:rPr>
              <a:t>Initial Setup Walkthrough</a:t>
            </a:r>
            <a:endParaRPr lang="en-US" sz="2100" dirty="0"/>
          </a:p>
        </p:txBody>
      </p:sp>
      <p:sp>
        <p:nvSpPr>
          <p:cNvPr id="4" name="Text 2"/>
          <p:cNvSpPr/>
          <p:nvPr/>
        </p:nvSpPr>
        <p:spPr>
          <a:xfrm>
            <a:off x="381000" y="1409700"/>
            <a:ext cx="4505325" cy="560040"/>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5" name="Text 3"/>
          <p:cNvSpPr/>
          <p:nvPr/>
        </p:nvSpPr>
        <p:spPr>
          <a:xfrm>
            <a:off x="542925" y="1556296"/>
            <a:ext cx="266700" cy="266700"/>
          </a:xfrm>
          <a:prstGeom prst="rect">
            <a:avLst/>
          </a:prstGeom>
          <a:solidFill>
            <a:srgbClr val="059669"/>
          </a:solidFill>
          <a:ln/>
        </p:spPr>
        <p:txBody>
          <a:bodyPr wrap="square" rtlCol="0" anchor="ctr"/>
          <a:lstStyle/>
          <a:p>
            <a:pPr indent="0" marL="0">
              <a:buNone/>
            </a:pPr>
            <a:endParaRPr lang="en-US" dirty="0"/>
          </a:p>
        </p:txBody>
      </p:sp>
      <p:sp>
        <p:nvSpPr>
          <p:cNvPr id="6" name="Text 4"/>
          <p:cNvSpPr/>
          <p:nvPr/>
        </p:nvSpPr>
        <p:spPr>
          <a:xfrm>
            <a:off x="644426" y="1609576"/>
            <a:ext cx="64972" cy="159990"/>
          </a:xfrm>
          <a:prstGeom prst="rect">
            <a:avLst/>
          </a:prstGeom>
          <a:noFill/>
          <a:ln/>
        </p:spPr>
        <p:txBody>
          <a:bodyPr wrap="square" lIns="0" tIns="0" rIns="0" bIns="0" rtlCol="0" anchor="t"/>
          <a:lstStyle/>
          <a:p>
            <a:pPr algn="l" indent="0" marL="0">
              <a:lnSpc>
                <a:spcPts val="1260"/>
              </a:lnSpc>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7" name="Text 5"/>
          <p:cNvSpPr/>
          <p:nvPr/>
        </p:nvSpPr>
        <p:spPr>
          <a:xfrm>
            <a:off x="1076325" y="1533525"/>
            <a:ext cx="1941278" cy="159990"/>
          </a:xfrm>
          <a:prstGeom prst="rect">
            <a:avLst/>
          </a:prstGeom>
          <a:noFill/>
          <a:ln/>
        </p:spPr>
        <p:txBody>
          <a:bodyPr wrap="square" lIns="0" tIns="0" rIns="0" bIns="0" rtlCol="0" anchor="t"/>
          <a:lstStyle/>
          <a:p>
            <a:pPr algn="l" indent="0" marL="0">
              <a:lnSpc>
                <a:spcPts val="1260"/>
              </a:lnSpc>
              <a:buNone/>
            </a:pPr>
            <a:r>
              <a:rPr lang="en-US" sz="900" b="1" dirty="0">
                <a:solidFill>
                  <a:srgbClr val="1A1F2E"/>
                </a:solidFill>
                <a:latin typeface="Arial" pitchFamily="34" charset="0"/>
                <a:ea typeface="Arial" pitchFamily="34" charset="-122"/>
                <a:cs typeface="Arial" pitchFamily="34" charset="-120"/>
              </a:rPr>
              <a:t>First Launch - Grant Permissions</a:t>
            </a:r>
            <a:endParaRPr lang="en-US" sz="900" dirty="0"/>
          </a:p>
        </p:txBody>
      </p:sp>
      <p:sp>
        <p:nvSpPr>
          <p:cNvPr id="8" name="Text 6"/>
          <p:cNvSpPr/>
          <p:nvPr/>
        </p:nvSpPr>
        <p:spPr>
          <a:xfrm>
            <a:off x="1076325" y="1712565"/>
            <a:ext cx="1941278" cy="133350"/>
          </a:xfrm>
          <a:prstGeom prst="rect">
            <a:avLst/>
          </a:prstGeom>
          <a:noFill/>
          <a:ln/>
        </p:spPr>
        <p:txBody>
          <a:bodyPr wrap="square" lIns="0" tIns="0" rIns="0" bIns="0" rtlCol="0" anchor="t"/>
          <a:lstStyle/>
          <a:p>
            <a:pPr algn="l" indent="0" marL="0">
              <a:lnSpc>
                <a:spcPts val="1050"/>
              </a:lnSpc>
              <a:spcBef>
                <a:spcPts val="150"/>
              </a:spcBef>
              <a:buNone/>
            </a:pPr>
            <a:r>
              <a:rPr lang="en-US" sz="750" dirty="0">
                <a:solidFill>
                  <a:srgbClr val="6B7280"/>
                </a:solidFill>
                <a:latin typeface="Arial" pitchFamily="34" charset="0"/>
                <a:ea typeface="Arial" pitchFamily="34" charset="-122"/>
                <a:cs typeface="Arial" pitchFamily="34" charset="-120"/>
              </a:rPr>
              <a:t>Microphone access + Accessibility (for paste)</a:t>
            </a:r>
            <a:endParaRPr lang="en-US" sz="750" dirty="0"/>
          </a:p>
        </p:txBody>
      </p:sp>
      <p:sp>
        <p:nvSpPr>
          <p:cNvPr id="9" name="Text 7"/>
          <p:cNvSpPr/>
          <p:nvPr/>
        </p:nvSpPr>
        <p:spPr>
          <a:xfrm>
            <a:off x="381000" y="2045940"/>
            <a:ext cx="4505325" cy="560040"/>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0" name="Text 8"/>
          <p:cNvSpPr/>
          <p:nvPr/>
        </p:nvSpPr>
        <p:spPr>
          <a:xfrm>
            <a:off x="542925" y="2192536"/>
            <a:ext cx="266700" cy="266700"/>
          </a:xfrm>
          <a:prstGeom prst="rect">
            <a:avLst/>
          </a:prstGeom>
          <a:solidFill>
            <a:srgbClr val="059669"/>
          </a:solidFill>
          <a:ln/>
        </p:spPr>
        <p:txBody>
          <a:bodyPr wrap="square" rtlCol="0" anchor="ctr"/>
          <a:lstStyle/>
          <a:p>
            <a:pPr indent="0" marL="0">
              <a:buNone/>
            </a:pPr>
            <a:endParaRPr lang="en-US" dirty="0"/>
          </a:p>
        </p:txBody>
      </p:sp>
      <p:sp>
        <p:nvSpPr>
          <p:cNvPr id="11" name="Text 9"/>
          <p:cNvSpPr/>
          <p:nvPr/>
        </p:nvSpPr>
        <p:spPr>
          <a:xfrm>
            <a:off x="644426" y="2245816"/>
            <a:ext cx="64972" cy="159990"/>
          </a:xfrm>
          <a:prstGeom prst="rect">
            <a:avLst/>
          </a:prstGeom>
          <a:noFill/>
          <a:ln/>
        </p:spPr>
        <p:txBody>
          <a:bodyPr wrap="square" lIns="0" tIns="0" rIns="0" bIns="0" rtlCol="0" anchor="t"/>
          <a:lstStyle/>
          <a:p>
            <a:pPr algn="l" indent="0" marL="0">
              <a:lnSpc>
                <a:spcPts val="1260"/>
              </a:lnSpc>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12" name="Text 10"/>
          <p:cNvSpPr/>
          <p:nvPr/>
        </p:nvSpPr>
        <p:spPr>
          <a:xfrm>
            <a:off x="1076325" y="2169765"/>
            <a:ext cx="1910310" cy="159990"/>
          </a:xfrm>
          <a:prstGeom prst="rect">
            <a:avLst/>
          </a:prstGeom>
          <a:noFill/>
          <a:ln/>
        </p:spPr>
        <p:txBody>
          <a:bodyPr wrap="square" lIns="0" tIns="0" rIns="0" bIns="0" rtlCol="0" anchor="t"/>
          <a:lstStyle/>
          <a:p>
            <a:pPr algn="l" indent="0" marL="0">
              <a:lnSpc>
                <a:spcPts val="1260"/>
              </a:lnSpc>
              <a:buNone/>
            </a:pPr>
            <a:r>
              <a:rPr lang="en-US" sz="900" b="1" dirty="0">
                <a:solidFill>
                  <a:srgbClr val="1A1F2E"/>
                </a:solidFill>
                <a:latin typeface="Arial" pitchFamily="34" charset="0"/>
                <a:ea typeface="Arial" pitchFamily="34" charset="-122"/>
                <a:cs typeface="Arial" pitchFamily="34" charset="-120"/>
              </a:rPr>
              <a:t>Select Your Default Model</a:t>
            </a:r>
            <a:endParaRPr lang="en-US" sz="900" dirty="0"/>
          </a:p>
        </p:txBody>
      </p:sp>
      <p:sp>
        <p:nvSpPr>
          <p:cNvPr id="13" name="Text 11"/>
          <p:cNvSpPr/>
          <p:nvPr/>
        </p:nvSpPr>
        <p:spPr>
          <a:xfrm>
            <a:off x="1076325" y="2348805"/>
            <a:ext cx="1910310" cy="133350"/>
          </a:xfrm>
          <a:prstGeom prst="rect">
            <a:avLst/>
          </a:prstGeom>
          <a:noFill/>
          <a:ln/>
        </p:spPr>
        <p:txBody>
          <a:bodyPr wrap="square" lIns="0" tIns="0" rIns="0" bIns="0" rtlCol="0" anchor="t"/>
          <a:lstStyle/>
          <a:p>
            <a:pPr algn="l" indent="0" marL="0">
              <a:lnSpc>
                <a:spcPts val="1050"/>
              </a:lnSpc>
              <a:spcBef>
                <a:spcPts val="150"/>
              </a:spcBef>
              <a:buNone/>
            </a:pPr>
            <a:r>
              <a:rPr lang="en-US" sz="750" dirty="0">
                <a:solidFill>
                  <a:srgbClr val="6B7280"/>
                </a:solidFill>
                <a:latin typeface="Arial" pitchFamily="34" charset="0"/>
                <a:ea typeface="Arial" pitchFamily="34" charset="-122"/>
                <a:cs typeface="Arial" pitchFamily="34" charset="-120"/>
              </a:rPr>
              <a:t>Start with "Fast" for quick testing (local, free)</a:t>
            </a:r>
            <a:endParaRPr lang="en-US" sz="750" dirty="0"/>
          </a:p>
        </p:txBody>
      </p:sp>
      <p:sp>
        <p:nvSpPr>
          <p:cNvPr id="14" name="Text 12"/>
          <p:cNvSpPr/>
          <p:nvPr/>
        </p:nvSpPr>
        <p:spPr>
          <a:xfrm>
            <a:off x="381000" y="2682180"/>
            <a:ext cx="4505325" cy="560040"/>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5" name="Text 13"/>
          <p:cNvSpPr/>
          <p:nvPr/>
        </p:nvSpPr>
        <p:spPr>
          <a:xfrm>
            <a:off x="542925" y="2828776"/>
            <a:ext cx="266700" cy="266700"/>
          </a:xfrm>
          <a:prstGeom prst="rect">
            <a:avLst/>
          </a:prstGeom>
          <a:solidFill>
            <a:srgbClr val="059669"/>
          </a:solidFill>
          <a:ln/>
        </p:spPr>
        <p:txBody>
          <a:bodyPr wrap="square" rtlCol="0" anchor="ctr"/>
          <a:lstStyle/>
          <a:p>
            <a:pPr indent="0" marL="0">
              <a:buNone/>
            </a:pPr>
            <a:endParaRPr lang="en-US" dirty="0"/>
          </a:p>
        </p:txBody>
      </p:sp>
      <p:sp>
        <p:nvSpPr>
          <p:cNvPr id="16" name="Text 14"/>
          <p:cNvSpPr/>
          <p:nvPr/>
        </p:nvSpPr>
        <p:spPr>
          <a:xfrm>
            <a:off x="644426" y="2882057"/>
            <a:ext cx="64972" cy="159990"/>
          </a:xfrm>
          <a:prstGeom prst="rect">
            <a:avLst/>
          </a:prstGeom>
          <a:noFill/>
          <a:ln/>
        </p:spPr>
        <p:txBody>
          <a:bodyPr wrap="square" lIns="0" tIns="0" rIns="0" bIns="0" rtlCol="0" anchor="t"/>
          <a:lstStyle/>
          <a:p>
            <a:pPr algn="l" indent="0" marL="0">
              <a:lnSpc>
                <a:spcPts val="1260"/>
              </a:lnSpc>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17" name="Text 15"/>
          <p:cNvSpPr/>
          <p:nvPr/>
        </p:nvSpPr>
        <p:spPr>
          <a:xfrm>
            <a:off x="1076325" y="2806005"/>
            <a:ext cx="2095208" cy="159990"/>
          </a:xfrm>
          <a:prstGeom prst="rect">
            <a:avLst/>
          </a:prstGeom>
          <a:noFill/>
          <a:ln/>
        </p:spPr>
        <p:txBody>
          <a:bodyPr wrap="square" lIns="0" tIns="0" rIns="0" bIns="0" rtlCol="0" anchor="t"/>
          <a:lstStyle/>
          <a:p>
            <a:pPr algn="l" indent="0" marL="0">
              <a:lnSpc>
                <a:spcPts val="1260"/>
              </a:lnSpc>
              <a:buNone/>
            </a:pPr>
            <a:r>
              <a:rPr lang="en-US" sz="900" b="1" dirty="0">
                <a:solidFill>
                  <a:srgbClr val="1A1F2E"/>
                </a:solidFill>
                <a:latin typeface="Arial" pitchFamily="34" charset="0"/>
                <a:ea typeface="Arial" pitchFamily="34" charset="-122"/>
                <a:cs typeface="Arial" pitchFamily="34" charset="-120"/>
              </a:rPr>
              <a:t>Configure Recording Hotkey</a:t>
            </a:r>
            <a:endParaRPr lang="en-US" sz="900" dirty="0"/>
          </a:p>
        </p:txBody>
      </p:sp>
      <p:sp>
        <p:nvSpPr>
          <p:cNvPr id="18" name="Text 16"/>
          <p:cNvSpPr/>
          <p:nvPr/>
        </p:nvSpPr>
        <p:spPr>
          <a:xfrm>
            <a:off x="1076325" y="2985046"/>
            <a:ext cx="2095208" cy="133350"/>
          </a:xfrm>
          <a:prstGeom prst="rect">
            <a:avLst/>
          </a:prstGeom>
          <a:noFill/>
          <a:ln/>
        </p:spPr>
        <p:txBody>
          <a:bodyPr wrap="square" lIns="0" tIns="0" rIns="0" bIns="0" rtlCol="0" anchor="t"/>
          <a:lstStyle/>
          <a:p>
            <a:pPr algn="l" indent="0" marL="0">
              <a:lnSpc>
                <a:spcPts val="1050"/>
              </a:lnSpc>
              <a:spcBef>
                <a:spcPts val="150"/>
              </a:spcBef>
              <a:buNone/>
            </a:pPr>
            <a:r>
              <a:rPr lang="en-US" sz="750" dirty="0">
                <a:solidFill>
                  <a:srgbClr val="6B7280"/>
                </a:solidFill>
                <a:latin typeface="Arial" pitchFamily="34" charset="0"/>
                <a:ea typeface="Arial" pitchFamily="34" charset="-122"/>
                <a:cs typeface="Arial" pitchFamily="34" charset="-120"/>
              </a:rPr>
              <a:t>Default: Option+Space (Mac) or Alt+Space (Win)</a:t>
            </a:r>
            <a:endParaRPr lang="en-US" sz="750" dirty="0"/>
          </a:p>
        </p:txBody>
      </p:sp>
      <p:sp>
        <p:nvSpPr>
          <p:cNvPr id="19" name="Text 17"/>
          <p:cNvSpPr/>
          <p:nvPr/>
        </p:nvSpPr>
        <p:spPr>
          <a:xfrm>
            <a:off x="381000" y="3318421"/>
            <a:ext cx="4505325" cy="560040"/>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20" name="Text 18"/>
          <p:cNvSpPr/>
          <p:nvPr/>
        </p:nvSpPr>
        <p:spPr>
          <a:xfrm>
            <a:off x="542925" y="3465016"/>
            <a:ext cx="266700" cy="266700"/>
          </a:xfrm>
          <a:prstGeom prst="rect">
            <a:avLst/>
          </a:prstGeom>
          <a:solidFill>
            <a:srgbClr val="059669"/>
          </a:solidFill>
          <a:ln/>
        </p:spPr>
        <p:txBody>
          <a:bodyPr wrap="square" rtlCol="0" anchor="ctr"/>
          <a:lstStyle/>
          <a:p>
            <a:pPr indent="0" marL="0">
              <a:buNone/>
            </a:pPr>
            <a:endParaRPr lang="en-US" dirty="0"/>
          </a:p>
        </p:txBody>
      </p:sp>
      <p:sp>
        <p:nvSpPr>
          <p:cNvPr id="21" name="Text 19"/>
          <p:cNvSpPr/>
          <p:nvPr/>
        </p:nvSpPr>
        <p:spPr>
          <a:xfrm>
            <a:off x="644426" y="3518297"/>
            <a:ext cx="64972" cy="159990"/>
          </a:xfrm>
          <a:prstGeom prst="rect">
            <a:avLst/>
          </a:prstGeom>
          <a:noFill/>
          <a:ln/>
        </p:spPr>
        <p:txBody>
          <a:bodyPr wrap="square" lIns="0" tIns="0" rIns="0" bIns="0" rtlCol="0" anchor="t"/>
          <a:lstStyle/>
          <a:p>
            <a:pPr algn="l" indent="0" marL="0">
              <a:lnSpc>
                <a:spcPts val="1260"/>
              </a:lnSpc>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22" name="Text 20"/>
          <p:cNvSpPr/>
          <p:nvPr/>
        </p:nvSpPr>
        <p:spPr>
          <a:xfrm>
            <a:off x="1076325" y="3442246"/>
            <a:ext cx="2039800" cy="159990"/>
          </a:xfrm>
          <a:prstGeom prst="rect">
            <a:avLst/>
          </a:prstGeom>
          <a:noFill/>
          <a:ln/>
        </p:spPr>
        <p:txBody>
          <a:bodyPr wrap="square" lIns="0" tIns="0" rIns="0" bIns="0" rtlCol="0" anchor="t"/>
          <a:lstStyle/>
          <a:p>
            <a:pPr algn="l" indent="0" marL="0">
              <a:lnSpc>
                <a:spcPts val="1260"/>
              </a:lnSpc>
              <a:buNone/>
            </a:pPr>
            <a:r>
              <a:rPr lang="en-US" sz="900" b="1" dirty="0">
                <a:solidFill>
                  <a:srgbClr val="1A1F2E"/>
                </a:solidFill>
                <a:latin typeface="Arial" pitchFamily="34" charset="0"/>
                <a:ea typeface="Arial" pitchFamily="34" charset="-122"/>
                <a:cs typeface="Arial" pitchFamily="34" charset="-120"/>
              </a:rPr>
              <a:t>Test Your First Dictation</a:t>
            </a:r>
            <a:endParaRPr lang="en-US" sz="900" dirty="0"/>
          </a:p>
        </p:txBody>
      </p:sp>
      <p:sp>
        <p:nvSpPr>
          <p:cNvPr id="23" name="Text 21"/>
          <p:cNvSpPr/>
          <p:nvPr/>
        </p:nvSpPr>
        <p:spPr>
          <a:xfrm>
            <a:off x="1076325" y="3621286"/>
            <a:ext cx="2039800" cy="133350"/>
          </a:xfrm>
          <a:prstGeom prst="rect">
            <a:avLst/>
          </a:prstGeom>
          <a:noFill/>
          <a:ln/>
        </p:spPr>
        <p:txBody>
          <a:bodyPr wrap="square" lIns="0" tIns="0" rIns="0" bIns="0" rtlCol="0" anchor="t"/>
          <a:lstStyle/>
          <a:p>
            <a:pPr algn="l" indent="0" marL="0">
              <a:lnSpc>
                <a:spcPts val="1050"/>
              </a:lnSpc>
              <a:spcBef>
                <a:spcPts val="150"/>
              </a:spcBef>
              <a:buNone/>
            </a:pPr>
            <a:r>
              <a:rPr lang="en-US" sz="750" dirty="0">
                <a:solidFill>
                  <a:srgbClr val="6B7280"/>
                </a:solidFill>
                <a:latin typeface="Arial" pitchFamily="34" charset="0"/>
                <a:ea typeface="Arial" pitchFamily="34" charset="-122"/>
                <a:cs typeface="Arial" pitchFamily="34" charset="-120"/>
              </a:rPr>
              <a:t>Open any text field, hold hotkey, speak, release</a:t>
            </a:r>
            <a:endParaRPr lang="en-US" sz="750" dirty="0"/>
          </a:p>
        </p:txBody>
      </p:sp>
      <p:sp>
        <p:nvSpPr>
          <p:cNvPr id="24" name="Text 22"/>
          <p:cNvSpPr/>
          <p:nvPr/>
        </p:nvSpPr>
        <p:spPr>
          <a:xfrm>
            <a:off x="381000" y="3954661"/>
            <a:ext cx="4505325" cy="540990"/>
          </a:xfrm>
          <a:prstGeom prst="rect">
            <a:avLst/>
          </a:prstGeom>
          <a:solidFill>
            <a:srgbClr val="C9A227"/>
          </a:solidFill>
          <a:ln/>
        </p:spPr>
        <p:txBody>
          <a:bodyPr wrap="square" rtlCol="0" anchor="ctr"/>
          <a:lstStyle/>
          <a:p>
            <a:pPr indent="0" marL="0">
              <a:buNone/>
            </a:pPr>
            <a:endParaRPr lang="en-US" dirty="0"/>
          </a:p>
        </p:txBody>
      </p:sp>
      <p:sp>
        <p:nvSpPr>
          <p:cNvPr id="25" name="Text 23"/>
          <p:cNvSpPr/>
          <p:nvPr/>
        </p:nvSpPr>
        <p:spPr>
          <a:xfrm>
            <a:off x="533400" y="4091732"/>
            <a:ext cx="266700" cy="266700"/>
          </a:xfrm>
          <a:prstGeom prst="rect">
            <a:avLst/>
          </a:prstGeom>
          <a:solidFill>
            <a:srgbClr val="1A1F2E"/>
          </a:solidFill>
          <a:ln/>
        </p:spPr>
        <p:txBody>
          <a:bodyPr wrap="square" rtlCol="0" anchor="ctr"/>
          <a:lstStyle/>
          <a:p>
            <a:pPr indent="0" marL="0">
              <a:buNone/>
            </a:pPr>
            <a:endParaRPr lang="en-US" dirty="0"/>
          </a:p>
        </p:txBody>
      </p:sp>
      <p:sp>
        <p:nvSpPr>
          <p:cNvPr id="26" name="Text 24"/>
          <p:cNvSpPr/>
          <p:nvPr/>
        </p:nvSpPr>
        <p:spPr>
          <a:xfrm>
            <a:off x="634901" y="4145012"/>
            <a:ext cx="64972" cy="159990"/>
          </a:xfrm>
          <a:prstGeom prst="rect">
            <a:avLst/>
          </a:prstGeom>
          <a:noFill/>
          <a:ln/>
        </p:spPr>
        <p:txBody>
          <a:bodyPr wrap="square" lIns="0" tIns="0" rIns="0" bIns="0" rtlCol="0" anchor="t"/>
          <a:lstStyle/>
          <a:p>
            <a:pPr algn="l" indent="0" marL="0">
              <a:lnSpc>
                <a:spcPts val="1260"/>
              </a:lnSpc>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
        <p:nvSpPr>
          <p:cNvPr id="27" name="Text 25"/>
          <p:cNvSpPr/>
          <p:nvPr/>
        </p:nvSpPr>
        <p:spPr>
          <a:xfrm>
            <a:off x="1066800" y="4068961"/>
            <a:ext cx="2131793" cy="159990"/>
          </a:xfrm>
          <a:prstGeom prst="rect">
            <a:avLst/>
          </a:prstGeom>
          <a:noFill/>
          <a:ln/>
        </p:spPr>
        <p:txBody>
          <a:bodyPr wrap="square" lIns="0" tIns="0" rIns="0" bIns="0" rtlCol="0" anchor="t"/>
          <a:lstStyle/>
          <a:p>
            <a:pPr algn="l" indent="0" marL="0">
              <a:lnSpc>
                <a:spcPts val="1260"/>
              </a:lnSpc>
              <a:buNone/>
            </a:pPr>
            <a:r>
              <a:rPr lang="en-US" sz="900" b="1" dirty="0">
                <a:solidFill>
                  <a:srgbClr val="1A1F2E"/>
                </a:solidFill>
                <a:latin typeface="Arial" pitchFamily="34" charset="0"/>
                <a:ea typeface="Arial" pitchFamily="34" charset="-122"/>
                <a:cs typeface="Arial" pitchFamily="34" charset="-120"/>
              </a:rPr>
              <a:t>Verify Local Processing</a:t>
            </a:r>
            <a:endParaRPr lang="en-US" sz="900" dirty="0"/>
          </a:p>
        </p:txBody>
      </p:sp>
      <p:sp>
        <p:nvSpPr>
          <p:cNvPr id="28" name="Text 26"/>
          <p:cNvSpPr/>
          <p:nvPr/>
        </p:nvSpPr>
        <p:spPr>
          <a:xfrm>
            <a:off x="1066800" y="4248001"/>
            <a:ext cx="2131793" cy="133350"/>
          </a:xfrm>
          <a:prstGeom prst="rect">
            <a:avLst/>
          </a:prstGeom>
          <a:noFill/>
          <a:ln/>
        </p:spPr>
        <p:txBody>
          <a:bodyPr wrap="square" lIns="0" tIns="0" rIns="0" bIns="0" rtlCol="0" anchor="t"/>
          <a:lstStyle/>
          <a:p>
            <a:pPr algn="l" indent="0" marL="0">
              <a:lnSpc>
                <a:spcPts val="1050"/>
              </a:lnSpc>
              <a:spcBef>
                <a:spcPts val="150"/>
              </a:spcBef>
              <a:buNone/>
            </a:pPr>
            <a:r>
              <a:rPr lang="en-US" sz="750" dirty="0">
                <a:solidFill>
                  <a:srgbClr val="1A1F2E">
                    <a:alpha val="70000"/>
                  </a:srgbClr>
                </a:solidFill>
                <a:latin typeface="Arial" pitchFamily="34" charset="0"/>
                <a:ea typeface="Arial" pitchFamily="34" charset="-122"/>
                <a:cs typeface="Arial" pitchFamily="34" charset="-120"/>
              </a:rPr>
              <a:t>Check Settings → confirm "Local" model selected</a:t>
            </a:r>
            <a:endParaRPr lang="en-US" sz="750" dirty="0"/>
          </a:p>
        </p:txBody>
      </p:sp>
      <p:sp>
        <p:nvSpPr>
          <p:cNvPr id="29" name="Text 27"/>
          <p:cNvSpPr/>
          <p:nvPr/>
        </p:nvSpPr>
        <p:spPr>
          <a:xfrm>
            <a:off x="5076825" y="1102221"/>
            <a:ext cx="3686175" cy="984796"/>
          </a:xfrm>
          <a:prstGeom prst="rect">
            <a:avLst/>
          </a:prstGeom>
          <a:solidFill>
            <a:srgbClr val="1A1F2E"/>
          </a:solidFill>
          <a:ln/>
        </p:spPr>
        <p:txBody>
          <a:bodyPr wrap="square" rtlCol="0" anchor="ctr"/>
          <a:lstStyle/>
          <a:p>
            <a:pPr indent="0" marL="0">
              <a:buNone/>
            </a:pPr>
            <a:endParaRPr lang="en-US" dirty="0"/>
          </a:p>
        </p:txBody>
      </p:sp>
      <p:sp>
        <p:nvSpPr>
          <p:cNvPr id="30" name="Text 28"/>
          <p:cNvSpPr/>
          <p:nvPr/>
        </p:nvSpPr>
        <p:spPr>
          <a:xfrm>
            <a:off x="5229225" y="1254621"/>
            <a:ext cx="3449002" cy="146596"/>
          </a:xfrm>
          <a:prstGeom prst="rect">
            <a:avLst/>
          </a:prstGeom>
          <a:noFill/>
          <a:ln/>
        </p:spPr>
        <p:txBody>
          <a:bodyPr wrap="square" lIns="0" tIns="0" rIns="0" bIns="0" rtlCol="0" anchor="t"/>
          <a:lstStyle/>
          <a:p>
            <a:pPr algn="l" indent="0" marL="0">
              <a:lnSpc>
                <a:spcPts val="1155"/>
              </a:lnSpc>
              <a:spcAft>
                <a:spcPts val="600"/>
              </a:spcAft>
              <a:buNone/>
            </a:pPr>
            <a:r>
              <a:rPr lang="en-US" sz="825" b="1" dirty="0">
                <a:solidFill>
                  <a:srgbClr val="C9A227"/>
                </a:solidFill>
                <a:latin typeface="Arial" pitchFamily="34" charset="0"/>
                <a:ea typeface="Arial" pitchFamily="34" charset="-122"/>
                <a:cs typeface="Arial" pitchFamily="34" charset="-120"/>
              </a:rPr>
              <a:t>HOTKEY OPTIONS</a:t>
            </a:r>
            <a:endParaRPr lang="en-US" sz="825" dirty="0"/>
          </a:p>
        </p:txBody>
      </p:sp>
      <p:sp>
        <p:nvSpPr>
          <p:cNvPr id="31" name="Text 29"/>
          <p:cNvSpPr/>
          <p:nvPr/>
        </p:nvSpPr>
        <p:spPr>
          <a:xfrm>
            <a:off x="5229225" y="1477417"/>
            <a:ext cx="3449002" cy="457200"/>
          </a:xfrm>
          <a:prstGeom prst="rect">
            <a:avLst/>
          </a:prstGeom>
          <a:noFill/>
          <a:ln/>
        </p:spPr>
        <p:txBody>
          <a:bodyPr wrap="square" lIns="0" tIns="0" rIns="0" bIns="0" rtlCol="0" anchor="t"/>
          <a:lstStyle/>
          <a:p>
            <a:pPr algn="l" indent="0" marL="0">
              <a:lnSpc>
                <a:spcPts val="1200"/>
              </a:lnSpc>
              <a:buNone/>
            </a:pPr>
            <a:r>
              <a:rPr lang="en-US" sz="750" b="1" dirty="0">
                <a:solidFill>
                  <a:srgbClr val="FFFFFF">
                    <a:alpha val="80000"/>
                  </a:srgbClr>
                </a:solidFill>
                <a:latin typeface="Arial" pitchFamily="34" charset="0"/>
                <a:ea typeface="Arial" pitchFamily="34" charset="-122"/>
                <a:cs typeface="Arial" pitchFamily="34" charset="-120"/>
              </a:rPr>
              <a:t>Hold-to-Record:</a:t>
            </a:r>
            <a:pPr algn="l" indent="0" marL="0">
              <a:lnSpc>
                <a:spcPts val="1200"/>
              </a:lnSpc>
              <a:buNone/>
            </a:pPr>
            <a:r>
              <a:rPr lang="en-US" sz="750" dirty="0">
                <a:solidFill>
                  <a:srgbClr val="FFFFFF">
                    <a:alpha val="80000"/>
                  </a:srgbClr>
                </a:solidFill>
                <a:latin typeface="Arial" pitchFamily="34" charset="0"/>
                <a:ea typeface="Arial" pitchFamily="34" charset="-122"/>
                <a:cs typeface="Arial" pitchFamily="34" charset="-120"/>
              </a:rPr>
              <a:t> Speak while holding</a:t>
            </a:r>
            <a:endParaRPr lang="en-US" sz="750" dirty="0"/>
          </a:p>
          <a:p>
            <a:pPr algn="l" indent="0" marL="0">
              <a:lnSpc>
                <a:spcPts val="1200"/>
              </a:lnSpc>
              <a:buNone/>
            </a:pPr>
            <a:r>
              <a:rPr lang="en-US" sz="750" dirty="0">
                <a:solidFill>
                  <a:srgbClr val="FFFFFF">
                    <a:alpha val="80000"/>
                  </a:srgbClr>
                </a:solidFill>
                <a:latin typeface="Arial" pitchFamily="34" charset="0"/>
                <a:ea typeface="Arial" pitchFamily="34" charset="-122"/>
                <a:cs typeface="Arial" pitchFamily="34" charset="-120"/>
              </a:rPr>
              <a:t> </a:t>
            </a:r>
            <a:endParaRPr lang="en-US" sz="750" dirty="0"/>
          </a:p>
          <a:p>
            <a:pPr algn="l" indent="0" marL="0">
              <a:lnSpc>
                <a:spcPts val="1200"/>
              </a:lnSpc>
              <a:buNone/>
            </a:pPr>
            <a:r>
              <a:rPr lang="en-US" sz="750" b="1" dirty="0">
                <a:solidFill>
                  <a:srgbClr val="FFFFFF">
                    <a:alpha val="80000"/>
                  </a:srgbClr>
                </a:solidFill>
                <a:latin typeface="Arial" pitchFamily="34" charset="0"/>
                <a:ea typeface="Arial" pitchFamily="34" charset="-122"/>
                <a:cs typeface="Arial" pitchFamily="34" charset="-120"/>
              </a:rPr>
              <a:t>Toggle Mode:</a:t>
            </a:r>
            <a:pPr algn="l" indent="0" marL="0">
              <a:lnSpc>
                <a:spcPts val="1200"/>
              </a:lnSpc>
              <a:buNone/>
            </a:pPr>
            <a:r>
              <a:rPr lang="en-US" sz="750" dirty="0">
                <a:solidFill>
                  <a:srgbClr val="FFFFFF">
                    <a:alpha val="80000"/>
                  </a:srgbClr>
                </a:solidFill>
                <a:latin typeface="Arial" pitchFamily="34" charset="0"/>
                <a:ea typeface="Arial" pitchFamily="34" charset="-122"/>
                <a:cs typeface="Arial" pitchFamily="34" charset="-120"/>
              </a:rPr>
              <a:t> Press once to start/stop</a:t>
            </a:r>
            <a:endParaRPr lang="en-US" sz="750" dirty="0"/>
          </a:p>
          <a:p>
            <a:pPr algn="l" indent="0" marL="0">
              <a:lnSpc>
                <a:spcPts val="1200"/>
              </a:lnSpc>
              <a:buNone/>
            </a:pPr>
            <a:r>
              <a:rPr lang="en-US" sz="750" dirty="0">
                <a:solidFill>
                  <a:srgbClr val="FFFFFF">
                    <a:alpha val="80000"/>
                  </a:srgbClr>
                </a:solidFill>
                <a:latin typeface="Arial" pitchFamily="34" charset="0"/>
                <a:ea typeface="Arial" pitchFamily="34" charset="-122"/>
                <a:cs typeface="Arial" pitchFamily="34" charset="-120"/>
              </a:rPr>
              <a:t> </a:t>
            </a:r>
            <a:endParaRPr lang="en-US" sz="750" dirty="0"/>
          </a:p>
          <a:p>
            <a:pPr algn="l" indent="0" marL="0">
              <a:lnSpc>
                <a:spcPts val="1200"/>
              </a:lnSpc>
              <a:buNone/>
            </a:pPr>
            <a:r>
              <a:rPr lang="en-US" sz="750" b="1" dirty="0">
                <a:solidFill>
                  <a:srgbClr val="FFFFFF">
                    <a:alpha val="80000"/>
                  </a:srgbClr>
                </a:solidFill>
                <a:latin typeface="Arial" pitchFamily="34" charset="0"/>
                <a:ea typeface="Arial" pitchFamily="34" charset="-122"/>
                <a:cs typeface="Arial" pitchFamily="34" charset="-120"/>
              </a:rPr>
              <a:t>Push-to-Talk:</a:t>
            </a:r>
            <a:pPr algn="l" indent="0" marL="0">
              <a:lnSpc>
                <a:spcPts val="1200"/>
              </a:lnSpc>
              <a:buNone/>
            </a:pPr>
            <a:r>
              <a:rPr lang="en-US" sz="750" dirty="0">
                <a:solidFill>
                  <a:srgbClr val="FFFFFF">
                    <a:alpha val="80000"/>
                  </a:srgbClr>
                </a:solidFill>
                <a:latin typeface="Arial" pitchFamily="34" charset="0"/>
                <a:ea typeface="Arial" pitchFamily="34" charset="-122"/>
                <a:cs typeface="Arial" pitchFamily="34" charset="-120"/>
              </a:rPr>
              <a:t> Classic PTT style</a:t>
            </a:r>
            <a:endParaRPr lang="en-US" sz="750" dirty="0"/>
          </a:p>
        </p:txBody>
      </p:sp>
      <p:sp>
        <p:nvSpPr>
          <p:cNvPr id="32" name="Text 30"/>
          <p:cNvSpPr/>
          <p:nvPr/>
        </p:nvSpPr>
        <p:spPr>
          <a:xfrm>
            <a:off x="5076825" y="2182267"/>
            <a:ext cx="3686175" cy="756196"/>
          </a:xfrm>
          <a:prstGeom prst="rect">
            <a:avLst/>
          </a:prstGeom>
          <a:solidFill>
            <a:srgbClr val="DCFCE7"/>
          </a:solidFill>
          <a:ln/>
        </p:spPr>
        <p:txBody>
          <a:bodyPr wrap="square" rtlCol="0" anchor="ctr"/>
          <a:lstStyle/>
          <a:p>
            <a:pPr indent="0" marL="0">
              <a:buNone/>
            </a:pPr>
            <a:endParaRPr lang="en-US" dirty="0"/>
          </a:p>
        </p:txBody>
      </p:sp>
      <p:sp>
        <p:nvSpPr>
          <p:cNvPr id="33" name="Shape 31"/>
          <p:cNvSpPr/>
          <p:nvPr/>
        </p:nvSpPr>
        <p:spPr>
          <a:xfrm>
            <a:off x="5095875" y="2182267"/>
            <a:ext cx="0" cy="756196"/>
          </a:xfrm>
          <a:prstGeom prst="line">
            <a:avLst/>
          </a:prstGeom>
          <a:noFill/>
          <a:ln w="38100">
            <a:solidFill>
              <a:srgbClr val="059669"/>
            </a:solidFill>
            <a:prstDash val="solid"/>
          </a:ln>
        </p:spPr>
      </p:sp>
      <p:sp>
        <p:nvSpPr>
          <p:cNvPr id="34" name="Text 32"/>
          <p:cNvSpPr/>
          <p:nvPr/>
        </p:nvSpPr>
        <p:spPr>
          <a:xfrm>
            <a:off x="5248275" y="2315617"/>
            <a:ext cx="3449002" cy="146596"/>
          </a:xfrm>
          <a:prstGeom prst="rect">
            <a:avLst/>
          </a:prstGeom>
          <a:noFill/>
          <a:ln/>
        </p:spPr>
        <p:txBody>
          <a:bodyPr wrap="square" lIns="0" tIns="0" rIns="0" bIns="0" rtlCol="0" anchor="t"/>
          <a:lstStyle/>
          <a:p>
            <a:pPr algn="l" indent="0" marL="0">
              <a:lnSpc>
                <a:spcPts val="1155"/>
              </a:lnSpc>
              <a:spcAft>
                <a:spcPts val="450"/>
              </a:spcAft>
              <a:buNone/>
            </a:pPr>
            <a:r>
              <a:rPr lang="en-US" sz="825" b="1" dirty="0">
                <a:solidFill>
                  <a:srgbClr val="166534"/>
                </a:solidFill>
                <a:latin typeface="Arial" pitchFamily="34" charset="0"/>
                <a:ea typeface="Arial" pitchFamily="34" charset="-122"/>
                <a:cs typeface="Arial" pitchFamily="34" charset="-120"/>
              </a:rPr>
              <a:t>PRO TIP</a:t>
            </a:r>
            <a:endParaRPr lang="en-US" sz="825" dirty="0"/>
          </a:p>
        </p:txBody>
      </p:sp>
      <p:sp>
        <p:nvSpPr>
          <p:cNvPr id="35" name="Text 33"/>
          <p:cNvSpPr/>
          <p:nvPr/>
        </p:nvSpPr>
        <p:spPr>
          <a:xfrm>
            <a:off x="5248275" y="2519363"/>
            <a:ext cx="3449002" cy="285750"/>
          </a:xfrm>
          <a:prstGeom prst="rect">
            <a:avLst/>
          </a:prstGeom>
          <a:noFill/>
          <a:ln/>
        </p:spPr>
        <p:txBody>
          <a:bodyPr wrap="square" lIns="0" tIns="0" rIns="0" bIns="0" rtlCol="0" anchor="t"/>
          <a:lstStyle/>
          <a:p>
            <a:pPr algn="l" indent="0" marL="0">
              <a:lnSpc>
                <a:spcPts val="1125"/>
              </a:lnSpc>
              <a:buNone/>
            </a:pPr>
            <a:r>
              <a:rPr lang="en-US" sz="750" dirty="0">
                <a:solidFill>
                  <a:srgbClr val="166534"/>
                </a:solidFill>
                <a:latin typeface="Arial" pitchFamily="34" charset="0"/>
                <a:ea typeface="Arial" pitchFamily="34" charset="-122"/>
                <a:cs typeface="Arial" pitchFamily="34" charset="-120"/>
              </a:rPr>
              <a:t>Hold-to-Record gives you precise control. Release to instantly process and paste. Most natural for short commands.</a:t>
            </a:r>
            <a:endParaRPr lang="en-US" sz="750" dirty="0"/>
          </a:p>
        </p:txBody>
      </p:sp>
      <p:sp>
        <p:nvSpPr>
          <p:cNvPr id="36" name="Text 34"/>
          <p:cNvSpPr/>
          <p:nvPr/>
        </p:nvSpPr>
        <p:spPr>
          <a:xfrm>
            <a:off x="5076825" y="3033713"/>
            <a:ext cx="3686175" cy="756196"/>
          </a:xfrm>
          <a:prstGeom prst="rect">
            <a:avLst/>
          </a:prstGeom>
          <a:solidFill>
            <a:srgbClr val="FEF3C7"/>
          </a:solidFill>
          <a:ln/>
        </p:spPr>
        <p:txBody>
          <a:bodyPr wrap="square" rtlCol="0" anchor="ctr"/>
          <a:lstStyle/>
          <a:p>
            <a:pPr indent="0" marL="0">
              <a:buNone/>
            </a:pPr>
            <a:endParaRPr lang="en-US" dirty="0"/>
          </a:p>
        </p:txBody>
      </p:sp>
      <p:sp>
        <p:nvSpPr>
          <p:cNvPr id="37" name="Shape 35"/>
          <p:cNvSpPr/>
          <p:nvPr/>
        </p:nvSpPr>
        <p:spPr>
          <a:xfrm>
            <a:off x="5095875" y="3033713"/>
            <a:ext cx="0" cy="756196"/>
          </a:xfrm>
          <a:prstGeom prst="line">
            <a:avLst/>
          </a:prstGeom>
          <a:noFill/>
          <a:ln w="38100">
            <a:solidFill>
              <a:srgbClr val="F59E0B"/>
            </a:solidFill>
            <a:prstDash val="solid"/>
          </a:ln>
        </p:spPr>
      </p:sp>
      <p:sp>
        <p:nvSpPr>
          <p:cNvPr id="38" name="Text 36"/>
          <p:cNvSpPr/>
          <p:nvPr/>
        </p:nvSpPr>
        <p:spPr>
          <a:xfrm>
            <a:off x="5248275" y="3167063"/>
            <a:ext cx="3449002" cy="146596"/>
          </a:xfrm>
          <a:prstGeom prst="rect">
            <a:avLst/>
          </a:prstGeom>
          <a:noFill/>
          <a:ln/>
        </p:spPr>
        <p:txBody>
          <a:bodyPr wrap="square" lIns="0" tIns="0" rIns="0" bIns="0" rtlCol="0" anchor="t"/>
          <a:lstStyle/>
          <a:p>
            <a:pPr algn="l" indent="0" marL="0">
              <a:lnSpc>
                <a:spcPts val="1155"/>
              </a:lnSpc>
              <a:spcAft>
                <a:spcPts val="450"/>
              </a:spcAft>
              <a:buNone/>
            </a:pPr>
            <a:r>
              <a:rPr lang="en-US" sz="825" b="1" dirty="0">
                <a:solidFill>
                  <a:srgbClr val="92400E"/>
                </a:solidFill>
                <a:latin typeface="Arial" pitchFamily="34" charset="0"/>
                <a:ea typeface="Arial" pitchFamily="34" charset="-122"/>
                <a:cs typeface="Arial" pitchFamily="34" charset="-120"/>
              </a:rPr>
              <a:t>FIRST MODEL DOWNLOAD</a:t>
            </a:r>
            <a:endParaRPr lang="en-US" sz="825" dirty="0"/>
          </a:p>
        </p:txBody>
      </p:sp>
      <p:sp>
        <p:nvSpPr>
          <p:cNvPr id="39" name="Text 37"/>
          <p:cNvSpPr/>
          <p:nvPr/>
        </p:nvSpPr>
        <p:spPr>
          <a:xfrm>
            <a:off x="5248275" y="3370808"/>
            <a:ext cx="3449002" cy="285750"/>
          </a:xfrm>
          <a:prstGeom prst="rect">
            <a:avLst/>
          </a:prstGeom>
          <a:noFill/>
          <a:ln/>
        </p:spPr>
        <p:txBody>
          <a:bodyPr wrap="square" lIns="0" tIns="0" rIns="0" bIns="0" rtlCol="0" anchor="t"/>
          <a:lstStyle/>
          <a:p>
            <a:pPr algn="l" indent="0" marL="0">
              <a:lnSpc>
                <a:spcPts val="1125"/>
              </a:lnSpc>
              <a:buNone/>
            </a:pPr>
            <a:r>
              <a:rPr lang="en-US" sz="750" dirty="0">
                <a:solidFill>
                  <a:srgbClr val="92400E"/>
                </a:solidFill>
                <a:latin typeface="Arial" pitchFamily="34" charset="0"/>
                <a:ea typeface="Arial" pitchFamily="34" charset="-122"/>
                <a:cs typeface="Arial" pitchFamily="34" charset="-120"/>
              </a:rPr>
              <a:t>Local models download on first use (~100-500MB). Wait for download to complete before testing.</a:t>
            </a:r>
            <a:endParaRPr lang="en-US" sz="750" dirty="0"/>
          </a:p>
        </p:txBody>
      </p:sp>
      <p:sp>
        <p:nvSpPr>
          <p:cNvPr id="40" name="Text 38"/>
          <p:cNvSpPr/>
          <p:nvPr/>
        </p:nvSpPr>
        <p:spPr>
          <a:xfrm>
            <a:off x="5076825" y="3885158"/>
            <a:ext cx="3686175" cy="918121"/>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41" name="Text 39"/>
          <p:cNvSpPr/>
          <p:nvPr/>
        </p:nvSpPr>
        <p:spPr>
          <a:xfrm>
            <a:off x="5219700" y="4028033"/>
            <a:ext cx="3468434" cy="146596"/>
          </a:xfrm>
          <a:prstGeom prst="rect">
            <a:avLst/>
          </a:prstGeom>
          <a:noFill/>
          <a:ln/>
        </p:spPr>
        <p:txBody>
          <a:bodyPr wrap="square" lIns="0" tIns="0" rIns="0" bIns="0" rtlCol="0" anchor="t"/>
          <a:lstStyle/>
          <a:p>
            <a:pPr algn="l" indent="0" marL="0">
              <a:lnSpc>
                <a:spcPts val="1155"/>
              </a:lnSpc>
              <a:spcAft>
                <a:spcPts val="450"/>
              </a:spcAft>
              <a:buNone/>
            </a:pPr>
            <a:r>
              <a:rPr lang="en-US" sz="825" b="1" dirty="0">
                <a:solidFill>
                  <a:srgbClr val="1A1F2E"/>
                </a:solidFill>
                <a:latin typeface="Arial" pitchFamily="34" charset="0"/>
                <a:ea typeface="Arial" pitchFamily="34" charset="-122"/>
                <a:cs typeface="Arial" pitchFamily="34" charset="-120"/>
              </a:rPr>
              <a:t>STATUS INDICATOR</a:t>
            </a:r>
            <a:endParaRPr lang="en-US" sz="825" dirty="0"/>
          </a:p>
        </p:txBody>
      </p:sp>
      <p:sp>
        <p:nvSpPr>
          <p:cNvPr id="42" name="Text 40"/>
          <p:cNvSpPr/>
          <p:nvPr/>
        </p:nvSpPr>
        <p:spPr>
          <a:xfrm>
            <a:off x="5219700" y="4231779"/>
            <a:ext cx="3468434" cy="428625"/>
          </a:xfrm>
          <a:prstGeom prst="rect">
            <a:avLst/>
          </a:prstGeom>
          <a:noFill/>
          <a:ln/>
        </p:spPr>
        <p:txBody>
          <a:bodyPr wrap="square" lIns="0" tIns="0" rIns="0" bIns="0" rtlCol="0" anchor="t"/>
          <a:lstStyle/>
          <a:p>
            <a:pPr algn="l" indent="0" marL="0">
              <a:lnSpc>
                <a:spcPts val="1125"/>
              </a:lnSpc>
              <a:buNone/>
            </a:pPr>
            <a:r>
              <a:rPr lang="en-US" sz="750" dirty="0">
                <a:solidFill>
                  <a:srgbClr val="6B7280"/>
                </a:solidFill>
                <a:latin typeface="Arial" pitchFamily="34" charset="0"/>
                <a:ea typeface="Arial" pitchFamily="34" charset="-122"/>
                <a:cs typeface="Arial" pitchFamily="34" charset="-120"/>
              </a:rPr>
              <a:t>Gray = Idle state</a:t>
            </a:r>
            <a:endParaRPr lang="en-US" sz="750" dirty="0"/>
          </a:p>
          <a:p>
            <a:pPr algn="l" indent="0" marL="0">
              <a:lnSpc>
                <a:spcPts val="1125"/>
              </a:lnSpc>
              <a:buNone/>
            </a:pPr>
            <a:r>
              <a:rPr lang="en-US" sz="750" dirty="0">
                <a:solidFill>
                  <a:srgbClr val="6B7280"/>
                </a:solidFill>
                <a:latin typeface="Arial" pitchFamily="34" charset="0"/>
                <a:ea typeface="Arial" pitchFamily="34" charset="-122"/>
                <a:cs typeface="Arial" pitchFamily="34" charset="-120"/>
              </a:rPr>
              <a:t> Red = Recording</a:t>
            </a:r>
            <a:endParaRPr lang="en-US" sz="750" dirty="0"/>
          </a:p>
          <a:p>
            <a:pPr algn="l" indent="0" marL="0">
              <a:lnSpc>
                <a:spcPts val="1125"/>
              </a:lnSpc>
              <a:buNone/>
            </a:pPr>
            <a:r>
              <a:rPr lang="en-US" sz="750" dirty="0">
                <a:solidFill>
                  <a:srgbClr val="6B7280"/>
                </a:solidFill>
                <a:latin typeface="Arial" pitchFamily="34" charset="0"/>
                <a:ea typeface="Arial" pitchFamily="34" charset="-122"/>
                <a:cs typeface="Arial" pitchFamily="34" charset="-120"/>
              </a:rPr>
              <a:t> Gold = Processing</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381000" y="228600"/>
            <a:ext cx="8549640" cy="133350"/>
          </a:xfrm>
          <a:prstGeom prst="rect">
            <a:avLst/>
          </a:prstGeom>
          <a:noFill/>
          <a:ln/>
        </p:spPr>
        <p:txBody>
          <a:bodyPr wrap="square" lIns="0" tIns="0" rIns="0" bIns="0" rtlCol="0" anchor="t"/>
          <a:lstStyle/>
          <a:p>
            <a:pPr algn="l" indent="0" marL="0">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CUSTOM MODE PROMPTS</a:t>
            </a:r>
            <a:endParaRPr lang="en-US" sz="750" dirty="0"/>
          </a:p>
        </p:txBody>
      </p:sp>
      <p:sp>
        <p:nvSpPr>
          <p:cNvPr id="3" name="Text 1"/>
          <p:cNvSpPr/>
          <p:nvPr/>
        </p:nvSpPr>
        <p:spPr>
          <a:xfrm>
            <a:off x="381000" y="419100"/>
            <a:ext cx="4284536" cy="247650"/>
          </a:xfrm>
          <a:prstGeom prst="rect">
            <a:avLst/>
          </a:prstGeom>
          <a:noFill/>
          <a:ln/>
        </p:spPr>
        <p:txBody>
          <a:bodyPr wrap="square" lIns="0" tIns="0" rIns="0" bIns="0" rtlCol="0" anchor="t"/>
          <a:lstStyle/>
          <a:p>
            <a:pPr algn="l" indent="0" marL="0">
              <a:lnSpc>
                <a:spcPts val="1950"/>
              </a:lnSpc>
              <a:buNone/>
            </a:pPr>
            <a:r>
              <a:rPr lang="en-US" sz="1950" dirty="0">
                <a:solidFill>
                  <a:srgbClr val="1A1F2E"/>
                </a:solidFill>
                <a:latin typeface="Georgia" pitchFamily="34" charset="0"/>
                <a:ea typeface="Georgia" pitchFamily="34" charset="-122"/>
                <a:cs typeface="Georgia" pitchFamily="34" charset="-120"/>
              </a:rPr>
              <a:t>Writing Effective AI Instructions</a:t>
            </a:r>
            <a:endParaRPr lang="en-US" sz="1950" dirty="0"/>
          </a:p>
        </p:txBody>
      </p:sp>
      <p:sp>
        <p:nvSpPr>
          <p:cNvPr id="4" name="Text 2"/>
          <p:cNvSpPr/>
          <p:nvPr/>
        </p:nvSpPr>
        <p:spPr>
          <a:xfrm>
            <a:off x="381000" y="1191964"/>
            <a:ext cx="2814155"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PROMPT STRUCTURE</a:t>
            </a:r>
            <a:endParaRPr lang="en-US" sz="900" dirty="0"/>
          </a:p>
        </p:txBody>
      </p:sp>
      <p:sp>
        <p:nvSpPr>
          <p:cNvPr id="5" name="Text 3"/>
          <p:cNvSpPr/>
          <p:nvPr/>
        </p:nvSpPr>
        <p:spPr>
          <a:xfrm>
            <a:off x="381000" y="1485305"/>
            <a:ext cx="2758976" cy="2435721"/>
          </a:xfrm>
          <a:prstGeom prst="rect">
            <a:avLst/>
          </a:prstGeom>
          <a:solidFill>
            <a:srgbClr val="1A1F2E"/>
          </a:solidFill>
          <a:ln/>
        </p:spPr>
        <p:txBody>
          <a:bodyPr wrap="square" rtlCol="0" anchor="ctr"/>
          <a:lstStyle/>
          <a:p>
            <a:pPr indent="0" marL="0">
              <a:buNone/>
            </a:pPr>
            <a:endParaRPr lang="en-US" dirty="0"/>
          </a:p>
        </p:txBody>
      </p:sp>
      <p:sp>
        <p:nvSpPr>
          <p:cNvPr id="6" name="Text 4"/>
          <p:cNvSpPr/>
          <p:nvPr/>
        </p:nvSpPr>
        <p:spPr>
          <a:xfrm>
            <a:off x="514350" y="1618655"/>
            <a:ext cx="2542121" cy="119955"/>
          </a:xfrm>
          <a:prstGeom prst="rect">
            <a:avLst/>
          </a:prstGeom>
          <a:noFill/>
          <a:ln/>
        </p:spPr>
        <p:txBody>
          <a:bodyPr wrap="square" lIns="0" tIns="0" rIns="0" bIns="0" rtlCol="0" anchor="t"/>
          <a:lstStyle/>
          <a:p>
            <a:pPr algn="l" indent="0" marL="0">
              <a:lnSpc>
                <a:spcPts val="945"/>
              </a:lnSpc>
              <a:spcAft>
                <a:spcPts val="600"/>
              </a:spcAft>
              <a:buNone/>
            </a:pPr>
            <a:r>
              <a:rPr lang="en-US" sz="675" dirty="0">
                <a:solidFill>
                  <a:srgbClr val="C9A227"/>
                </a:solidFill>
                <a:latin typeface="Arial" pitchFamily="34" charset="0"/>
                <a:ea typeface="Arial" pitchFamily="34" charset="-122"/>
                <a:cs typeface="Arial" pitchFamily="34" charset="-120"/>
              </a:rPr>
              <a:t>&lt;role&gt;</a:t>
            </a:r>
            <a:endParaRPr lang="en-US" sz="675" dirty="0"/>
          </a:p>
        </p:txBody>
      </p:sp>
      <p:sp>
        <p:nvSpPr>
          <p:cNvPr id="7" name="Text 5"/>
          <p:cNvSpPr/>
          <p:nvPr/>
        </p:nvSpPr>
        <p:spPr>
          <a:xfrm>
            <a:off x="514350" y="1814810"/>
            <a:ext cx="2542121" cy="119955"/>
          </a:xfrm>
          <a:prstGeom prst="rect">
            <a:avLst/>
          </a:prstGeom>
          <a:noFill/>
          <a:ln/>
        </p:spPr>
        <p:txBody>
          <a:bodyPr wrap="square" lIns="114300" tIns="0" rIns="0" bIns="0" rtlCol="0" anchor="t"/>
          <a:lstStyle/>
          <a:p>
            <a:pPr algn="l" indent="0" marL="0">
              <a:lnSpc>
                <a:spcPts val="945"/>
              </a:lnSpc>
              <a:spcAft>
                <a:spcPts val="600"/>
              </a:spcAft>
              <a:buNone/>
            </a:pPr>
            <a:r>
              <a:rPr lang="en-US" sz="675" dirty="0">
                <a:solidFill>
                  <a:srgbClr val="FFFFFF">
                    <a:alpha val="80000"/>
                  </a:srgbClr>
                </a:solidFill>
                <a:latin typeface="Arial" pitchFamily="34" charset="0"/>
                <a:ea typeface="Arial" pitchFamily="34" charset="-122"/>
                <a:cs typeface="Arial" pitchFamily="34" charset="-120"/>
              </a:rPr>
              <a:t>You are a professional email editor</a:t>
            </a:r>
            <a:endParaRPr lang="en-US" sz="675" dirty="0"/>
          </a:p>
        </p:txBody>
      </p:sp>
      <p:sp>
        <p:nvSpPr>
          <p:cNvPr id="8" name="Text 6"/>
          <p:cNvSpPr/>
          <p:nvPr/>
        </p:nvSpPr>
        <p:spPr>
          <a:xfrm>
            <a:off x="514350" y="2010966"/>
            <a:ext cx="2542121" cy="119955"/>
          </a:xfrm>
          <a:prstGeom prst="rect">
            <a:avLst/>
          </a:prstGeom>
          <a:noFill/>
          <a:ln/>
        </p:spPr>
        <p:txBody>
          <a:bodyPr wrap="square" lIns="0" tIns="0" rIns="0" bIns="0" rtlCol="0" anchor="t"/>
          <a:lstStyle/>
          <a:p>
            <a:pPr algn="l" indent="0" marL="0">
              <a:lnSpc>
                <a:spcPts val="945"/>
              </a:lnSpc>
              <a:spcAft>
                <a:spcPts val="600"/>
              </a:spcAft>
              <a:buNone/>
            </a:pPr>
            <a:r>
              <a:rPr lang="en-US" sz="675" dirty="0">
                <a:solidFill>
                  <a:srgbClr val="C9A227"/>
                </a:solidFill>
                <a:latin typeface="Arial" pitchFamily="34" charset="0"/>
                <a:ea typeface="Arial" pitchFamily="34" charset="-122"/>
                <a:cs typeface="Arial" pitchFamily="34" charset="-120"/>
              </a:rPr>
              <a:t>&lt;/role&gt;</a:t>
            </a:r>
            <a:endParaRPr lang="en-US" sz="675" dirty="0"/>
          </a:p>
        </p:txBody>
      </p:sp>
      <p:sp>
        <p:nvSpPr>
          <p:cNvPr id="9" name="Text 7"/>
          <p:cNvSpPr/>
          <p:nvPr/>
        </p:nvSpPr>
        <p:spPr>
          <a:xfrm>
            <a:off x="514350" y="2207121"/>
            <a:ext cx="2542121" cy="119955"/>
          </a:xfrm>
          <a:prstGeom prst="rect">
            <a:avLst/>
          </a:prstGeom>
          <a:noFill/>
          <a:ln/>
        </p:spPr>
        <p:txBody>
          <a:bodyPr wrap="square" lIns="0" tIns="0" rIns="0" bIns="0" rtlCol="0" anchor="t"/>
          <a:lstStyle/>
          <a:p>
            <a:pPr algn="l" indent="0" marL="0">
              <a:lnSpc>
                <a:spcPts val="945"/>
              </a:lnSpc>
              <a:spcAft>
                <a:spcPts val="600"/>
              </a:spcAft>
              <a:buNone/>
            </a:pPr>
            <a:r>
              <a:rPr lang="en-US" sz="675" dirty="0">
                <a:solidFill>
                  <a:srgbClr val="C9A227"/>
                </a:solidFill>
                <a:latin typeface="Arial" pitchFamily="34" charset="0"/>
                <a:ea typeface="Arial" pitchFamily="34" charset="-122"/>
                <a:cs typeface="Arial" pitchFamily="34" charset="-120"/>
              </a:rPr>
              <a:t>&lt;instructions&gt;</a:t>
            </a:r>
            <a:endParaRPr lang="en-US" sz="675" dirty="0"/>
          </a:p>
        </p:txBody>
      </p:sp>
      <p:sp>
        <p:nvSpPr>
          <p:cNvPr id="10" name="Text 8"/>
          <p:cNvSpPr/>
          <p:nvPr/>
        </p:nvSpPr>
        <p:spPr>
          <a:xfrm>
            <a:off x="514350" y="2403277"/>
            <a:ext cx="2542121" cy="359866"/>
          </a:xfrm>
          <a:prstGeom prst="rect">
            <a:avLst/>
          </a:prstGeom>
          <a:noFill/>
          <a:ln/>
        </p:spPr>
        <p:txBody>
          <a:bodyPr wrap="square" lIns="114300" tIns="0" rIns="0" bIns="0" rtlCol="0" anchor="t"/>
          <a:lstStyle/>
          <a:p>
            <a:pPr algn="l" indent="0" marL="0">
              <a:lnSpc>
                <a:spcPts val="945"/>
              </a:lnSpc>
              <a:spcAft>
                <a:spcPts val="600"/>
              </a:spcAft>
              <a:buNone/>
            </a:pPr>
            <a:r>
              <a:rPr lang="en-US" sz="675" dirty="0">
                <a:solidFill>
                  <a:srgbClr val="FFFFFF">
                    <a:alpha val="80000"/>
                  </a:srgbClr>
                </a:solidFill>
                <a:latin typeface="Arial" pitchFamily="34" charset="0"/>
                <a:ea typeface="Arial" pitchFamily="34" charset="-122"/>
                <a:cs typeface="Arial" pitchFamily="34" charset="-120"/>
              </a:rPr>
              <a:t>Format the User Message into a</a:t>
            </a:r>
            <a:endParaRPr lang="en-US" sz="675" dirty="0"/>
          </a:p>
          <a:p>
            <a:pPr algn="l" indent="0" marL="0">
              <a:lnSpc>
                <a:spcPts val="945"/>
              </a:lnSpc>
              <a:spcAft>
                <a:spcPts val="600"/>
              </a:spcAft>
              <a:buNone/>
            </a:pPr>
            <a:r>
              <a:rPr lang="en-US" sz="675" dirty="0">
                <a:solidFill>
                  <a:srgbClr val="FFFFFF">
                    <a:alpha val="80000"/>
                  </a:srgbClr>
                </a:solidFill>
                <a:latin typeface="Arial" pitchFamily="34" charset="0"/>
                <a:ea typeface="Arial" pitchFamily="34" charset="-122"/>
                <a:cs typeface="Arial" pitchFamily="34" charset="-120"/>
              </a:rPr>
              <a:t>professional email with proper</a:t>
            </a:r>
            <a:endParaRPr lang="en-US" sz="675" dirty="0"/>
          </a:p>
          <a:p>
            <a:pPr algn="l" indent="0" marL="0">
              <a:lnSpc>
                <a:spcPts val="945"/>
              </a:lnSpc>
              <a:spcAft>
                <a:spcPts val="600"/>
              </a:spcAft>
              <a:buNone/>
            </a:pPr>
            <a:r>
              <a:rPr lang="en-US" sz="675" dirty="0">
                <a:solidFill>
                  <a:srgbClr val="FFFFFF">
                    <a:alpha val="80000"/>
                  </a:srgbClr>
                </a:solidFill>
                <a:latin typeface="Arial" pitchFamily="34" charset="0"/>
                <a:ea typeface="Arial" pitchFamily="34" charset="-122"/>
                <a:cs typeface="Arial" pitchFamily="34" charset="-120"/>
              </a:rPr>
              <a:t>greeting and signature</a:t>
            </a:r>
            <a:endParaRPr lang="en-US" sz="675" dirty="0"/>
          </a:p>
        </p:txBody>
      </p:sp>
      <p:sp>
        <p:nvSpPr>
          <p:cNvPr id="11" name="Text 9"/>
          <p:cNvSpPr/>
          <p:nvPr/>
        </p:nvSpPr>
        <p:spPr>
          <a:xfrm>
            <a:off x="514350" y="2839343"/>
            <a:ext cx="2542121" cy="119955"/>
          </a:xfrm>
          <a:prstGeom prst="rect">
            <a:avLst/>
          </a:prstGeom>
          <a:noFill/>
          <a:ln/>
        </p:spPr>
        <p:txBody>
          <a:bodyPr wrap="square" lIns="0" tIns="0" rIns="0" bIns="0" rtlCol="0" anchor="t"/>
          <a:lstStyle/>
          <a:p>
            <a:pPr algn="l" indent="0" marL="0">
              <a:lnSpc>
                <a:spcPts val="945"/>
              </a:lnSpc>
              <a:spcAft>
                <a:spcPts val="600"/>
              </a:spcAft>
              <a:buNone/>
            </a:pPr>
            <a:r>
              <a:rPr lang="en-US" sz="675" dirty="0">
                <a:solidFill>
                  <a:srgbClr val="C9A227"/>
                </a:solidFill>
                <a:latin typeface="Arial" pitchFamily="34" charset="0"/>
                <a:ea typeface="Arial" pitchFamily="34" charset="-122"/>
                <a:cs typeface="Arial" pitchFamily="34" charset="-120"/>
              </a:rPr>
              <a:t>&lt;/instructions&gt;</a:t>
            </a:r>
            <a:endParaRPr lang="en-US" sz="675" dirty="0"/>
          </a:p>
        </p:txBody>
      </p:sp>
      <p:sp>
        <p:nvSpPr>
          <p:cNvPr id="12" name="Text 10"/>
          <p:cNvSpPr/>
          <p:nvPr/>
        </p:nvSpPr>
        <p:spPr>
          <a:xfrm>
            <a:off x="514350" y="3035498"/>
            <a:ext cx="2542121" cy="119955"/>
          </a:xfrm>
          <a:prstGeom prst="rect">
            <a:avLst/>
          </a:prstGeom>
          <a:noFill/>
          <a:ln/>
        </p:spPr>
        <p:txBody>
          <a:bodyPr wrap="square" lIns="0" tIns="0" rIns="0" bIns="0" rtlCol="0" anchor="t"/>
          <a:lstStyle/>
          <a:p>
            <a:pPr algn="l" indent="0" marL="0">
              <a:lnSpc>
                <a:spcPts val="945"/>
              </a:lnSpc>
              <a:spcAft>
                <a:spcPts val="600"/>
              </a:spcAft>
              <a:buNone/>
            </a:pPr>
            <a:r>
              <a:rPr lang="en-US" sz="675" dirty="0">
                <a:solidFill>
                  <a:srgbClr val="C9A227"/>
                </a:solidFill>
                <a:latin typeface="Arial" pitchFamily="34" charset="0"/>
                <a:ea typeface="Arial" pitchFamily="34" charset="-122"/>
                <a:cs typeface="Arial" pitchFamily="34" charset="-120"/>
              </a:rPr>
              <a:t>&lt;requirements&gt;</a:t>
            </a:r>
            <a:endParaRPr lang="en-US" sz="675" dirty="0"/>
          </a:p>
        </p:txBody>
      </p:sp>
      <p:sp>
        <p:nvSpPr>
          <p:cNvPr id="13" name="Text 11"/>
          <p:cNvSpPr/>
          <p:nvPr/>
        </p:nvSpPr>
        <p:spPr>
          <a:xfrm>
            <a:off x="514350" y="3231654"/>
            <a:ext cx="2542121" cy="359866"/>
          </a:xfrm>
          <a:prstGeom prst="rect">
            <a:avLst/>
          </a:prstGeom>
          <a:noFill/>
          <a:ln/>
        </p:spPr>
        <p:txBody>
          <a:bodyPr wrap="square" lIns="114300" tIns="0" rIns="0" bIns="0" rtlCol="0" anchor="t"/>
          <a:lstStyle/>
          <a:p>
            <a:pPr algn="l" indent="0" marL="0">
              <a:lnSpc>
                <a:spcPts val="945"/>
              </a:lnSpc>
              <a:buNone/>
            </a:pPr>
            <a:r>
              <a:rPr lang="en-US" sz="675" dirty="0">
                <a:solidFill>
                  <a:srgbClr val="FFFFFF">
                    <a:alpha val="80000"/>
                  </a:srgbClr>
                </a:solidFill>
                <a:latin typeface="Arial" pitchFamily="34" charset="0"/>
                <a:ea typeface="Arial" pitchFamily="34" charset="-122"/>
                <a:cs typeface="Arial" pitchFamily="34" charset="-120"/>
              </a:rPr>
              <a:t>Keep tone professional</a:t>
            </a:r>
            <a:endParaRPr lang="en-US" sz="675" dirty="0"/>
          </a:p>
          <a:p>
            <a:pPr algn="l" indent="0" marL="0">
              <a:lnSpc>
                <a:spcPts val="945"/>
              </a:lnSpc>
              <a:buNone/>
            </a:pPr>
            <a:r>
              <a:rPr lang="en-US" sz="675" dirty="0">
                <a:solidFill>
                  <a:srgbClr val="FFFFFF">
                    <a:alpha val="80000"/>
                  </a:srgbClr>
                </a:solidFill>
                <a:latin typeface="Arial" pitchFamily="34" charset="0"/>
                <a:ea typeface="Arial" pitchFamily="34" charset="-122"/>
                <a:cs typeface="Arial" pitchFamily="34" charset="-120"/>
              </a:rPr>
              <a:t>Use clear paragraphs</a:t>
            </a:r>
            <a:endParaRPr lang="en-US" sz="675" dirty="0"/>
          </a:p>
          <a:p>
            <a:pPr algn="l" indent="0" marL="0">
              <a:lnSpc>
                <a:spcPts val="945"/>
              </a:lnSpc>
              <a:buNone/>
            </a:pPr>
            <a:r>
              <a:rPr lang="en-US" sz="675" dirty="0">
                <a:solidFill>
                  <a:srgbClr val="FFFFFF">
                    <a:alpha val="80000"/>
                  </a:srgbClr>
                </a:solidFill>
                <a:latin typeface="Arial" pitchFamily="34" charset="0"/>
                <a:ea typeface="Arial" pitchFamily="34" charset="-122"/>
                <a:cs typeface="Arial" pitchFamily="34" charset="-120"/>
              </a:rPr>
              <a:t>Include appropriate sign-off</a:t>
            </a:r>
            <a:endParaRPr lang="en-US" sz="675" dirty="0"/>
          </a:p>
        </p:txBody>
      </p:sp>
      <p:sp>
        <p:nvSpPr>
          <p:cNvPr id="14" name="Text 12"/>
          <p:cNvSpPr/>
          <p:nvPr/>
        </p:nvSpPr>
        <p:spPr>
          <a:xfrm>
            <a:off x="514350" y="3667720"/>
            <a:ext cx="2542121" cy="119955"/>
          </a:xfrm>
          <a:prstGeom prst="rect">
            <a:avLst/>
          </a:prstGeom>
          <a:noFill/>
          <a:ln/>
        </p:spPr>
        <p:txBody>
          <a:bodyPr wrap="square" lIns="0" tIns="0" rIns="0" bIns="0" rtlCol="0" anchor="t"/>
          <a:lstStyle/>
          <a:p>
            <a:pPr algn="l" indent="0" marL="0">
              <a:lnSpc>
                <a:spcPts val="945"/>
              </a:lnSpc>
              <a:spcBef>
                <a:spcPts val="600"/>
              </a:spcBef>
              <a:buNone/>
            </a:pPr>
            <a:r>
              <a:rPr lang="en-US" sz="675" dirty="0">
                <a:solidFill>
                  <a:srgbClr val="C9A227"/>
                </a:solidFill>
                <a:latin typeface="Arial" pitchFamily="34" charset="0"/>
                <a:ea typeface="Arial" pitchFamily="34" charset="-122"/>
                <a:cs typeface="Arial" pitchFamily="34" charset="-120"/>
              </a:rPr>
              <a:t>&lt;/requirements&gt;</a:t>
            </a:r>
            <a:endParaRPr lang="en-US" sz="675" dirty="0"/>
          </a:p>
        </p:txBody>
      </p:sp>
      <p:sp>
        <p:nvSpPr>
          <p:cNvPr id="15" name="Text 13"/>
          <p:cNvSpPr/>
          <p:nvPr/>
        </p:nvSpPr>
        <p:spPr>
          <a:xfrm>
            <a:off x="381000" y="4016276"/>
            <a:ext cx="2758976" cy="639961"/>
          </a:xfrm>
          <a:prstGeom prst="rect">
            <a:avLst/>
          </a:prstGeom>
          <a:solidFill>
            <a:srgbClr val="FEF3C7"/>
          </a:solidFill>
          <a:ln/>
        </p:spPr>
        <p:txBody>
          <a:bodyPr wrap="square" rtlCol="0" anchor="ctr"/>
          <a:lstStyle/>
          <a:p>
            <a:pPr indent="0" marL="0">
              <a:buNone/>
            </a:pPr>
            <a:endParaRPr lang="en-US" dirty="0"/>
          </a:p>
        </p:txBody>
      </p:sp>
      <p:sp>
        <p:nvSpPr>
          <p:cNvPr id="16" name="Shape 14"/>
          <p:cNvSpPr/>
          <p:nvPr/>
        </p:nvSpPr>
        <p:spPr>
          <a:xfrm>
            <a:off x="400050" y="4016276"/>
            <a:ext cx="0" cy="639961"/>
          </a:xfrm>
          <a:prstGeom prst="line">
            <a:avLst/>
          </a:prstGeom>
          <a:noFill/>
          <a:ln w="38100">
            <a:solidFill>
              <a:srgbClr val="F59E0B"/>
            </a:solidFill>
            <a:prstDash val="solid"/>
          </a:ln>
        </p:spPr>
      </p:sp>
      <p:sp>
        <p:nvSpPr>
          <p:cNvPr id="17" name="Text 15"/>
          <p:cNvSpPr/>
          <p:nvPr/>
        </p:nvSpPr>
        <p:spPr>
          <a:xfrm>
            <a:off x="533400" y="4130576"/>
            <a:ext cx="2542121"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92400E"/>
                </a:solidFill>
                <a:latin typeface="Arial" pitchFamily="34" charset="0"/>
                <a:ea typeface="Arial" pitchFamily="34" charset="-122"/>
                <a:cs typeface="Arial" pitchFamily="34" charset="-120"/>
              </a:rPr>
              <a:t>XML TAGS NOTE</a:t>
            </a:r>
            <a:endParaRPr lang="en-US" sz="750" dirty="0"/>
          </a:p>
        </p:txBody>
      </p:sp>
      <p:sp>
        <p:nvSpPr>
          <p:cNvPr id="18" name="Text 16"/>
          <p:cNvSpPr/>
          <p:nvPr/>
        </p:nvSpPr>
        <p:spPr>
          <a:xfrm>
            <a:off x="533400" y="4302026"/>
            <a:ext cx="2542121" cy="239911"/>
          </a:xfrm>
          <a:prstGeom prst="rect">
            <a:avLst/>
          </a:prstGeom>
          <a:noFill/>
          <a:ln/>
        </p:spPr>
        <p:txBody>
          <a:bodyPr wrap="square" lIns="0" tIns="0" rIns="0" bIns="0" rtlCol="0" anchor="t"/>
          <a:lstStyle/>
          <a:p>
            <a:pPr algn="l" indent="0" marL="0">
              <a:lnSpc>
                <a:spcPts val="945"/>
              </a:lnSpc>
              <a:buNone/>
            </a:pPr>
            <a:r>
              <a:rPr lang="en-US" sz="675" dirty="0">
                <a:solidFill>
                  <a:srgbClr val="92400E"/>
                </a:solidFill>
                <a:latin typeface="Arial" pitchFamily="34" charset="0"/>
                <a:ea typeface="Arial" pitchFamily="34" charset="-122"/>
                <a:cs typeface="Arial" pitchFamily="34" charset="-120"/>
              </a:rPr>
              <a:t>XML tags improve clarity with advanced models. Some local models may struggle with them - test your results.</a:t>
            </a:r>
            <a:endParaRPr lang="en-US" sz="675" dirty="0"/>
          </a:p>
        </p:txBody>
      </p:sp>
      <p:sp>
        <p:nvSpPr>
          <p:cNvPr id="19" name="Text 17"/>
          <p:cNvSpPr/>
          <p:nvPr/>
        </p:nvSpPr>
        <p:spPr>
          <a:xfrm>
            <a:off x="3330476" y="1128861"/>
            <a:ext cx="2814155"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KEY ELEMENTS</a:t>
            </a:r>
            <a:endParaRPr lang="en-US" sz="900" dirty="0"/>
          </a:p>
        </p:txBody>
      </p:sp>
      <p:sp>
        <p:nvSpPr>
          <p:cNvPr id="20" name="Text 18"/>
          <p:cNvSpPr/>
          <p:nvPr/>
        </p:nvSpPr>
        <p:spPr>
          <a:xfrm>
            <a:off x="3330476" y="1422202"/>
            <a:ext cx="2758976" cy="539055"/>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21" name="Text 19"/>
          <p:cNvSpPr/>
          <p:nvPr/>
        </p:nvSpPr>
        <p:spPr>
          <a:xfrm>
            <a:off x="3454301" y="1546027"/>
            <a:ext cx="2561552"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059669"/>
                </a:solidFill>
                <a:latin typeface="Arial" pitchFamily="34" charset="0"/>
                <a:ea typeface="Arial" pitchFamily="34" charset="-122"/>
                <a:cs typeface="Arial" pitchFamily="34" charset="-120"/>
              </a:rPr>
              <a:t>1. ROLE STATEMENT</a:t>
            </a:r>
            <a:endParaRPr lang="en-US" sz="750" dirty="0"/>
          </a:p>
        </p:txBody>
      </p:sp>
      <p:sp>
        <p:nvSpPr>
          <p:cNvPr id="22" name="Text 20"/>
          <p:cNvSpPr/>
          <p:nvPr/>
        </p:nvSpPr>
        <p:spPr>
          <a:xfrm>
            <a:off x="3454301" y="1717477"/>
            <a:ext cx="2561552" cy="119955"/>
          </a:xfrm>
          <a:prstGeom prst="rect">
            <a:avLst/>
          </a:prstGeom>
          <a:noFill/>
          <a:ln/>
        </p:spPr>
        <p:txBody>
          <a:bodyPr wrap="square" lIns="0" tIns="0" rIns="0" bIns="0" rtlCol="0" anchor="t"/>
          <a:lstStyle/>
          <a:p>
            <a:pPr algn="l" indent="0" marL="0">
              <a:lnSpc>
                <a:spcPts val="945"/>
              </a:lnSpc>
              <a:buNone/>
            </a:pPr>
            <a:r>
              <a:rPr lang="en-US" sz="675" dirty="0">
                <a:solidFill>
                  <a:srgbClr val="6B7280"/>
                </a:solidFill>
                <a:latin typeface="Arial" pitchFamily="34" charset="0"/>
                <a:ea typeface="Arial" pitchFamily="34" charset="-122"/>
                <a:cs typeface="Arial" pitchFamily="34" charset="-120"/>
              </a:rPr>
              <a:t>Define who the AI is. Sets the foundation for all processing.</a:t>
            </a:r>
            <a:endParaRPr lang="en-US" sz="675" dirty="0"/>
          </a:p>
        </p:txBody>
      </p:sp>
      <p:sp>
        <p:nvSpPr>
          <p:cNvPr id="23" name="Text 21"/>
          <p:cNvSpPr/>
          <p:nvPr/>
        </p:nvSpPr>
        <p:spPr>
          <a:xfrm>
            <a:off x="3330476" y="2056507"/>
            <a:ext cx="2758976" cy="539055"/>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24" name="Text 22"/>
          <p:cNvSpPr/>
          <p:nvPr/>
        </p:nvSpPr>
        <p:spPr>
          <a:xfrm>
            <a:off x="3454301" y="2180332"/>
            <a:ext cx="2561552"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059669"/>
                </a:solidFill>
                <a:latin typeface="Arial" pitchFamily="34" charset="0"/>
                <a:ea typeface="Arial" pitchFamily="34" charset="-122"/>
                <a:cs typeface="Arial" pitchFamily="34" charset="-120"/>
              </a:rPr>
              <a:t>2. CLEAR INSTRUCTIONS</a:t>
            </a:r>
            <a:endParaRPr lang="en-US" sz="750" dirty="0"/>
          </a:p>
        </p:txBody>
      </p:sp>
      <p:sp>
        <p:nvSpPr>
          <p:cNvPr id="25" name="Text 23"/>
          <p:cNvSpPr/>
          <p:nvPr/>
        </p:nvSpPr>
        <p:spPr>
          <a:xfrm>
            <a:off x="3454301" y="2351782"/>
            <a:ext cx="2561552" cy="119955"/>
          </a:xfrm>
          <a:prstGeom prst="rect">
            <a:avLst/>
          </a:prstGeom>
          <a:noFill/>
          <a:ln/>
        </p:spPr>
        <p:txBody>
          <a:bodyPr wrap="square" lIns="0" tIns="0" rIns="0" bIns="0" rtlCol="0" anchor="t"/>
          <a:lstStyle/>
          <a:p>
            <a:pPr algn="l" indent="0" marL="0">
              <a:lnSpc>
                <a:spcPts val="945"/>
              </a:lnSpc>
              <a:buNone/>
            </a:pPr>
            <a:r>
              <a:rPr lang="en-US" sz="675" dirty="0">
                <a:solidFill>
                  <a:srgbClr val="6B7280"/>
                </a:solidFill>
                <a:latin typeface="Arial" pitchFamily="34" charset="0"/>
                <a:ea typeface="Arial" pitchFamily="34" charset="-122"/>
                <a:cs typeface="Arial" pitchFamily="34" charset="-120"/>
              </a:rPr>
              <a:t>Explicit actions to take with the dictated text. Be specific.</a:t>
            </a:r>
            <a:endParaRPr lang="en-US" sz="675" dirty="0"/>
          </a:p>
        </p:txBody>
      </p:sp>
      <p:sp>
        <p:nvSpPr>
          <p:cNvPr id="26" name="Text 24"/>
          <p:cNvSpPr/>
          <p:nvPr/>
        </p:nvSpPr>
        <p:spPr>
          <a:xfrm>
            <a:off x="3330476" y="2690813"/>
            <a:ext cx="2758976" cy="539055"/>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27" name="Text 25"/>
          <p:cNvSpPr/>
          <p:nvPr/>
        </p:nvSpPr>
        <p:spPr>
          <a:xfrm>
            <a:off x="3454301" y="2814638"/>
            <a:ext cx="2561552"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059669"/>
                </a:solidFill>
                <a:latin typeface="Arial" pitchFamily="34" charset="0"/>
                <a:ea typeface="Arial" pitchFamily="34" charset="-122"/>
                <a:cs typeface="Arial" pitchFamily="34" charset="-120"/>
              </a:rPr>
              <a:t>3. REQUIREMENTS LIST</a:t>
            </a:r>
            <a:endParaRPr lang="en-US" sz="750" dirty="0"/>
          </a:p>
        </p:txBody>
      </p:sp>
      <p:sp>
        <p:nvSpPr>
          <p:cNvPr id="28" name="Text 26"/>
          <p:cNvSpPr/>
          <p:nvPr/>
        </p:nvSpPr>
        <p:spPr>
          <a:xfrm>
            <a:off x="3454301" y="2986088"/>
            <a:ext cx="2561552" cy="119955"/>
          </a:xfrm>
          <a:prstGeom prst="rect">
            <a:avLst/>
          </a:prstGeom>
          <a:noFill/>
          <a:ln/>
        </p:spPr>
        <p:txBody>
          <a:bodyPr wrap="square" lIns="0" tIns="0" rIns="0" bIns="0" rtlCol="0" anchor="t"/>
          <a:lstStyle/>
          <a:p>
            <a:pPr algn="l" indent="0" marL="0">
              <a:lnSpc>
                <a:spcPts val="945"/>
              </a:lnSpc>
              <a:buNone/>
            </a:pPr>
            <a:r>
              <a:rPr lang="en-US" sz="675" dirty="0">
                <a:solidFill>
                  <a:srgbClr val="6B7280"/>
                </a:solidFill>
                <a:latin typeface="Arial" pitchFamily="34" charset="0"/>
                <a:ea typeface="Arial" pitchFamily="34" charset="-122"/>
                <a:cs typeface="Arial" pitchFamily="34" charset="-120"/>
              </a:rPr>
              <a:t>Bullet points of constraints and style guidelines.</a:t>
            </a:r>
            <a:endParaRPr lang="en-US" sz="675" dirty="0"/>
          </a:p>
        </p:txBody>
      </p:sp>
      <p:sp>
        <p:nvSpPr>
          <p:cNvPr id="29" name="Text 27"/>
          <p:cNvSpPr/>
          <p:nvPr/>
        </p:nvSpPr>
        <p:spPr>
          <a:xfrm>
            <a:off x="3330476" y="3325118"/>
            <a:ext cx="2758976" cy="539055"/>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30" name="Text 28"/>
          <p:cNvSpPr/>
          <p:nvPr/>
        </p:nvSpPr>
        <p:spPr>
          <a:xfrm>
            <a:off x="3454301" y="3448943"/>
            <a:ext cx="2561552"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059669"/>
                </a:solidFill>
                <a:latin typeface="Arial" pitchFamily="34" charset="0"/>
                <a:ea typeface="Arial" pitchFamily="34" charset="-122"/>
                <a:cs typeface="Arial" pitchFamily="34" charset="-120"/>
              </a:rPr>
              <a:t>4. EXAMPLES (2-3)</a:t>
            </a:r>
            <a:endParaRPr lang="en-US" sz="750" dirty="0"/>
          </a:p>
        </p:txBody>
      </p:sp>
      <p:sp>
        <p:nvSpPr>
          <p:cNvPr id="31" name="Text 29"/>
          <p:cNvSpPr/>
          <p:nvPr/>
        </p:nvSpPr>
        <p:spPr>
          <a:xfrm>
            <a:off x="3454301" y="3620393"/>
            <a:ext cx="2561552" cy="119955"/>
          </a:xfrm>
          <a:prstGeom prst="rect">
            <a:avLst/>
          </a:prstGeom>
          <a:noFill/>
          <a:ln/>
        </p:spPr>
        <p:txBody>
          <a:bodyPr wrap="square" lIns="0" tIns="0" rIns="0" bIns="0" rtlCol="0" anchor="t"/>
          <a:lstStyle/>
          <a:p>
            <a:pPr algn="l" indent="0" marL="0">
              <a:lnSpc>
                <a:spcPts val="945"/>
              </a:lnSpc>
              <a:buNone/>
            </a:pPr>
            <a:r>
              <a:rPr lang="en-US" sz="675" dirty="0">
                <a:solidFill>
                  <a:srgbClr val="6B7280"/>
                </a:solidFill>
                <a:latin typeface="Arial" pitchFamily="34" charset="0"/>
                <a:ea typeface="Arial" pitchFamily="34" charset="-122"/>
                <a:cs typeface="Arial" pitchFamily="34" charset="-120"/>
              </a:rPr>
              <a:t>Show input → output pairs. Dramatically improves accuracy.</a:t>
            </a:r>
            <a:endParaRPr lang="en-US" sz="675" dirty="0"/>
          </a:p>
        </p:txBody>
      </p:sp>
      <p:sp>
        <p:nvSpPr>
          <p:cNvPr id="32" name="Text 30"/>
          <p:cNvSpPr/>
          <p:nvPr/>
        </p:nvSpPr>
        <p:spPr>
          <a:xfrm>
            <a:off x="3330476" y="3959423"/>
            <a:ext cx="2758976" cy="759916"/>
          </a:xfrm>
          <a:prstGeom prst="rect">
            <a:avLst/>
          </a:prstGeom>
          <a:solidFill>
            <a:srgbClr val="DCFCE7"/>
          </a:solidFill>
          <a:ln/>
        </p:spPr>
        <p:txBody>
          <a:bodyPr wrap="square" rtlCol="0" anchor="ctr"/>
          <a:lstStyle/>
          <a:p>
            <a:pPr indent="0" marL="0">
              <a:buNone/>
            </a:pPr>
            <a:endParaRPr lang="en-US" dirty="0"/>
          </a:p>
        </p:txBody>
      </p:sp>
      <p:sp>
        <p:nvSpPr>
          <p:cNvPr id="33" name="Shape 31"/>
          <p:cNvSpPr/>
          <p:nvPr/>
        </p:nvSpPr>
        <p:spPr>
          <a:xfrm>
            <a:off x="3349526" y="3959423"/>
            <a:ext cx="0" cy="759916"/>
          </a:xfrm>
          <a:prstGeom prst="line">
            <a:avLst/>
          </a:prstGeom>
          <a:noFill/>
          <a:ln w="38100">
            <a:solidFill>
              <a:srgbClr val="059669"/>
            </a:solidFill>
            <a:prstDash val="solid"/>
          </a:ln>
        </p:spPr>
      </p:sp>
      <p:sp>
        <p:nvSpPr>
          <p:cNvPr id="34" name="Text 32"/>
          <p:cNvSpPr/>
          <p:nvPr/>
        </p:nvSpPr>
        <p:spPr>
          <a:xfrm>
            <a:off x="3482876" y="4073723"/>
            <a:ext cx="2542121"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166534"/>
                </a:solidFill>
                <a:latin typeface="Arial" pitchFamily="34" charset="0"/>
                <a:ea typeface="Arial" pitchFamily="34" charset="-122"/>
                <a:cs typeface="Arial" pitchFamily="34" charset="-120"/>
              </a:rPr>
              <a:t>CONTEXT REFERENCES</a:t>
            </a:r>
            <a:endParaRPr lang="en-US" sz="750" dirty="0"/>
          </a:p>
        </p:txBody>
      </p:sp>
      <p:sp>
        <p:nvSpPr>
          <p:cNvPr id="35" name="Text 33"/>
          <p:cNvSpPr/>
          <p:nvPr/>
        </p:nvSpPr>
        <p:spPr>
          <a:xfrm>
            <a:off x="3482876" y="4245173"/>
            <a:ext cx="2542121" cy="359866"/>
          </a:xfrm>
          <a:prstGeom prst="rect">
            <a:avLst/>
          </a:prstGeom>
          <a:noFill/>
          <a:ln/>
        </p:spPr>
        <p:txBody>
          <a:bodyPr wrap="square" lIns="0" tIns="0" rIns="0" bIns="0" rtlCol="0" anchor="t"/>
          <a:lstStyle/>
          <a:p>
            <a:pPr algn="l" indent="0" marL="0">
              <a:lnSpc>
                <a:spcPts val="945"/>
              </a:lnSpc>
              <a:buNone/>
            </a:pPr>
            <a:r>
              <a:rPr lang="en-US" sz="675" dirty="0">
                <a:solidFill>
                  <a:srgbClr val="166534"/>
                </a:solidFill>
                <a:latin typeface="Arial" pitchFamily="34" charset="0"/>
                <a:ea typeface="Arial" pitchFamily="34" charset="-122"/>
                <a:cs typeface="Arial" pitchFamily="34" charset="-120"/>
              </a:rPr>
              <a:t>Use "User Message" for dictated text,</a:t>
            </a:r>
            <a:endParaRPr lang="en-US" sz="675" dirty="0"/>
          </a:p>
          <a:p>
            <a:pPr algn="l" indent="0" marL="0">
              <a:lnSpc>
                <a:spcPts val="945"/>
              </a:lnSpc>
              <a:buNone/>
            </a:pPr>
            <a:r>
              <a:rPr lang="en-US" sz="675" dirty="0">
                <a:solidFill>
                  <a:srgbClr val="166534"/>
                </a:solidFill>
                <a:latin typeface="Arial" pitchFamily="34" charset="0"/>
                <a:ea typeface="Arial" pitchFamily="34" charset="-122"/>
                <a:cs typeface="Arial" pitchFamily="34" charset="-120"/>
              </a:rPr>
              <a:t>"Application Context" for current app,</a:t>
            </a:r>
            <a:endParaRPr lang="en-US" sz="675" dirty="0"/>
          </a:p>
          <a:p>
            <a:pPr algn="l" indent="0" marL="0">
              <a:lnSpc>
                <a:spcPts val="945"/>
              </a:lnSpc>
              <a:buNone/>
            </a:pPr>
            <a:r>
              <a:rPr lang="en-US" sz="675" dirty="0">
                <a:solidFill>
                  <a:srgbClr val="166534"/>
                </a:solidFill>
                <a:latin typeface="Arial" pitchFamily="34" charset="0"/>
                <a:ea typeface="Arial" pitchFamily="34" charset="-122"/>
                <a:cs typeface="Arial" pitchFamily="34" charset="-120"/>
              </a:rPr>
              <a:t>"Clipboard Context" for copied text</a:t>
            </a:r>
            <a:endParaRPr lang="en-US" sz="675" dirty="0"/>
          </a:p>
        </p:txBody>
      </p:sp>
      <p:sp>
        <p:nvSpPr>
          <p:cNvPr id="36" name="Text 34"/>
          <p:cNvSpPr/>
          <p:nvPr/>
        </p:nvSpPr>
        <p:spPr>
          <a:xfrm>
            <a:off x="6279952" y="1290638"/>
            <a:ext cx="2532709"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BEST PRACTICES</a:t>
            </a:r>
            <a:endParaRPr lang="en-US" sz="900" dirty="0"/>
          </a:p>
        </p:txBody>
      </p:sp>
      <p:sp>
        <p:nvSpPr>
          <p:cNvPr id="37" name="Text 35"/>
          <p:cNvSpPr/>
          <p:nvPr/>
        </p:nvSpPr>
        <p:spPr>
          <a:xfrm>
            <a:off x="6279952" y="1583978"/>
            <a:ext cx="2483048" cy="1062038"/>
          </a:xfrm>
          <a:prstGeom prst="rect">
            <a:avLst/>
          </a:prstGeom>
          <a:solidFill>
            <a:srgbClr val="1A1F2E"/>
          </a:solidFill>
          <a:ln/>
        </p:spPr>
        <p:txBody>
          <a:bodyPr wrap="square" rtlCol="0" anchor="ctr"/>
          <a:lstStyle/>
          <a:p>
            <a:pPr indent="0" marL="0">
              <a:buNone/>
            </a:pPr>
            <a:endParaRPr lang="en-US" dirty="0"/>
          </a:p>
        </p:txBody>
      </p:sp>
      <p:sp>
        <p:nvSpPr>
          <p:cNvPr id="38" name="Text 36"/>
          <p:cNvSpPr/>
          <p:nvPr/>
        </p:nvSpPr>
        <p:spPr>
          <a:xfrm>
            <a:off x="6394252" y="1698278"/>
            <a:ext cx="2299537" cy="133350"/>
          </a:xfrm>
          <a:prstGeom prst="rect">
            <a:avLst/>
          </a:prstGeom>
          <a:noFill/>
          <a:ln/>
        </p:spPr>
        <p:txBody>
          <a:bodyPr wrap="square" lIns="0" tIns="0" rIns="0" bIns="0" rtlCol="0" anchor="t"/>
          <a:lstStyle/>
          <a:p>
            <a:pPr algn="l" indent="0" marL="0">
              <a:lnSpc>
                <a:spcPts val="1050"/>
              </a:lnSpc>
              <a:spcAft>
                <a:spcPts val="450"/>
              </a:spcAft>
              <a:buNone/>
            </a:pPr>
            <a:r>
              <a:rPr lang="en-US" sz="750" b="1" dirty="0">
                <a:solidFill>
                  <a:srgbClr val="C9A227"/>
                </a:solidFill>
                <a:latin typeface="Arial" pitchFamily="34" charset="0"/>
                <a:ea typeface="Arial" pitchFamily="34" charset="-122"/>
                <a:cs typeface="Arial" pitchFamily="34" charset="-120"/>
              </a:rPr>
              <a:t>DO</a:t>
            </a:r>
            <a:endParaRPr lang="en-US" sz="750" dirty="0"/>
          </a:p>
        </p:txBody>
      </p:sp>
      <p:sp>
        <p:nvSpPr>
          <p:cNvPr id="39" name="Text 37"/>
          <p:cNvSpPr/>
          <p:nvPr/>
        </p:nvSpPr>
        <p:spPr>
          <a:xfrm>
            <a:off x="6394252" y="1888778"/>
            <a:ext cx="2299537" cy="642938"/>
          </a:xfrm>
          <a:prstGeom prst="rect">
            <a:avLst/>
          </a:prstGeom>
          <a:noFill/>
          <a:ln/>
        </p:spPr>
        <p:txBody>
          <a:bodyPr wrap="square" lIns="0" tIns="0" rIns="0" bIns="0" rtlCol="0" anchor="t"/>
          <a:lstStyle/>
          <a:p>
            <a:pPr algn="l" indent="0" marL="0">
              <a:lnSpc>
                <a:spcPts val="1013"/>
              </a:lnSpc>
              <a:buNone/>
            </a:pPr>
            <a:r>
              <a:rPr lang="en-US" sz="675" dirty="0">
                <a:solidFill>
                  <a:srgbClr val="FFFFFF">
                    <a:alpha val="70000"/>
                  </a:srgbClr>
                </a:solidFill>
                <a:latin typeface="Arial" pitchFamily="34" charset="0"/>
                <a:ea typeface="Arial" pitchFamily="34" charset="-122"/>
                <a:cs typeface="Arial" pitchFamily="34" charset="-120"/>
              </a:rPr>
              <a:t>✓ Be explicit and specific</a:t>
            </a:r>
            <a:endParaRPr lang="en-US" sz="675" dirty="0"/>
          </a:p>
          <a:p>
            <a:pPr algn="l" indent="0" marL="0">
              <a:lnSpc>
                <a:spcPts val="1013"/>
              </a:lnSpc>
              <a:buNone/>
            </a:pPr>
            <a:r>
              <a:rPr lang="en-US" sz="675" dirty="0">
                <a:solidFill>
                  <a:srgbClr val="FFFFFF">
                    <a:alpha val="70000"/>
                  </a:srgbClr>
                </a:solidFill>
                <a:latin typeface="Arial" pitchFamily="34" charset="0"/>
                <a:ea typeface="Arial" pitchFamily="34" charset="-122"/>
                <a:cs typeface="Arial" pitchFamily="34" charset="-120"/>
              </a:rPr>
              <a:t> ✓ Include 2-3 examples</a:t>
            </a:r>
            <a:endParaRPr lang="en-US" sz="675" dirty="0"/>
          </a:p>
          <a:p>
            <a:pPr algn="l" indent="0" marL="0">
              <a:lnSpc>
                <a:spcPts val="1013"/>
              </a:lnSpc>
              <a:buNone/>
            </a:pPr>
            <a:r>
              <a:rPr lang="en-US" sz="675" dirty="0">
                <a:solidFill>
                  <a:srgbClr val="FFFFFF">
                    <a:alpha val="70000"/>
                  </a:srgbClr>
                </a:solidFill>
                <a:latin typeface="Arial" pitchFamily="34" charset="0"/>
                <a:ea typeface="Arial" pitchFamily="34" charset="-122"/>
                <a:cs typeface="Arial" pitchFamily="34" charset="-120"/>
              </a:rPr>
              <a:t> ✓ Use modular sections</a:t>
            </a:r>
            <a:endParaRPr lang="en-US" sz="675" dirty="0"/>
          </a:p>
          <a:p>
            <a:pPr algn="l" indent="0" marL="0">
              <a:lnSpc>
                <a:spcPts val="1013"/>
              </a:lnSpc>
              <a:buNone/>
            </a:pPr>
            <a:r>
              <a:rPr lang="en-US" sz="675" dirty="0">
                <a:solidFill>
                  <a:srgbClr val="FFFFFF">
                    <a:alpha val="70000"/>
                  </a:srgbClr>
                </a:solidFill>
                <a:latin typeface="Arial" pitchFamily="34" charset="0"/>
                <a:ea typeface="Arial" pitchFamily="34" charset="-122"/>
                <a:cs typeface="Arial" pitchFamily="34" charset="-120"/>
              </a:rPr>
              <a:t> ✓ Test with your voice</a:t>
            </a:r>
            <a:endParaRPr lang="en-US" sz="675" dirty="0"/>
          </a:p>
          <a:p>
            <a:pPr algn="l" indent="0" marL="0">
              <a:lnSpc>
                <a:spcPts val="1013"/>
              </a:lnSpc>
              <a:buNone/>
            </a:pPr>
            <a:r>
              <a:rPr lang="en-US" sz="675" dirty="0">
                <a:solidFill>
                  <a:srgbClr val="FFFFFF">
                    <a:alpha val="70000"/>
                  </a:srgbClr>
                </a:solidFill>
                <a:latin typeface="Arial" pitchFamily="34" charset="0"/>
                <a:ea typeface="Arial" pitchFamily="34" charset="-122"/>
                <a:cs typeface="Arial" pitchFamily="34" charset="-120"/>
              </a:rPr>
              <a:t> ✓ Iterate and refine</a:t>
            </a:r>
            <a:endParaRPr lang="en-US" sz="675" dirty="0"/>
          </a:p>
        </p:txBody>
      </p:sp>
      <p:sp>
        <p:nvSpPr>
          <p:cNvPr id="40" name="Text 38"/>
          <p:cNvSpPr/>
          <p:nvPr/>
        </p:nvSpPr>
        <p:spPr>
          <a:xfrm>
            <a:off x="6279952" y="2741265"/>
            <a:ext cx="2483048" cy="1062038"/>
          </a:xfrm>
          <a:prstGeom prst="rect">
            <a:avLst/>
          </a:prstGeom>
          <a:solidFill>
            <a:srgbClr val="FEF2F2"/>
          </a:solidFill>
          <a:ln/>
        </p:spPr>
        <p:txBody>
          <a:bodyPr wrap="square" rtlCol="0" anchor="ctr"/>
          <a:lstStyle/>
          <a:p>
            <a:pPr indent="0" marL="0">
              <a:buNone/>
            </a:pPr>
            <a:endParaRPr lang="en-US" dirty="0"/>
          </a:p>
        </p:txBody>
      </p:sp>
      <p:sp>
        <p:nvSpPr>
          <p:cNvPr id="41" name="Shape 39"/>
          <p:cNvSpPr/>
          <p:nvPr/>
        </p:nvSpPr>
        <p:spPr>
          <a:xfrm>
            <a:off x="6299002" y="2741265"/>
            <a:ext cx="0" cy="1062038"/>
          </a:xfrm>
          <a:prstGeom prst="line">
            <a:avLst/>
          </a:prstGeom>
          <a:noFill/>
          <a:ln w="38100">
            <a:solidFill>
              <a:srgbClr val="DC2626"/>
            </a:solidFill>
            <a:prstDash val="solid"/>
          </a:ln>
        </p:spPr>
      </p:sp>
      <p:sp>
        <p:nvSpPr>
          <p:cNvPr id="42" name="Text 40"/>
          <p:cNvSpPr/>
          <p:nvPr/>
        </p:nvSpPr>
        <p:spPr>
          <a:xfrm>
            <a:off x="6432352" y="2855565"/>
            <a:ext cx="2260675" cy="133350"/>
          </a:xfrm>
          <a:prstGeom prst="rect">
            <a:avLst/>
          </a:prstGeom>
          <a:noFill/>
          <a:ln/>
        </p:spPr>
        <p:txBody>
          <a:bodyPr wrap="square" lIns="0" tIns="0" rIns="0" bIns="0" rtlCol="0" anchor="t"/>
          <a:lstStyle/>
          <a:p>
            <a:pPr algn="l" indent="0" marL="0">
              <a:lnSpc>
                <a:spcPts val="1050"/>
              </a:lnSpc>
              <a:spcAft>
                <a:spcPts val="450"/>
              </a:spcAft>
              <a:buNone/>
            </a:pPr>
            <a:r>
              <a:rPr lang="en-US" sz="750" b="1" dirty="0">
                <a:solidFill>
                  <a:srgbClr val="991B1B"/>
                </a:solidFill>
                <a:latin typeface="Arial" pitchFamily="34" charset="0"/>
                <a:ea typeface="Arial" pitchFamily="34" charset="-122"/>
                <a:cs typeface="Arial" pitchFamily="34" charset="-120"/>
              </a:rPr>
              <a:t>AVOID</a:t>
            </a:r>
            <a:endParaRPr lang="en-US" sz="750" dirty="0"/>
          </a:p>
        </p:txBody>
      </p:sp>
      <p:sp>
        <p:nvSpPr>
          <p:cNvPr id="43" name="Text 41"/>
          <p:cNvSpPr/>
          <p:nvPr/>
        </p:nvSpPr>
        <p:spPr>
          <a:xfrm>
            <a:off x="6432352" y="3046065"/>
            <a:ext cx="2260675" cy="642938"/>
          </a:xfrm>
          <a:prstGeom prst="rect">
            <a:avLst/>
          </a:prstGeom>
          <a:noFill/>
          <a:ln/>
        </p:spPr>
        <p:txBody>
          <a:bodyPr wrap="square" lIns="0" tIns="0" rIns="0" bIns="0" rtlCol="0" anchor="t"/>
          <a:lstStyle/>
          <a:p>
            <a:pPr algn="l" indent="0" marL="0">
              <a:lnSpc>
                <a:spcPts val="1013"/>
              </a:lnSpc>
              <a:buNone/>
            </a:pPr>
            <a:r>
              <a:rPr lang="en-US" sz="675" dirty="0">
                <a:solidFill>
                  <a:srgbClr val="991B1B"/>
                </a:solidFill>
                <a:latin typeface="Arial" pitchFamily="34" charset="0"/>
                <a:ea typeface="Arial" pitchFamily="34" charset="-122"/>
                <a:cs typeface="Arial" pitchFamily="34" charset="-120"/>
              </a:rPr>
              <a:t>✗ Vague instructions</a:t>
            </a:r>
            <a:endParaRPr lang="en-US" sz="675" dirty="0"/>
          </a:p>
          <a:p>
            <a:pPr algn="l" indent="0" marL="0">
              <a:lnSpc>
                <a:spcPts val="1013"/>
              </a:lnSpc>
              <a:buNone/>
            </a:pPr>
            <a:r>
              <a:rPr lang="en-US" sz="675" dirty="0">
                <a:solidFill>
                  <a:srgbClr val="991B1B"/>
                </a:solidFill>
                <a:latin typeface="Arial" pitchFamily="34" charset="0"/>
                <a:ea typeface="Arial" pitchFamily="34" charset="-122"/>
                <a:cs typeface="Arial" pitchFamily="34" charset="-120"/>
              </a:rPr>
              <a:t> ✗ Conflicting directives</a:t>
            </a:r>
            <a:endParaRPr lang="en-US" sz="675" dirty="0"/>
          </a:p>
          <a:p>
            <a:pPr algn="l" indent="0" marL="0">
              <a:lnSpc>
                <a:spcPts val="1013"/>
              </a:lnSpc>
              <a:buNone/>
            </a:pPr>
            <a:r>
              <a:rPr lang="en-US" sz="675" dirty="0">
                <a:solidFill>
                  <a:srgbClr val="991B1B"/>
                </a:solidFill>
                <a:latin typeface="Arial" pitchFamily="34" charset="0"/>
                <a:ea typeface="Arial" pitchFamily="34" charset="-122"/>
                <a:cs typeface="Arial" pitchFamily="34" charset="-120"/>
              </a:rPr>
              <a:t> ✗ Too many requirements</a:t>
            </a:r>
            <a:endParaRPr lang="en-US" sz="675" dirty="0"/>
          </a:p>
          <a:p>
            <a:pPr algn="l" indent="0" marL="0">
              <a:lnSpc>
                <a:spcPts val="1013"/>
              </a:lnSpc>
              <a:buNone/>
            </a:pPr>
            <a:r>
              <a:rPr lang="en-US" sz="675" dirty="0">
                <a:solidFill>
                  <a:srgbClr val="991B1B"/>
                </a:solidFill>
                <a:latin typeface="Arial" pitchFamily="34" charset="0"/>
                <a:ea typeface="Arial" pitchFamily="34" charset="-122"/>
                <a:cs typeface="Arial" pitchFamily="34" charset="-120"/>
              </a:rPr>
              <a:t> ✗ No examples</a:t>
            </a:r>
            <a:endParaRPr lang="en-US" sz="675" dirty="0"/>
          </a:p>
          <a:p>
            <a:pPr algn="l" indent="0" marL="0">
              <a:lnSpc>
                <a:spcPts val="1013"/>
              </a:lnSpc>
              <a:buNone/>
            </a:pPr>
            <a:r>
              <a:rPr lang="en-US" sz="675" dirty="0">
                <a:solidFill>
                  <a:srgbClr val="991B1B"/>
                </a:solidFill>
                <a:latin typeface="Arial" pitchFamily="34" charset="0"/>
                <a:ea typeface="Arial" pitchFamily="34" charset="-122"/>
                <a:cs typeface="Arial" pitchFamily="34" charset="-120"/>
              </a:rPr>
              <a:t> ✗ Untested prompts</a:t>
            </a:r>
            <a:endParaRPr lang="en-US" sz="675" dirty="0"/>
          </a:p>
        </p:txBody>
      </p:sp>
      <p:sp>
        <p:nvSpPr>
          <p:cNvPr id="44" name="Text 42"/>
          <p:cNvSpPr/>
          <p:nvPr/>
        </p:nvSpPr>
        <p:spPr>
          <a:xfrm>
            <a:off x="6279952" y="3898553"/>
            <a:ext cx="2483048" cy="659011"/>
          </a:xfrm>
          <a:prstGeom prst="rect">
            <a:avLst/>
          </a:prstGeom>
          <a:solidFill>
            <a:srgbClr val="FFFFFF"/>
          </a:solidFill>
          <a:ln w="9525">
            <a:solidFill>
              <a:srgbClr val="C9A227"/>
            </a:solidFill>
          </a:ln>
        </p:spPr>
        <p:txBody>
          <a:bodyPr wrap="square" rtlCol="0" anchor="ctr"/>
          <a:lstStyle/>
          <a:p>
            <a:pPr indent="0" marL="0">
              <a:buNone/>
            </a:pPr>
            <a:endParaRPr lang="en-US" dirty="0"/>
          </a:p>
        </p:txBody>
      </p:sp>
      <p:sp>
        <p:nvSpPr>
          <p:cNvPr id="45" name="Text 43"/>
          <p:cNvSpPr/>
          <p:nvPr/>
        </p:nvSpPr>
        <p:spPr>
          <a:xfrm>
            <a:off x="6403777" y="4022378"/>
            <a:ext cx="2280106"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1A1F2E"/>
                </a:solidFill>
                <a:latin typeface="Arial" pitchFamily="34" charset="0"/>
                <a:ea typeface="Arial" pitchFamily="34" charset="-122"/>
                <a:cs typeface="Arial" pitchFamily="34" charset="-120"/>
              </a:rPr>
              <a:t>TELL AI IT'S DICTATED</a:t>
            </a:r>
            <a:endParaRPr lang="en-US" sz="750" dirty="0"/>
          </a:p>
        </p:txBody>
      </p:sp>
      <p:sp>
        <p:nvSpPr>
          <p:cNvPr id="46" name="Text 44"/>
          <p:cNvSpPr/>
          <p:nvPr/>
        </p:nvSpPr>
        <p:spPr>
          <a:xfrm>
            <a:off x="6403777" y="4193828"/>
            <a:ext cx="2280106" cy="239911"/>
          </a:xfrm>
          <a:prstGeom prst="rect">
            <a:avLst/>
          </a:prstGeom>
          <a:noFill/>
          <a:ln/>
        </p:spPr>
        <p:txBody>
          <a:bodyPr wrap="square" lIns="0" tIns="0" rIns="0" bIns="0" rtlCol="0" anchor="t"/>
          <a:lstStyle/>
          <a:p>
            <a:pPr algn="l" indent="0" marL="0">
              <a:lnSpc>
                <a:spcPts val="945"/>
              </a:lnSpc>
              <a:buNone/>
            </a:pPr>
            <a:r>
              <a:rPr lang="en-US" sz="675" dirty="0">
                <a:solidFill>
                  <a:srgbClr val="6B7280"/>
                </a:solidFill>
                <a:latin typeface="Arial" pitchFamily="34" charset="0"/>
                <a:ea typeface="Arial" pitchFamily="34" charset="-122"/>
                <a:cs typeface="Arial" pitchFamily="34" charset="-120"/>
              </a:rPr>
              <a:t>"The User Message contains dictated speech. Please format..."</a:t>
            </a:r>
            <a:endParaRPr lang="en-US" sz="67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381000" y="228600"/>
            <a:ext cx="8549640" cy="133350"/>
          </a:xfrm>
          <a:prstGeom prst="rect">
            <a:avLst/>
          </a:prstGeom>
          <a:noFill/>
          <a:ln/>
        </p:spPr>
        <p:txBody>
          <a:bodyPr wrap="square" lIns="0" tIns="0" rIns="0" bIns="0" rtlCol="0" anchor="t"/>
          <a:lstStyle/>
          <a:p>
            <a:pPr algn="l" indent="0" marL="0">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ADVANCED FEATURES</a:t>
            </a:r>
            <a:endParaRPr lang="en-US" sz="750" dirty="0"/>
          </a:p>
        </p:txBody>
      </p:sp>
      <p:sp>
        <p:nvSpPr>
          <p:cNvPr id="3" name="Text 1"/>
          <p:cNvSpPr/>
          <p:nvPr/>
        </p:nvSpPr>
        <p:spPr>
          <a:xfrm>
            <a:off x="381000" y="419100"/>
            <a:ext cx="4284536" cy="247650"/>
          </a:xfrm>
          <a:prstGeom prst="rect">
            <a:avLst/>
          </a:prstGeom>
          <a:noFill/>
          <a:ln/>
        </p:spPr>
        <p:txBody>
          <a:bodyPr wrap="square" lIns="0" tIns="0" rIns="0" bIns="0" rtlCol="0" anchor="t"/>
          <a:lstStyle/>
          <a:p>
            <a:pPr algn="l" indent="0" marL="0">
              <a:lnSpc>
                <a:spcPts val="1950"/>
              </a:lnSpc>
              <a:buNone/>
            </a:pPr>
            <a:r>
              <a:rPr lang="en-US" sz="1950" dirty="0">
                <a:solidFill>
                  <a:srgbClr val="1A1F2E"/>
                </a:solidFill>
                <a:latin typeface="Georgia" pitchFamily="34" charset="0"/>
                <a:ea typeface="Georgia" pitchFamily="34" charset="-122"/>
                <a:cs typeface="Georgia" pitchFamily="34" charset="-120"/>
              </a:rPr>
              <a:t>Context Awareness &amp; Mode Switching</a:t>
            </a:r>
            <a:endParaRPr lang="en-US" sz="1950" dirty="0"/>
          </a:p>
        </p:txBody>
      </p:sp>
      <p:sp>
        <p:nvSpPr>
          <p:cNvPr id="4" name="Text 2"/>
          <p:cNvSpPr/>
          <p:nvPr/>
        </p:nvSpPr>
        <p:spPr>
          <a:xfrm>
            <a:off x="381000" y="1355675"/>
            <a:ext cx="2840873"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THREE CONTEXT TYPES</a:t>
            </a:r>
            <a:endParaRPr lang="en-US" sz="900" dirty="0"/>
          </a:p>
        </p:txBody>
      </p:sp>
      <p:sp>
        <p:nvSpPr>
          <p:cNvPr id="5" name="Text 3"/>
          <p:cNvSpPr/>
          <p:nvPr/>
        </p:nvSpPr>
        <p:spPr>
          <a:xfrm>
            <a:off x="381000" y="1629966"/>
            <a:ext cx="2785170" cy="664666"/>
          </a:xfrm>
          <a:prstGeom prst="rect">
            <a:avLst/>
          </a:prstGeom>
          <a:solidFill>
            <a:srgbClr val="FFFFFF"/>
          </a:solidFill>
          <a:ln/>
        </p:spPr>
        <p:txBody>
          <a:bodyPr wrap="square" rtlCol="0" anchor="ctr"/>
          <a:lstStyle/>
          <a:p>
            <a:pPr indent="0" marL="0">
              <a:buNone/>
            </a:pPr>
            <a:endParaRPr lang="en-US" dirty="0"/>
          </a:p>
        </p:txBody>
      </p:sp>
      <p:sp>
        <p:nvSpPr>
          <p:cNvPr id="6" name="Shape 4"/>
          <p:cNvSpPr/>
          <p:nvPr/>
        </p:nvSpPr>
        <p:spPr>
          <a:xfrm>
            <a:off x="400050" y="1629966"/>
            <a:ext cx="0" cy="664666"/>
          </a:xfrm>
          <a:prstGeom prst="line">
            <a:avLst/>
          </a:prstGeom>
          <a:noFill/>
          <a:ln w="38100">
            <a:solidFill>
              <a:srgbClr val="059669"/>
            </a:solidFill>
            <a:prstDash val="solid"/>
          </a:ln>
        </p:spPr>
      </p:sp>
      <p:sp>
        <p:nvSpPr>
          <p:cNvPr id="7" name="Text 5"/>
          <p:cNvSpPr/>
          <p:nvPr/>
        </p:nvSpPr>
        <p:spPr>
          <a:xfrm>
            <a:off x="533400" y="1744266"/>
            <a:ext cx="2568839"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059669"/>
                </a:solidFill>
                <a:latin typeface="Arial" pitchFamily="34" charset="0"/>
                <a:ea typeface="Arial" pitchFamily="34" charset="-122"/>
                <a:cs typeface="Arial" pitchFamily="34" charset="-120"/>
              </a:rPr>
              <a:t>APPLICATION CONTEXT</a:t>
            </a:r>
            <a:endParaRPr lang="en-US" sz="750" dirty="0"/>
          </a:p>
        </p:txBody>
      </p:sp>
      <p:sp>
        <p:nvSpPr>
          <p:cNvPr id="8" name="Text 6"/>
          <p:cNvSpPr/>
          <p:nvPr/>
        </p:nvSpPr>
        <p:spPr>
          <a:xfrm>
            <a:off x="533400" y="1915716"/>
            <a:ext cx="2568839" cy="119955"/>
          </a:xfrm>
          <a:prstGeom prst="rect">
            <a:avLst/>
          </a:prstGeom>
          <a:noFill/>
          <a:ln/>
        </p:spPr>
        <p:txBody>
          <a:bodyPr wrap="square" lIns="0" tIns="0" rIns="0" bIns="0" rtlCol="0" anchor="t"/>
          <a:lstStyle/>
          <a:p>
            <a:pPr algn="l" indent="0" marL="0">
              <a:lnSpc>
                <a:spcPts val="945"/>
              </a:lnSpc>
              <a:spcAft>
                <a:spcPts val="300"/>
              </a:spcAft>
              <a:buNone/>
            </a:pPr>
            <a:r>
              <a:rPr lang="en-US" sz="675" dirty="0">
                <a:solidFill>
                  <a:srgbClr val="6B7280"/>
                </a:solidFill>
                <a:latin typeface="Arial" pitchFamily="34" charset="0"/>
                <a:ea typeface="Arial" pitchFamily="34" charset="-122"/>
                <a:cs typeface="Arial" pitchFamily="34" charset="-120"/>
              </a:rPr>
              <a:t>Knows which app is active (VS Code, Teams, Chrome, etc.)</a:t>
            </a:r>
            <a:endParaRPr lang="en-US" sz="675" dirty="0"/>
          </a:p>
        </p:txBody>
      </p:sp>
      <p:sp>
        <p:nvSpPr>
          <p:cNvPr id="9" name="Text 7"/>
          <p:cNvSpPr/>
          <p:nvPr/>
        </p:nvSpPr>
        <p:spPr>
          <a:xfrm>
            <a:off x="533400" y="2073771"/>
            <a:ext cx="2568839" cy="106561"/>
          </a:xfrm>
          <a:prstGeom prst="rect">
            <a:avLst/>
          </a:prstGeom>
          <a:noFill/>
          <a:ln/>
        </p:spPr>
        <p:txBody>
          <a:bodyPr wrap="square" lIns="0" tIns="0" rIns="0" bIns="0" rtlCol="0" anchor="t"/>
          <a:lstStyle/>
          <a:p>
            <a:pPr algn="l" indent="0" marL="0">
              <a:lnSpc>
                <a:spcPts val="840"/>
              </a:lnSpc>
              <a:buNone/>
            </a:pPr>
            <a:r>
              <a:rPr lang="en-US" sz="600" dirty="0">
                <a:solidFill>
                  <a:srgbClr val="9CA3AF"/>
                </a:solidFill>
                <a:latin typeface="Arial" pitchFamily="34" charset="0"/>
                <a:ea typeface="Arial" pitchFamily="34" charset="-122"/>
                <a:cs typeface="Arial" pitchFamily="34" charset="-120"/>
              </a:rPr>
              <a:t>Captured: After voice processing, before AI</a:t>
            </a:r>
            <a:endParaRPr lang="en-US" sz="600" dirty="0"/>
          </a:p>
        </p:txBody>
      </p:sp>
      <p:sp>
        <p:nvSpPr>
          <p:cNvPr id="10" name="Text 8"/>
          <p:cNvSpPr/>
          <p:nvPr/>
        </p:nvSpPr>
        <p:spPr>
          <a:xfrm>
            <a:off x="381000" y="2370832"/>
            <a:ext cx="2785170" cy="664666"/>
          </a:xfrm>
          <a:prstGeom prst="rect">
            <a:avLst/>
          </a:prstGeom>
          <a:solidFill>
            <a:srgbClr val="FFFFFF"/>
          </a:solidFill>
          <a:ln/>
        </p:spPr>
        <p:txBody>
          <a:bodyPr wrap="square" rtlCol="0" anchor="ctr"/>
          <a:lstStyle/>
          <a:p>
            <a:pPr indent="0" marL="0">
              <a:buNone/>
            </a:pPr>
            <a:endParaRPr lang="en-US" dirty="0"/>
          </a:p>
        </p:txBody>
      </p:sp>
      <p:sp>
        <p:nvSpPr>
          <p:cNvPr id="11" name="Shape 9"/>
          <p:cNvSpPr/>
          <p:nvPr/>
        </p:nvSpPr>
        <p:spPr>
          <a:xfrm>
            <a:off x="400050" y="2370832"/>
            <a:ext cx="0" cy="664666"/>
          </a:xfrm>
          <a:prstGeom prst="line">
            <a:avLst/>
          </a:prstGeom>
          <a:noFill/>
          <a:ln w="38100">
            <a:solidFill>
              <a:srgbClr val="3B82F6"/>
            </a:solidFill>
            <a:prstDash val="solid"/>
          </a:ln>
        </p:spPr>
      </p:sp>
      <p:sp>
        <p:nvSpPr>
          <p:cNvPr id="12" name="Text 10"/>
          <p:cNvSpPr/>
          <p:nvPr/>
        </p:nvSpPr>
        <p:spPr>
          <a:xfrm>
            <a:off x="533400" y="2485132"/>
            <a:ext cx="2568839"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3B82F6"/>
                </a:solidFill>
                <a:latin typeface="Arial" pitchFamily="34" charset="0"/>
                <a:ea typeface="Arial" pitchFamily="34" charset="-122"/>
                <a:cs typeface="Arial" pitchFamily="34" charset="-120"/>
              </a:rPr>
              <a:t>SELECTED TEXT CONTEXT</a:t>
            </a:r>
            <a:endParaRPr lang="en-US" sz="750" dirty="0"/>
          </a:p>
        </p:txBody>
      </p:sp>
      <p:sp>
        <p:nvSpPr>
          <p:cNvPr id="13" name="Text 11"/>
          <p:cNvSpPr/>
          <p:nvPr/>
        </p:nvSpPr>
        <p:spPr>
          <a:xfrm>
            <a:off x="533400" y="2656582"/>
            <a:ext cx="2568839" cy="119955"/>
          </a:xfrm>
          <a:prstGeom prst="rect">
            <a:avLst/>
          </a:prstGeom>
          <a:noFill/>
          <a:ln/>
        </p:spPr>
        <p:txBody>
          <a:bodyPr wrap="square" lIns="0" tIns="0" rIns="0" bIns="0" rtlCol="0" anchor="t"/>
          <a:lstStyle/>
          <a:p>
            <a:pPr algn="l" indent="0" marL="0">
              <a:lnSpc>
                <a:spcPts val="945"/>
              </a:lnSpc>
              <a:spcAft>
                <a:spcPts val="300"/>
              </a:spcAft>
              <a:buNone/>
            </a:pPr>
            <a:r>
              <a:rPr lang="en-US" sz="675" dirty="0">
                <a:solidFill>
                  <a:srgbClr val="6B7280"/>
                </a:solidFill>
                <a:latin typeface="Arial" pitchFamily="34" charset="0"/>
                <a:ea typeface="Arial" pitchFamily="34" charset="-122"/>
                <a:cs typeface="Arial" pitchFamily="34" charset="-120"/>
              </a:rPr>
              <a:t>Passes highlighted text to AI for reference or transformation</a:t>
            </a:r>
            <a:endParaRPr lang="en-US" sz="675" dirty="0"/>
          </a:p>
        </p:txBody>
      </p:sp>
      <p:sp>
        <p:nvSpPr>
          <p:cNvPr id="14" name="Text 12"/>
          <p:cNvSpPr/>
          <p:nvPr/>
        </p:nvSpPr>
        <p:spPr>
          <a:xfrm>
            <a:off x="533400" y="2814638"/>
            <a:ext cx="2568839" cy="106561"/>
          </a:xfrm>
          <a:prstGeom prst="rect">
            <a:avLst/>
          </a:prstGeom>
          <a:noFill/>
          <a:ln/>
        </p:spPr>
        <p:txBody>
          <a:bodyPr wrap="square" lIns="0" tIns="0" rIns="0" bIns="0" rtlCol="0" anchor="t"/>
          <a:lstStyle/>
          <a:p>
            <a:pPr algn="l" indent="0" marL="0">
              <a:lnSpc>
                <a:spcPts val="840"/>
              </a:lnSpc>
              <a:buNone/>
            </a:pPr>
            <a:r>
              <a:rPr lang="en-US" sz="600" dirty="0">
                <a:solidFill>
                  <a:srgbClr val="9CA3AF"/>
                </a:solidFill>
                <a:latin typeface="Arial" pitchFamily="34" charset="0"/>
                <a:ea typeface="Arial" pitchFamily="34" charset="-122"/>
                <a:cs typeface="Arial" pitchFamily="34" charset="-120"/>
              </a:rPr>
              <a:t>Captured: Exactly when recording starts</a:t>
            </a:r>
            <a:endParaRPr lang="en-US" sz="600" dirty="0"/>
          </a:p>
        </p:txBody>
      </p:sp>
      <p:sp>
        <p:nvSpPr>
          <p:cNvPr id="15" name="Text 13"/>
          <p:cNvSpPr/>
          <p:nvPr/>
        </p:nvSpPr>
        <p:spPr>
          <a:xfrm>
            <a:off x="381000" y="3111698"/>
            <a:ext cx="2785170" cy="664666"/>
          </a:xfrm>
          <a:prstGeom prst="rect">
            <a:avLst/>
          </a:prstGeom>
          <a:solidFill>
            <a:srgbClr val="FFFFFF"/>
          </a:solidFill>
          <a:ln/>
        </p:spPr>
        <p:txBody>
          <a:bodyPr wrap="square" rtlCol="0" anchor="ctr"/>
          <a:lstStyle/>
          <a:p>
            <a:pPr indent="0" marL="0">
              <a:buNone/>
            </a:pPr>
            <a:endParaRPr lang="en-US" dirty="0"/>
          </a:p>
        </p:txBody>
      </p:sp>
      <p:sp>
        <p:nvSpPr>
          <p:cNvPr id="16" name="Shape 14"/>
          <p:cNvSpPr/>
          <p:nvPr/>
        </p:nvSpPr>
        <p:spPr>
          <a:xfrm>
            <a:off x="400050" y="3111698"/>
            <a:ext cx="0" cy="664666"/>
          </a:xfrm>
          <a:prstGeom prst="line">
            <a:avLst/>
          </a:prstGeom>
          <a:noFill/>
          <a:ln w="38100">
            <a:solidFill>
              <a:srgbClr val="8B5CF6"/>
            </a:solidFill>
            <a:prstDash val="solid"/>
          </a:ln>
        </p:spPr>
      </p:sp>
      <p:sp>
        <p:nvSpPr>
          <p:cNvPr id="17" name="Text 15"/>
          <p:cNvSpPr/>
          <p:nvPr/>
        </p:nvSpPr>
        <p:spPr>
          <a:xfrm>
            <a:off x="533400" y="3225998"/>
            <a:ext cx="2568839"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8B5CF6"/>
                </a:solidFill>
                <a:latin typeface="Arial" pitchFamily="34" charset="0"/>
                <a:ea typeface="Arial" pitchFamily="34" charset="-122"/>
                <a:cs typeface="Arial" pitchFamily="34" charset="-120"/>
              </a:rPr>
              <a:t>CLIPBOARD CONTEXT</a:t>
            </a:r>
            <a:endParaRPr lang="en-US" sz="750" dirty="0"/>
          </a:p>
        </p:txBody>
      </p:sp>
      <p:sp>
        <p:nvSpPr>
          <p:cNvPr id="18" name="Text 16"/>
          <p:cNvSpPr/>
          <p:nvPr/>
        </p:nvSpPr>
        <p:spPr>
          <a:xfrm>
            <a:off x="533400" y="3397448"/>
            <a:ext cx="2568839" cy="119955"/>
          </a:xfrm>
          <a:prstGeom prst="rect">
            <a:avLst/>
          </a:prstGeom>
          <a:noFill/>
          <a:ln/>
        </p:spPr>
        <p:txBody>
          <a:bodyPr wrap="square" lIns="0" tIns="0" rIns="0" bIns="0" rtlCol="0" anchor="t"/>
          <a:lstStyle/>
          <a:p>
            <a:pPr algn="l" indent="0" marL="0">
              <a:lnSpc>
                <a:spcPts val="945"/>
              </a:lnSpc>
              <a:spcAft>
                <a:spcPts val="300"/>
              </a:spcAft>
              <a:buNone/>
            </a:pPr>
            <a:r>
              <a:rPr lang="en-US" sz="675" dirty="0">
                <a:solidFill>
                  <a:srgbClr val="6B7280"/>
                </a:solidFill>
                <a:latin typeface="Arial" pitchFamily="34" charset="0"/>
                <a:ea typeface="Arial" pitchFamily="34" charset="-122"/>
                <a:cs typeface="Arial" pitchFamily="34" charset="-120"/>
              </a:rPr>
              <a:t>Uses recently copied content as reference material</a:t>
            </a:r>
            <a:endParaRPr lang="en-US" sz="675" dirty="0"/>
          </a:p>
        </p:txBody>
      </p:sp>
      <p:sp>
        <p:nvSpPr>
          <p:cNvPr id="19" name="Text 17"/>
          <p:cNvSpPr/>
          <p:nvPr/>
        </p:nvSpPr>
        <p:spPr>
          <a:xfrm>
            <a:off x="533400" y="3555504"/>
            <a:ext cx="2568839" cy="106561"/>
          </a:xfrm>
          <a:prstGeom prst="rect">
            <a:avLst/>
          </a:prstGeom>
          <a:noFill/>
          <a:ln/>
        </p:spPr>
        <p:txBody>
          <a:bodyPr wrap="square" lIns="0" tIns="0" rIns="0" bIns="0" rtlCol="0" anchor="t"/>
          <a:lstStyle/>
          <a:p>
            <a:pPr algn="l" indent="0" marL="0">
              <a:lnSpc>
                <a:spcPts val="840"/>
              </a:lnSpc>
              <a:buNone/>
            </a:pPr>
            <a:r>
              <a:rPr lang="en-US" sz="600" dirty="0">
                <a:solidFill>
                  <a:srgbClr val="9CA3AF"/>
                </a:solidFill>
                <a:latin typeface="Arial" pitchFamily="34" charset="0"/>
                <a:ea typeface="Arial" pitchFamily="34" charset="-122"/>
                <a:cs typeface="Arial" pitchFamily="34" charset="-120"/>
              </a:rPr>
              <a:t>Captured: 3 sec before OR during recording</a:t>
            </a:r>
            <a:endParaRPr lang="en-US" sz="600" dirty="0"/>
          </a:p>
        </p:txBody>
      </p:sp>
      <p:sp>
        <p:nvSpPr>
          <p:cNvPr id="20" name="Text 18"/>
          <p:cNvSpPr/>
          <p:nvPr/>
        </p:nvSpPr>
        <p:spPr>
          <a:xfrm>
            <a:off x="381000" y="3852565"/>
            <a:ext cx="2785170" cy="639961"/>
          </a:xfrm>
          <a:prstGeom prst="rect">
            <a:avLst/>
          </a:prstGeom>
          <a:solidFill>
            <a:srgbClr val="FEF3C7"/>
          </a:solidFill>
          <a:ln/>
        </p:spPr>
        <p:txBody>
          <a:bodyPr wrap="square" rtlCol="0" anchor="ctr"/>
          <a:lstStyle/>
          <a:p>
            <a:pPr indent="0" marL="0">
              <a:buNone/>
            </a:pPr>
            <a:endParaRPr lang="en-US" dirty="0"/>
          </a:p>
        </p:txBody>
      </p:sp>
      <p:sp>
        <p:nvSpPr>
          <p:cNvPr id="21" name="Shape 19"/>
          <p:cNvSpPr/>
          <p:nvPr/>
        </p:nvSpPr>
        <p:spPr>
          <a:xfrm>
            <a:off x="400050" y="3852565"/>
            <a:ext cx="0" cy="639961"/>
          </a:xfrm>
          <a:prstGeom prst="line">
            <a:avLst/>
          </a:prstGeom>
          <a:noFill/>
          <a:ln w="38100">
            <a:solidFill>
              <a:srgbClr val="F59E0B"/>
            </a:solidFill>
            <a:prstDash val="solid"/>
          </a:ln>
        </p:spPr>
      </p:sp>
      <p:sp>
        <p:nvSpPr>
          <p:cNvPr id="22" name="Text 20"/>
          <p:cNvSpPr/>
          <p:nvPr/>
        </p:nvSpPr>
        <p:spPr>
          <a:xfrm>
            <a:off x="533400" y="3966865"/>
            <a:ext cx="2568839"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92400E"/>
                </a:solidFill>
                <a:latin typeface="Arial" pitchFamily="34" charset="0"/>
                <a:ea typeface="Arial" pitchFamily="34" charset="-122"/>
                <a:cs typeface="Arial" pitchFamily="34" charset="-120"/>
              </a:rPr>
              <a:t>SUPER MODE NOTE</a:t>
            </a:r>
            <a:endParaRPr lang="en-US" sz="750" dirty="0"/>
          </a:p>
        </p:txBody>
      </p:sp>
      <p:sp>
        <p:nvSpPr>
          <p:cNvPr id="23" name="Text 21"/>
          <p:cNvSpPr/>
          <p:nvPr/>
        </p:nvSpPr>
        <p:spPr>
          <a:xfrm>
            <a:off x="533400" y="4138315"/>
            <a:ext cx="2568839" cy="239911"/>
          </a:xfrm>
          <a:prstGeom prst="rect">
            <a:avLst/>
          </a:prstGeom>
          <a:noFill/>
          <a:ln/>
        </p:spPr>
        <p:txBody>
          <a:bodyPr wrap="square" lIns="0" tIns="0" rIns="0" bIns="0" rtlCol="0" anchor="t"/>
          <a:lstStyle/>
          <a:p>
            <a:pPr algn="l" indent="0" marL="0">
              <a:lnSpc>
                <a:spcPts val="945"/>
              </a:lnSpc>
              <a:buNone/>
            </a:pPr>
            <a:r>
              <a:rPr lang="en-US" sz="675" dirty="0">
                <a:solidFill>
                  <a:srgbClr val="92400E"/>
                </a:solidFill>
                <a:latin typeface="Arial" pitchFamily="34" charset="0"/>
                <a:ea typeface="Arial" pitchFamily="34" charset="-122"/>
                <a:cs typeface="Arial" pitchFamily="34" charset="-120"/>
              </a:rPr>
              <a:t>Super Mode enables ALL three by default. Custom modes let you choose which to enable.</a:t>
            </a:r>
            <a:endParaRPr lang="en-US" sz="675" dirty="0"/>
          </a:p>
        </p:txBody>
      </p:sp>
      <p:sp>
        <p:nvSpPr>
          <p:cNvPr id="24" name="Text 22"/>
          <p:cNvSpPr/>
          <p:nvPr/>
        </p:nvSpPr>
        <p:spPr>
          <a:xfrm>
            <a:off x="3318570" y="1392734"/>
            <a:ext cx="2840873"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FOUR WAYS TO SWITCH MODES</a:t>
            </a:r>
            <a:endParaRPr lang="en-US" sz="900" dirty="0"/>
          </a:p>
        </p:txBody>
      </p:sp>
      <p:sp>
        <p:nvSpPr>
          <p:cNvPr id="25" name="Text 23"/>
          <p:cNvSpPr/>
          <p:nvPr/>
        </p:nvSpPr>
        <p:spPr>
          <a:xfrm>
            <a:off x="3318570" y="1667024"/>
            <a:ext cx="2785170" cy="639961"/>
          </a:xfrm>
          <a:prstGeom prst="rect">
            <a:avLst/>
          </a:prstGeom>
          <a:solidFill>
            <a:srgbClr val="1A1F2E"/>
          </a:solidFill>
          <a:ln/>
        </p:spPr>
        <p:txBody>
          <a:bodyPr wrap="square" rtlCol="0" anchor="ctr"/>
          <a:lstStyle/>
          <a:p>
            <a:pPr indent="0" marL="0">
              <a:buNone/>
            </a:pPr>
            <a:endParaRPr lang="en-US" dirty="0"/>
          </a:p>
        </p:txBody>
      </p:sp>
      <p:sp>
        <p:nvSpPr>
          <p:cNvPr id="26" name="Text 24"/>
          <p:cNvSpPr/>
          <p:nvPr/>
        </p:nvSpPr>
        <p:spPr>
          <a:xfrm>
            <a:off x="3432870" y="1781324"/>
            <a:ext cx="2607701"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1. KEYBOARD SHORTCUTS</a:t>
            </a:r>
            <a:endParaRPr lang="en-US" sz="750" dirty="0"/>
          </a:p>
        </p:txBody>
      </p:sp>
      <p:sp>
        <p:nvSpPr>
          <p:cNvPr id="27" name="Text 25"/>
          <p:cNvSpPr/>
          <p:nvPr/>
        </p:nvSpPr>
        <p:spPr>
          <a:xfrm>
            <a:off x="3432870" y="1952774"/>
            <a:ext cx="2607701" cy="239911"/>
          </a:xfrm>
          <a:prstGeom prst="rect">
            <a:avLst/>
          </a:prstGeom>
          <a:noFill/>
          <a:ln/>
        </p:spPr>
        <p:txBody>
          <a:bodyPr wrap="square" lIns="0" tIns="0" rIns="0" bIns="0" rtlCol="0" anchor="t"/>
          <a:lstStyle/>
          <a:p>
            <a:pPr algn="l" indent="0" marL="0">
              <a:lnSpc>
                <a:spcPts val="945"/>
              </a:lnSpc>
              <a:buNone/>
            </a:pPr>
            <a:r>
              <a:rPr lang="en-US" sz="675" dirty="0">
                <a:solidFill>
                  <a:srgbClr val="FFFFFF">
                    <a:alpha val="70000"/>
                  </a:srgbClr>
                </a:solidFill>
                <a:latin typeface="Arial" pitchFamily="34" charset="0"/>
                <a:ea typeface="Arial" pitchFamily="34" charset="-122"/>
                <a:cs typeface="Arial" pitchFamily="34" charset="-120"/>
              </a:rPr>
              <a:t>Assign unique shortcuts per mode</a:t>
            </a:r>
            <a:endParaRPr lang="en-US" sz="675" dirty="0"/>
          </a:p>
          <a:p>
            <a:pPr algn="l" indent="0" marL="0">
              <a:lnSpc>
                <a:spcPts val="945"/>
              </a:lnSpc>
              <a:buNone/>
            </a:pPr>
            <a:r>
              <a:rPr lang="en-US" sz="675" dirty="0">
                <a:solidFill>
                  <a:srgbClr val="FFFFFF">
                    <a:alpha val="70000"/>
                  </a:srgbClr>
                </a:solidFill>
                <a:latin typeface="Arial" pitchFamily="34" charset="0"/>
                <a:ea typeface="Arial" pitchFamily="34" charset="-122"/>
                <a:cs typeface="Arial" pitchFamily="34" charset="-120"/>
              </a:rPr>
              <a:t>Configure in Settings → Keyboard</a:t>
            </a:r>
            <a:endParaRPr lang="en-US" sz="675" dirty="0"/>
          </a:p>
        </p:txBody>
      </p:sp>
      <p:sp>
        <p:nvSpPr>
          <p:cNvPr id="28" name="Text 26"/>
          <p:cNvSpPr/>
          <p:nvPr/>
        </p:nvSpPr>
        <p:spPr>
          <a:xfrm>
            <a:off x="3318570" y="2383185"/>
            <a:ext cx="2785170" cy="639961"/>
          </a:xfrm>
          <a:prstGeom prst="rect">
            <a:avLst/>
          </a:prstGeom>
          <a:solidFill>
            <a:srgbClr val="1A1F2E"/>
          </a:solidFill>
          <a:ln/>
        </p:spPr>
        <p:txBody>
          <a:bodyPr wrap="square" rtlCol="0" anchor="ctr"/>
          <a:lstStyle/>
          <a:p>
            <a:pPr indent="0" marL="0">
              <a:buNone/>
            </a:pPr>
            <a:endParaRPr lang="en-US" dirty="0"/>
          </a:p>
        </p:txBody>
      </p:sp>
      <p:sp>
        <p:nvSpPr>
          <p:cNvPr id="29" name="Text 27"/>
          <p:cNvSpPr/>
          <p:nvPr/>
        </p:nvSpPr>
        <p:spPr>
          <a:xfrm>
            <a:off x="3432870" y="2497485"/>
            <a:ext cx="2607701"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2. MENU BAR / SYSTEM TRAY</a:t>
            </a:r>
            <a:endParaRPr lang="en-US" sz="750" dirty="0"/>
          </a:p>
        </p:txBody>
      </p:sp>
      <p:sp>
        <p:nvSpPr>
          <p:cNvPr id="30" name="Text 28"/>
          <p:cNvSpPr/>
          <p:nvPr/>
        </p:nvSpPr>
        <p:spPr>
          <a:xfrm>
            <a:off x="3432870" y="2668935"/>
            <a:ext cx="2607701" cy="239911"/>
          </a:xfrm>
          <a:prstGeom prst="rect">
            <a:avLst/>
          </a:prstGeom>
          <a:noFill/>
          <a:ln/>
        </p:spPr>
        <p:txBody>
          <a:bodyPr wrap="square" lIns="0" tIns="0" rIns="0" bIns="0" rtlCol="0" anchor="t"/>
          <a:lstStyle/>
          <a:p>
            <a:pPr algn="l" indent="0" marL="0">
              <a:lnSpc>
                <a:spcPts val="945"/>
              </a:lnSpc>
              <a:buNone/>
            </a:pPr>
            <a:r>
              <a:rPr lang="en-US" sz="675" dirty="0">
                <a:solidFill>
                  <a:srgbClr val="FFFFFF">
                    <a:alpha val="70000"/>
                  </a:srgbClr>
                </a:solidFill>
                <a:latin typeface="Arial" pitchFamily="34" charset="0"/>
                <a:ea typeface="Arial" pitchFamily="34" charset="-122"/>
                <a:cs typeface="Arial" pitchFamily="34" charset="-120"/>
              </a:rPr>
              <a:t>Click SuperWhisper icon → Select mode</a:t>
            </a:r>
            <a:endParaRPr lang="en-US" sz="675" dirty="0"/>
          </a:p>
          <a:p>
            <a:pPr algn="l" indent="0" marL="0">
              <a:lnSpc>
                <a:spcPts val="945"/>
              </a:lnSpc>
              <a:buNone/>
            </a:pPr>
            <a:r>
              <a:rPr lang="en-US" sz="675" dirty="0">
                <a:solidFill>
                  <a:srgbClr val="FFFFFF">
                    <a:alpha val="70000"/>
                  </a:srgbClr>
                </a:solidFill>
                <a:latin typeface="Arial" pitchFamily="34" charset="0"/>
                <a:ea typeface="Arial" pitchFamily="34" charset="-122"/>
                <a:cs typeface="Arial" pitchFamily="34" charset="-120"/>
              </a:rPr>
              <a:t>Visual indicator shows current mode</a:t>
            </a:r>
            <a:endParaRPr lang="en-US" sz="675" dirty="0"/>
          </a:p>
        </p:txBody>
      </p:sp>
      <p:sp>
        <p:nvSpPr>
          <p:cNvPr id="31" name="Text 29"/>
          <p:cNvSpPr/>
          <p:nvPr/>
        </p:nvSpPr>
        <p:spPr>
          <a:xfrm>
            <a:off x="3318570" y="3099346"/>
            <a:ext cx="2785170" cy="639961"/>
          </a:xfrm>
          <a:prstGeom prst="rect">
            <a:avLst/>
          </a:prstGeom>
          <a:solidFill>
            <a:srgbClr val="1A1F2E"/>
          </a:solidFill>
          <a:ln/>
        </p:spPr>
        <p:txBody>
          <a:bodyPr wrap="square" rtlCol="0" anchor="ctr"/>
          <a:lstStyle/>
          <a:p>
            <a:pPr indent="0" marL="0">
              <a:buNone/>
            </a:pPr>
            <a:endParaRPr lang="en-US" dirty="0"/>
          </a:p>
        </p:txBody>
      </p:sp>
      <p:sp>
        <p:nvSpPr>
          <p:cNvPr id="32" name="Text 30"/>
          <p:cNvSpPr/>
          <p:nvPr/>
        </p:nvSpPr>
        <p:spPr>
          <a:xfrm>
            <a:off x="3432870" y="3213646"/>
            <a:ext cx="2607701"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3. AUTO-ACTIVATION RULES</a:t>
            </a:r>
            <a:endParaRPr lang="en-US" sz="750" dirty="0"/>
          </a:p>
        </p:txBody>
      </p:sp>
      <p:sp>
        <p:nvSpPr>
          <p:cNvPr id="33" name="Text 31"/>
          <p:cNvSpPr/>
          <p:nvPr/>
        </p:nvSpPr>
        <p:spPr>
          <a:xfrm>
            <a:off x="3432870" y="3385096"/>
            <a:ext cx="2607701" cy="239911"/>
          </a:xfrm>
          <a:prstGeom prst="rect">
            <a:avLst/>
          </a:prstGeom>
          <a:noFill/>
          <a:ln/>
        </p:spPr>
        <p:txBody>
          <a:bodyPr wrap="square" lIns="0" tIns="0" rIns="0" bIns="0" rtlCol="0" anchor="t"/>
          <a:lstStyle/>
          <a:p>
            <a:pPr algn="l" indent="0" marL="0">
              <a:lnSpc>
                <a:spcPts val="945"/>
              </a:lnSpc>
              <a:buNone/>
            </a:pPr>
            <a:r>
              <a:rPr lang="en-US" sz="675" dirty="0">
                <a:solidFill>
                  <a:srgbClr val="FFFFFF">
                    <a:alpha val="70000"/>
                  </a:srgbClr>
                </a:solidFill>
                <a:latin typeface="Arial" pitchFamily="34" charset="0"/>
                <a:ea typeface="Arial" pitchFamily="34" charset="-122"/>
                <a:cs typeface="Arial" pitchFamily="34" charset="-120"/>
              </a:rPr>
              <a:t>Auto-switch when specific apps are active</a:t>
            </a:r>
            <a:endParaRPr lang="en-US" sz="675" dirty="0"/>
          </a:p>
          <a:p>
            <a:pPr algn="l" indent="0" marL="0">
              <a:lnSpc>
                <a:spcPts val="945"/>
              </a:lnSpc>
              <a:buNone/>
            </a:pPr>
            <a:r>
              <a:rPr lang="en-US" sz="675" dirty="0">
                <a:solidFill>
                  <a:srgbClr val="FFFFFF">
                    <a:alpha val="70000"/>
                  </a:srgbClr>
                </a:solidFill>
                <a:latin typeface="Arial" pitchFamily="34" charset="0"/>
                <a:ea typeface="Arial" pitchFamily="34" charset="-122"/>
                <a:cs typeface="Arial" pitchFamily="34" charset="-120"/>
              </a:rPr>
              <a:t>e.g., VS Code → Coding Mode</a:t>
            </a:r>
            <a:endParaRPr lang="en-US" sz="675" dirty="0"/>
          </a:p>
        </p:txBody>
      </p:sp>
      <p:sp>
        <p:nvSpPr>
          <p:cNvPr id="34" name="Text 32"/>
          <p:cNvSpPr/>
          <p:nvPr/>
        </p:nvSpPr>
        <p:spPr>
          <a:xfrm>
            <a:off x="3318570" y="3815507"/>
            <a:ext cx="2785170" cy="639961"/>
          </a:xfrm>
          <a:prstGeom prst="rect">
            <a:avLst/>
          </a:prstGeom>
          <a:solidFill>
            <a:srgbClr val="1A1F2E"/>
          </a:solidFill>
          <a:ln/>
        </p:spPr>
        <p:txBody>
          <a:bodyPr wrap="square" rtlCol="0" anchor="ctr"/>
          <a:lstStyle/>
          <a:p>
            <a:pPr indent="0" marL="0">
              <a:buNone/>
            </a:pPr>
            <a:endParaRPr lang="en-US" dirty="0"/>
          </a:p>
        </p:txBody>
      </p:sp>
      <p:sp>
        <p:nvSpPr>
          <p:cNvPr id="35" name="Text 33"/>
          <p:cNvSpPr/>
          <p:nvPr/>
        </p:nvSpPr>
        <p:spPr>
          <a:xfrm>
            <a:off x="3432870" y="3929807"/>
            <a:ext cx="2607701"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4. DEEP LINKS</a:t>
            </a:r>
            <a:endParaRPr lang="en-US" sz="750" dirty="0"/>
          </a:p>
        </p:txBody>
      </p:sp>
      <p:sp>
        <p:nvSpPr>
          <p:cNvPr id="36" name="Text 34"/>
          <p:cNvSpPr/>
          <p:nvPr/>
        </p:nvSpPr>
        <p:spPr>
          <a:xfrm>
            <a:off x="3432870" y="4101257"/>
            <a:ext cx="2607701" cy="239911"/>
          </a:xfrm>
          <a:prstGeom prst="rect">
            <a:avLst/>
          </a:prstGeom>
          <a:noFill/>
          <a:ln/>
        </p:spPr>
        <p:txBody>
          <a:bodyPr wrap="square" lIns="0" tIns="0" rIns="0" bIns="0" rtlCol="0" anchor="t"/>
          <a:lstStyle/>
          <a:p>
            <a:pPr algn="l" indent="0" marL="0">
              <a:lnSpc>
                <a:spcPts val="945"/>
              </a:lnSpc>
              <a:buNone/>
            </a:pPr>
            <a:r>
              <a:rPr lang="en-US" sz="675" dirty="0">
                <a:solidFill>
                  <a:srgbClr val="FFFFFF">
                    <a:alpha val="70000"/>
                  </a:srgbClr>
                </a:solidFill>
                <a:latin typeface="Arial" pitchFamily="34" charset="0"/>
                <a:ea typeface="Arial" pitchFamily="34" charset="-122"/>
                <a:cs typeface="Arial" pitchFamily="34" charset="-120"/>
              </a:rPr>
              <a:t>superwhisper://mode/[name]</a:t>
            </a:r>
            <a:endParaRPr lang="en-US" sz="675" dirty="0"/>
          </a:p>
          <a:p>
            <a:pPr algn="l" indent="0" marL="0">
              <a:lnSpc>
                <a:spcPts val="945"/>
              </a:lnSpc>
              <a:buNone/>
            </a:pPr>
            <a:r>
              <a:rPr lang="en-US" sz="675" dirty="0">
                <a:solidFill>
                  <a:srgbClr val="FFFFFF">
                    <a:alpha val="70000"/>
                  </a:srgbClr>
                </a:solidFill>
                <a:latin typeface="Arial" pitchFamily="34" charset="0"/>
                <a:ea typeface="Arial" pitchFamily="34" charset="-122"/>
                <a:cs typeface="Arial" pitchFamily="34" charset="-120"/>
              </a:rPr>
              <a:t>Integrate with Alfred, Raycast, scripts</a:t>
            </a:r>
            <a:endParaRPr lang="en-US" sz="675" dirty="0"/>
          </a:p>
        </p:txBody>
      </p:sp>
      <p:sp>
        <p:nvSpPr>
          <p:cNvPr id="37" name="Text 35"/>
          <p:cNvSpPr/>
          <p:nvPr/>
        </p:nvSpPr>
        <p:spPr>
          <a:xfrm>
            <a:off x="6256139" y="1379637"/>
            <a:ext cx="2556846"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AUTO-ACTIVATION SETUP</a:t>
            </a:r>
            <a:endParaRPr lang="en-US" sz="900" dirty="0"/>
          </a:p>
        </p:txBody>
      </p:sp>
      <p:sp>
        <p:nvSpPr>
          <p:cNvPr id="38" name="Text 36"/>
          <p:cNvSpPr/>
          <p:nvPr/>
        </p:nvSpPr>
        <p:spPr>
          <a:xfrm>
            <a:off x="6256139" y="1653927"/>
            <a:ext cx="2506712" cy="1123504"/>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39" name="Text 37"/>
          <p:cNvSpPr/>
          <p:nvPr/>
        </p:nvSpPr>
        <p:spPr>
          <a:xfrm>
            <a:off x="6379964" y="1777752"/>
            <a:ext cx="2304243" cy="133350"/>
          </a:xfrm>
          <a:prstGeom prst="rect">
            <a:avLst/>
          </a:prstGeom>
          <a:noFill/>
          <a:ln/>
        </p:spPr>
        <p:txBody>
          <a:bodyPr wrap="square" lIns="0" tIns="0" rIns="0" bIns="0" rtlCol="0" anchor="t"/>
          <a:lstStyle/>
          <a:p>
            <a:pPr algn="l" indent="0" marL="0">
              <a:lnSpc>
                <a:spcPts val="1050"/>
              </a:lnSpc>
              <a:spcAft>
                <a:spcPts val="450"/>
              </a:spcAft>
              <a:buNone/>
            </a:pPr>
            <a:r>
              <a:rPr lang="en-US" sz="750" b="1" dirty="0">
                <a:solidFill>
                  <a:srgbClr val="1A1F2E"/>
                </a:solidFill>
                <a:latin typeface="Arial" pitchFamily="34" charset="0"/>
                <a:ea typeface="Arial" pitchFamily="34" charset="-122"/>
                <a:cs typeface="Arial" pitchFamily="34" charset="-120"/>
              </a:rPr>
              <a:t>EXAMPLE RULES</a:t>
            </a:r>
            <a:endParaRPr lang="en-US" sz="750" dirty="0"/>
          </a:p>
        </p:txBody>
      </p:sp>
      <p:sp>
        <p:nvSpPr>
          <p:cNvPr id="40" name="Text 38"/>
          <p:cNvSpPr/>
          <p:nvPr/>
        </p:nvSpPr>
        <p:spPr>
          <a:xfrm>
            <a:off x="6379964" y="1968252"/>
            <a:ext cx="2304243" cy="685354"/>
          </a:xfrm>
          <a:prstGeom prst="rect">
            <a:avLst/>
          </a:prstGeom>
          <a:noFill/>
          <a:ln/>
        </p:spPr>
        <p:txBody>
          <a:bodyPr wrap="square" lIns="0" tIns="0" rIns="0" bIns="0" rtlCol="0" anchor="t"/>
          <a:lstStyle/>
          <a:p>
            <a:pPr algn="l" indent="0" marL="0">
              <a:lnSpc>
                <a:spcPts val="1080"/>
              </a:lnSpc>
              <a:buNone/>
            </a:pPr>
            <a:r>
              <a:rPr lang="en-US" sz="675" dirty="0">
                <a:solidFill>
                  <a:srgbClr val="6B7280"/>
                </a:solidFill>
                <a:latin typeface="Arial" pitchFamily="34" charset="0"/>
                <a:ea typeface="Arial" pitchFamily="34" charset="-122"/>
                <a:cs typeface="Arial" pitchFamily="34" charset="-120"/>
              </a:rPr>
              <a:t>VS Code → "Coding Mode"</a:t>
            </a:r>
            <a:endParaRPr lang="en-US" sz="675" dirty="0"/>
          </a:p>
          <a:p>
            <a:pPr algn="l" indent="0" marL="0">
              <a:lnSpc>
                <a:spcPts val="1080"/>
              </a:lnSpc>
              <a:buNone/>
            </a:pPr>
            <a:r>
              <a:rPr lang="en-US" sz="675" dirty="0">
                <a:solidFill>
                  <a:srgbClr val="6B7280"/>
                </a:solidFill>
                <a:latin typeface="Arial" pitchFamily="34" charset="0"/>
                <a:ea typeface="Arial" pitchFamily="34" charset="-122"/>
                <a:cs typeface="Arial" pitchFamily="34" charset="-120"/>
              </a:rPr>
              <a:t> Teams → "Chat Mode"</a:t>
            </a:r>
            <a:endParaRPr lang="en-US" sz="675" dirty="0"/>
          </a:p>
          <a:p>
            <a:pPr algn="l" indent="0" marL="0">
              <a:lnSpc>
                <a:spcPts val="1080"/>
              </a:lnSpc>
              <a:buNone/>
            </a:pPr>
            <a:r>
              <a:rPr lang="en-US" sz="675" dirty="0">
                <a:solidFill>
                  <a:srgbClr val="6B7280"/>
                </a:solidFill>
                <a:latin typeface="Arial" pitchFamily="34" charset="0"/>
                <a:ea typeface="Arial" pitchFamily="34" charset="-122"/>
                <a:cs typeface="Arial" pitchFamily="34" charset="-120"/>
              </a:rPr>
              <a:t> Outlook → "Email Mode"</a:t>
            </a:r>
            <a:endParaRPr lang="en-US" sz="675" dirty="0"/>
          </a:p>
          <a:p>
            <a:pPr algn="l" indent="0" marL="0">
              <a:lnSpc>
                <a:spcPts val="1080"/>
              </a:lnSpc>
              <a:buNone/>
            </a:pPr>
            <a:r>
              <a:rPr lang="en-US" sz="675" dirty="0">
                <a:solidFill>
                  <a:srgbClr val="6B7280"/>
                </a:solidFill>
                <a:latin typeface="Arial" pitchFamily="34" charset="0"/>
                <a:ea typeface="Arial" pitchFamily="34" charset="-122"/>
                <a:cs typeface="Arial" pitchFamily="34" charset="-120"/>
              </a:rPr>
              <a:t> Chrome → "Browse Mode"</a:t>
            </a:r>
            <a:endParaRPr lang="en-US" sz="675" dirty="0"/>
          </a:p>
          <a:p>
            <a:pPr algn="l" indent="0" marL="0">
              <a:lnSpc>
                <a:spcPts val="1080"/>
              </a:lnSpc>
              <a:buNone/>
            </a:pPr>
            <a:r>
              <a:rPr lang="en-US" sz="675" dirty="0">
                <a:solidFill>
                  <a:srgbClr val="6B7280"/>
                </a:solidFill>
                <a:latin typeface="Arial" pitchFamily="34" charset="0"/>
                <a:ea typeface="Arial" pitchFamily="34" charset="-122"/>
                <a:cs typeface="Arial" pitchFamily="34" charset="-120"/>
              </a:rPr>
              <a:t> Slack → "Slack Mode"</a:t>
            </a:r>
            <a:endParaRPr lang="en-US" sz="675" dirty="0"/>
          </a:p>
        </p:txBody>
      </p:sp>
      <p:sp>
        <p:nvSpPr>
          <p:cNvPr id="41" name="Text 39"/>
          <p:cNvSpPr/>
          <p:nvPr/>
        </p:nvSpPr>
        <p:spPr>
          <a:xfrm>
            <a:off x="6256139" y="2853630"/>
            <a:ext cx="2506712" cy="879872"/>
          </a:xfrm>
          <a:prstGeom prst="rect">
            <a:avLst/>
          </a:prstGeom>
          <a:solidFill>
            <a:srgbClr val="DCFCE7"/>
          </a:solidFill>
          <a:ln/>
        </p:spPr>
        <p:txBody>
          <a:bodyPr wrap="square" rtlCol="0" anchor="ctr"/>
          <a:lstStyle/>
          <a:p>
            <a:pPr indent="0" marL="0">
              <a:buNone/>
            </a:pPr>
            <a:endParaRPr lang="en-US" dirty="0"/>
          </a:p>
        </p:txBody>
      </p:sp>
      <p:sp>
        <p:nvSpPr>
          <p:cNvPr id="42" name="Shape 40"/>
          <p:cNvSpPr/>
          <p:nvPr/>
        </p:nvSpPr>
        <p:spPr>
          <a:xfrm>
            <a:off x="6275189" y="2853630"/>
            <a:ext cx="0" cy="879872"/>
          </a:xfrm>
          <a:prstGeom prst="line">
            <a:avLst/>
          </a:prstGeom>
          <a:noFill/>
          <a:ln w="38100">
            <a:solidFill>
              <a:srgbClr val="059669"/>
            </a:solidFill>
            <a:prstDash val="solid"/>
          </a:ln>
        </p:spPr>
      </p:sp>
      <p:sp>
        <p:nvSpPr>
          <p:cNvPr id="43" name="Text 41"/>
          <p:cNvSpPr/>
          <p:nvPr/>
        </p:nvSpPr>
        <p:spPr>
          <a:xfrm>
            <a:off x="6408539" y="2967930"/>
            <a:ext cx="2284812"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166534"/>
                </a:solidFill>
                <a:latin typeface="Arial" pitchFamily="34" charset="0"/>
                <a:ea typeface="Arial" pitchFamily="34" charset="-122"/>
                <a:cs typeface="Arial" pitchFamily="34" charset="-120"/>
              </a:rPr>
              <a:t>HOW TO SET UP</a:t>
            </a:r>
            <a:endParaRPr lang="en-US" sz="750" dirty="0"/>
          </a:p>
        </p:txBody>
      </p:sp>
      <p:sp>
        <p:nvSpPr>
          <p:cNvPr id="44" name="Text 42"/>
          <p:cNvSpPr/>
          <p:nvPr/>
        </p:nvSpPr>
        <p:spPr>
          <a:xfrm>
            <a:off x="6408539" y="3139380"/>
            <a:ext cx="2284812" cy="479822"/>
          </a:xfrm>
          <a:prstGeom prst="rect">
            <a:avLst/>
          </a:prstGeom>
          <a:noFill/>
          <a:ln/>
        </p:spPr>
        <p:txBody>
          <a:bodyPr wrap="square" lIns="0" tIns="0" rIns="0" bIns="0" rtlCol="0" anchor="t"/>
          <a:lstStyle/>
          <a:p>
            <a:pPr algn="l" indent="0" marL="0">
              <a:lnSpc>
                <a:spcPts val="945"/>
              </a:lnSpc>
              <a:buNone/>
            </a:pPr>
            <a:r>
              <a:rPr lang="en-US" sz="675" dirty="0">
                <a:solidFill>
                  <a:srgbClr val="166534"/>
                </a:solidFill>
                <a:latin typeface="Arial" pitchFamily="34" charset="0"/>
                <a:ea typeface="Arial" pitchFamily="34" charset="-122"/>
                <a:cs typeface="Arial" pitchFamily="34" charset="-120"/>
              </a:rPr>
              <a:t>1. Edit your custom mode</a:t>
            </a:r>
            <a:endParaRPr lang="en-US" sz="675" dirty="0"/>
          </a:p>
          <a:p>
            <a:pPr algn="l" indent="0" marL="0">
              <a:lnSpc>
                <a:spcPts val="945"/>
              </a:lnSpc>
              <a:buNone/>
            </a:pPr>
            <a:r>
              <a:rPr lang="en-US" sz="675" dirty="0">
                <a:solidFill>
                  <a:srgbClr val="166534"/>
                </a:solidFill>
                <a:latin typeface="Arial" pitchFamily="34" charset="0"/>
                <a:ea typeface="Arial" pitchFamily="34" charset="-122"/>
                <a:cs typeface="Arial" pitchFamily="34" charset="-120"/>
              </a:rPr>
              <a:t> 2. Go to Advanced Settings</a:t>
            </a:r>
            <a:endParaRPr lang="en-US" sz="675" dirty="0"/>
          </a:p>
          <a:p>
            <a:pPr algn="l" indent="0" marL="0">
              <a:lnSpc>
                <a:spcPts val="945"/>
              </a:lnSpc>
              <a:buNone/>
            </a:pPr>
            <a:r>
              <a:rPr lang="en-US" sz="675" dirty="0">
                <a:solidFill>
                  <a:srgbClr val="166534"/>
                </a:solidFill>
                <a:latin typeface="Arial" pitchFamily="34" charset="0"/>
                <a:ea typeface="Arial" pitchFamily="34" charset="-122"/>
                <a:cs typeface="Arial" pitchFamily="34" charset="-120"/>
              </a:rPr>
              <a:t> 3. Add Auto-Activation Rule</a:t>
            </a:r>
            <a:endParaRPr lang="en-US" sz="675" dirty="0"/>
          </a:p>
          <a:p>
            <a:pPr algn="l" indent="0" marL="0">
              <a:lnSpc>
                <a:spcPts val="945"/>
              </a:lnSpc>
              <a:buNone/>
            </a:pPr>
            <a:r>
              <a:rPr lang="en-US" sz="675" dirty="0">
                <a:solidFill>
                  <a:srgbClr val="166534"/>
                </a:solidFill>
                <a:latin typeface="Arial" pitchFamily="34" charset="0"/>
                <a:ea typeface="Arial" pitchFamily="34" charset="-122"/>
                <a:cs typeface="Arial" pitchFamily="34" charset="-120"/>
              </a:rPr>
              <a:t> 4. Select app or enter URL pattern</a:t>
            </a:r>
            <a:endParaRPr lang="en-US" sz="675" dirty="0"/>
          </a:p>
        </p:txBody>
      </p:sp>
      <p:sp>
        <p:nvSpPr>
          <p:cNvPr id="45" name="Text 43"/>
          <p:cNvSpPr/>
          <p:nvPr/>
        </p:nvSpPr>
        <p:spPr>
          <a:xfrm>
            <a:off x="6256139" y="3809702"/>
            <a:ext cx="2506712" cy="659011"/>
          </a:xfrm>
          <a:prstGeom prst="rect">
            <a:avLst/>
          </a:prstGeom>
          <a:solidFill>
            <a:srgbClr val="FFFFFF"/>
          </a:solidFill>
          <a:ln w="9525">
            <a:solidFill>
              <a:srgbClr val="C9A227"/>
            </a:solidFill>
          </a:ln>
        </p:spPr>
        <p:txBody>
          <a:bodyPr wrap="square" rtlCol="0" anchor="ctr"/>
          <a:lstStyle/>
          <a:p>
            <a:pPr indent="0" marL="0">
              <a:buNone/>
            </a:pPr>
            <a:endParaRPr lang="en-US" dirty="0"/>
          </a:p>
        </p:txBody>
      </p:sp>
      <p:sp>
        <p:nvSpPr>
          <p:cNvPr id="46" name="Text 44"/>
          <p:cNvSpPr/>
          <p:nvPr/>
        </p:nvSpPr>
        <p:spPr>
          <a:xfrm>
            <a:off x="6379964" y="3933527"/>
            <a:ext cx="2304243"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1A1F2E"/>
                </a:solidFill>
                <a:latin typeface="Arial" pitchFamily="34" charset="0"/>
                <a:ea typeface="Arial" pitchFamily="34" charset="-122"/>
                <a:cs typeface="Arial" pitchFamily="34" charset="-120"/>
              </a:rPr>
              <a:t>POWER USER TIP</a:t>
            </a:r>
            <a:endParaRPr lang="en-US" sz="750" dirty="0"/>
          </a:p>
        </p:txBody>
      </p:sp>
      <p:sp>
        <p:nvSpPr>
          <p:cNvPr id="47" name="Text 45"/>
          <p:cNvSpPr/>
          <p:nvPr/>
        </p:nvSpPr>
        <p:spPr>
          <a:xfrm>
            <a:off x="6379964" y="4104977"/>
            <a:ext cx="2304243" cy="239911"/>
          </a:xfrm>
          <a:prstGeom prst="rect">
            <a:avLst/>
          </a:prstGeom>
          <a:noFill/>
          <a:ln/>
        </p:spPr>
        <p:txBody>
          <a:bodyPr wrap="square" lIns="0" tIns="0" rIns="0" bIns="0" rtlCol="0" anchor="t"/>
          <a:lstStyle/>
          <a:p>
            <a:pPr algn="l" indent="0" marL="0">
              <a:lnSpc>
                <a:spcPts val="945"/>
              </a:lnSpc>
              <a:buNone/>
            </a:pPr>
            <a:r>
              <a:rPr lang="en-US" sz="675" dirty="0">
                <a:solidFill>
                  <a:srgbClr val="6B7280"/>
                </a:solidFill>
                <a:latin typeface="Arial" pitchFamily="34" charset="0"/>
                <a:ea typeface="Arial" pitchFamily="34" charset="-122"/>
                <a:cs typeface="Arial" pitchFamily="34" charset="-120"/>
              </a:rPr>
              <a:t>Combine auto-activation with context awareness for fully adaptive dictation workflows.</a:t>
            </a:r>
            <a:endParaRPr lang="en-US" sz="67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4495800" cy="5143500"/>
          </a:xfrm>
          <a:prstGeom prst="rect">
            <a:avLst/>
          </a:prstGeom>
          <a:solidFill>
            <a:srgbClr val="F7F8FA"/>
          </a:solidFill>
          <a:ln/>
        </p:spPr>
        <p:txBody>
          <a:bodyPr wrap="square" rtlCol="0" anchor="ctr"/>
          <a:lstStyle/>
          <a:p>
            <a:pPr indent="0" marL="0">
              <a:buNone/>
            </a:pPr>
            <a:endParaRPr lang="en-US" dirty="0"/>
          </a:p>
        </p:txBody>
      </p:sp>
      <p:sp>
        <p:nvSpPr>
          <p:cNvPr id="3" name="Text 1"/>
          <p:cNvSpPr/>
          <p:nvPr/>
        </p:nvSpPr>
        <p:spPr>
          <a:xfrm>
            <a:off x="304800" y="240357"/>
            <a:ext cx="3963924" cy="133350"/>
          </a:xfrm>
          <a:prstGeom prst="rect">
            <a:avLst/>
          </a:prstGeom>
          <a:noFill/>
          <a:ln/>
        </p:spPr>
        <p:txBody>
          <a:bodyPr wrap="square" lIns="0" tIns="0" rIns="0" bIns="0" rtlCol="0" anchor="t"/>
          <a:lstStyle/>
          <a:p>
            <a:pPr algn="l" indent="0" marL="0">
              <a:lnSpc>
                <a:spcPts val="1050"/>
              </a:lnSpc>
              <a:spcAft>
                <a:spcPts val="600"/>
              </a:spcAft>
              <a:buNone/>
            </a:pPr>
            <a:r>
              <a:rPr lang="en-US" sz="750" dirty="0">
                <a:solidFill>
                  <a:srgbClr val="C9A227"/>
                </a:solidFill>
                <a:latin typeface="Arial" pitchFamily="34" charset="0"/>
                <a:ea typeface="Arial" pitchFamily="34" charset="-122"/>
                <a:cs typeface="Arial" pitchFamily="34" charset="-120"/>
              </a:rPr>
              <a:t>RECOGNITION SETTINGS</a:t>
            </a:r>
            <a:endParaRPr lang="en-US" sz="750" dirty="0"/>
          </a:p>
        </p:txBody>
      </p:sp>
      <p:sp>
        <p:nvSpPr>
          <p:cNvPr id="4" name="Text 2"/>
          <p:cNvSpPr/>
          <p:nvPr/>
        </p:nvSpPr>
        <p:spPr>
          <a:xfrm>
            <a:off x="304800" y="602307"/>
            <a:ext cx="2895219" cy="228600"/>
          </a:xfrm>
          <a:prstGeom prst="rect">
            <a:avLst/>
          </a:prstGeom>
          <a:noFill/>
          <a:ln/>
        </p:spPr>
        <p:txBody>
          <a:bodyPr wrap="square" lIns="0" tIns="0" rIns="0" bIns="0" rtlCol="0" anchor="t"/>
          <a:lstStyle/>
          <a:p>
            <a:pPr algn="l" indent="0" marL="0">
              <a:lnSpc>
                <a:spcPts val="1800"/>
              </a:lnSpc>
              <a:spcAft>
                <a:spcPts val="1200"/>
              </a:spcAft>
              <a:buNone/>
            </a:pPr>
            <a:r>
              <a:rPr lang="en-US" sz="1800" dirty="0">
                <a:solidFill>
                  <a:srgbClr val="1A1F2E"/>
                </a:solidFill>
                <a:latin typeface="Georgia" pitchFamily="34" charset="0"/>
                <a:ea typeface="Georgia" pitchFamily="34" charset="-122"/>
                <a:cs typeface="Georgia" pitchFamily="34" charset="-120"/>
              </a:rPr>
              <a:t>Vocabulary &amp; Replacements</a:t>
            </a:r>
            <a:endParaRPr lang="en-US" sz="1800" dirty="0"/>
          </a:p>
        </p:txBody>
      </p:sp>
      <p:sp>
        <p:nvSpPr>
          <p:cNvPr id="5" name="Text 3"/>
          <p:cNvSpPr/>
          <p:nvPr/>
        </p:nvSpPr>
        <p:spPr>
          <a:xfrm>
            <a:off x="304800" y="1135707"/>
            <a:ext cx="3886200" cy="808583"/>
          </a:xfrm>
          <a:prstGeom prst="rect">
            <a:avLst/>
          </a:prstGeom>
          <a:solidFill>
            <a:srgbClr val="FFFFFF"/>
          </a:solidFill>
          <a:ln/>
        </p:spPr>
        <p:txBody>
          <a:bodyPr wrap="square" rtlCol="0" anchor="ctr"/>
          <a:lstStyle/>
          <a:p>
            <a:pPr indent="0" marL="0">
              <a:buNone/>
            </a:pPr>
            <a:endParaRPr lang="en-US" dirty="0"/>
          </a:p>
        </p:txBody>
      </p:sp>
      <p:sp>
        <p:nvSpPr>
          <p:cNvPr id="6" name="Shape 4"/>
          <p:cNvSpPr/>
          <p:nvPr/>
        </p:nvSpPr>
        <p:spPr>
          <a:xfrm>
            <a:off x="323850" y="1135707"/>
            <a:ext cx="0" cy="808583"/>
          </a:xfrm>
          <a:prstGeom prst="line">
            <a:avLst/>
          </a:prstGeom>
          <a:noFill/>
          <a:ln w="38100">
            <a:solidFill>
              <a:srgbClr val="059669"/>
            </a:solidFill>
            <a:prstDash val="solid"/>
          </a:ln>
        </p:spPr>
      </p:sp>
      <p:sp>
        <p:nvSpPr>
          <p:cNvPr id="7" name="Text 5"/>
          <p:cNvSpPr/>
          <p:nvPr/>
        </p:nvSpPr>
        <p:spPr>
          <a:xfrm>
            <a:off x="476250" y="1269057"/>
            <a:ext cx="3653028" cy="146596"/>
          </a:xfrm>
          <a:prstGeom prst="rect">
            <a:avLst/>
          </a:prstGeom>
          <a:noFill/>
          <a:ln/>
        </p:spPr>
        <p:txBody>
          <a:bodyPr wrap="square" lIns="0" tIns="0" rIns="0" bIns="0" rtlCol="0" anchor="t"/>
          <a:lstStyle/>
          <a:p>
            <a:pPr algn="l" indent="0" marL="0">
              <a:lnSpc>
                <a:spcPts val="1155"/>
              </a:lnSpc>
              <a:spcAft>
                <a:spcPts val="450"/>
              </a:spcAft>
              <a:buNone/>
            </a:pPr>
            <a:r>
              <a:rPr lang="en-US" sz="825" b="1" dirty="0">
                <a:solidFill>
                  <a:srgbClr val="059669"/>
                </a:solidFill>
                <a:latin typeface="Arial" pitchFamily="34" charset="0"/>
                <a:ea typeface="Arial" pitchFamily="34" charset="-122"/>
                <a:cs typeface="Arial" pitchFamily="34" charset="-120"/>
              </a:rPr>
              <a:t>VOCABULARY WORDS</a:t>
            </a:r>
            <a:endParaRPr lang="en-US" sz="825" dirty="0"/>
          </a:p>
        </p:txBody>
      </p:sp>
      <p:sp>
        <p:nvSpPr>
          <p:cNvPr id="8" name="Text 6"/>
          <p:cNvSpPr/>
          <p:nvPr/>
        </p:nvSpPr>
        <p:spPr>
          <a:xfrm>
            <a:off x="476250" y="1472803"/>
            <a:ext cx="3653028" cy="133350"/>
          </a:xfrm>
          <a:prstGeom prst="rect">
            <a:avLst/>
          </a:prstGeom>
          <a:noFill/>
          <a:ln/>
        </p:spPr>
        <p:txBody>
          <a:bodyPr wrap="square" lIns="0" tIns="0" rIns="0" bIns="0" rtlCol="0" anchor="t"/>
          <a:lstStyle/>
          <a:p>
            <a:pPr algn="l" indent="0" marL="0">
              <a:lnSpc>
                <a:spcPts val="1050"/>
              </a:lnSpc>
              <a:spcAft>
                <a:spcPts val="600"/>
              </a:spcAft>
              <a:buNone/>
            </a:pPr>
            <a:r>
              <a:rPr lang="en-US" sz="750" dirty="0">
                <a:solidFill>
                  <a:srgbClr val="6B7280"/>
                </a:solidFill>
                <a:latin typeface="Arial" pitchFamily="34" charset="0"/>
                <a:ea typeface="Arial" pitchFamily="34" charset="-122"/>
                <a:cs typeface="Arial" pitchFamily="34" charset="-120"/>
              </a:rPr>
              <a:t>Help AI recognize custom terms DURING transcription</a:t>
            </a:r>
            <a:endParaRPr lang="en-US" sz="750" dirty="0"/>
          </a:p>
        </p:txBody>
      </p:sp>
      <p:sp>
        <p:nvSpPr>
          <p:cNvPr id="9" name="Text 7"/>
          <p:cNvSpPr/>
          <p:nvPr/>
        </p:nvSpPr>
        <p:spPr>
          <a:xfrm>
            <a:off x="476250" y="1682353"/>
            <a:ext cx="3653028" cy="128588"/>
          </a:xfrm>
          <a:prstGeom prst="rect">
            <a:avLst/>
          </a:prstGeom>
          <a:noFill/>
          <a:ln/>
        </p:spPr>
        <p:txBody>
          <a:bodyPr wrap="square" lIns="0" tIns="0" rIns="0" bIns="0" rtlCol="0" anchor="t"/>
          <a:lstStyle/>
          <a:p>
            <a:pPr algn="l" indent="0" marL="0">
              <a:lnSpc>
                <a:spcPts val="1013"/>
              </a:lnSpc>
              <a:buNone/>
            </a:pPr>
            <a:r>
              <a:rPr lang="en-US" sz="675" b="1" dirty="0">
                <a:solidFill>
                  <a:srgbClr val="1A1F2E"/>
                </a:solidFill>
                <a:latin typeface="Arial" pitchFamily="34" charset="0"/>
                <a:ea typeface="Arial" pitchFamily="34" charset="-122"/>
                <a:cs typeface="Arial" pitchFamily="34" charset="-120"/>
              </a:rPr>
              <a:t>Use for:</a:t>
            </a:r>
            <a:pPr algn="l" indent="0" marL="0">
              <a:lnSpc>
                <a:spcPts val="1013"/>
              </a:lnSpc>
              <a:buNone/>
            </a:pPr>
            <a:r>
              <a:rPr lang="en-US" sz="675" dirty="0">
                <a:solidFill>
                  <a:srgbClr val="1A1F2E"/>
                </a:solidFill>
                <a:latin typeface="Arial" pitchFamily="34" charset="0"/>
                <a:ea typeface="Arial" pitchFamily="34" charset="-122"/>
                <a:cs typeface="Arial" pitchFamily="34" charset="-120"/>
              </a:rPr>
              <a:t> Acronyms, names, brand names, technical terms, non-English words</a:t>
            </a:r>
            <a:endParaRPr lang="en-US" sz="675" dirty="0"/>
          </a:p>
        </p:txBody>
      </p:sp>
      <p:sp>
        <p:nvSpPr>
          <p:cNvPr id="10" name="Text 8"/>
          <p:cNvSpPr/>
          <p:nvPr/>
        </p:nvSpPr>
        <p:spPr>
          <a:xfrm>
            <a:off x="304800" y="2210991"/>
            <a:ext cx="3886200" cy="808583"/>
          </a:xfrm>
          <a:prstGeom prst="rect">
            <a:avLst/>
          </a:prstGeom>
          <a:solidFill>
            <a:srgbClr val="FFFFFF"/>
          </a:solidFill>
          <a:ln/>
        </p:spPr>
        <p:txBody>
          <a:bodyPr wrap="square" rtlCol="0" anchor="ctr"/>
          <a:lstStyle/>
          <a:p>
            <a:pPr indent="0" marL="0">
              <a:buNone/>
            </a:pPr>
            <a:endParaRPr lang="en-US" dirty="0"/>
          </a:p>
        </p:txBody>
      </p:sp>
      <p:sp>
        <p:nvSpPr>
          <p:cNvPr id="11" name="Shape 9"/>
          <p:cNvSpPr/>
          <p:nvPr/>
        </p:nvSpPr>
        <p:spPr>
          <a:xfrm>
            <a:off x="323850" y="2210991"/>
            <a:ext cx="0" cy="808583"/>
          </a:xfrm>
          <a:prstGeom prst="line">
            <a:avLst/>
          </a:prstGeom>
          <a:noFill/>
          <a:ln w="38100">
            <a:solidFill>
              <a:srgbClr val="3B82F6"/>
            </a:solidFill>
            <a:prstDash val="solid"/>
          </a:ln>
        </p:spPr>
      </p:sp>
      <p:sp>
        <p:nvSpPr>
          <p:cNvPr id="12" name="Text 10"/>
          <p:cNvSpPr/>
          <p:nvPr/>
        </p:nvSpPr>
        <p:spPr>
          <a:xfrm>
            <a:off x="476250" y="2344341"/>
            <a:ext cx="3653028" cy="146596"/>
          </a:xfrm>
          <a:prstGeom prst="rect">
            <a:avLst/>
          </a:prstGeom>
          <a:noFill/>
          <a:ln/>
        </p:spPr>
        <p:txBody>
          <a:bodyPr wrap="square" lIns="0" tIns="0" rIns="0" bIns="0" rtlCol="0" anchor="t"/>
          <a:lstStyle/>
          <a:p>
            <a:pPr algn="l" indent="0" marL="0">
              <a:lnSpc>
                <a:spcPts val="1155"/>
              </a:lnSpc>
              <a:spcAft>
                <a:spcPts val="450"/>
              </a:spcAft>
              <a:buNone/>
            </a:pPr>
            <a:r>
              <a:rPr lang="en-US" sz="825" b="1" dirty="0">
                <a:solidFill>
                  <a:srgbClr val="3B82F6"/>
                </a:solidFill>
                <a:latin typeface="Arial" pitchFamily="34" charset="0"/>
                <a:ea typeface="Arial" pitchFamily="34" charset="-122"/>
                <a:cs typeface="Arial" pitchFamily="34" charset="-120"/>
              </a:rPr>
              <a:t>REPLACEMENTS</a:t>
            </a:r>
            <a:endParaRPr lang="en-US" sz="825" dirty="0"/>
          </a:p>
        </p:txBody>
      </p:sp>
      <p:sp>
        <p:nvSpPr>
          <p:cNvPr id="13" name="Text 11"/>
          <p:cNvSpPr/>
          <p:nvPr/>
        </p:nvSpPr>
        <p:spPr>
          <a:xfrm>
            <a:off x="476250" y="2548086"/>
            <a:ext cx="3653028" cy="133350"/>
          </a:xfrm>
          <a:prstGeom prst="rect">
            <a:avLst/>
          </a:prstGeom>
          <a:noFill/>
          <a:ln/>
        </p:spPr>
        <p:txBody>
          <a:bodyPr wrap="square" lIns="0" tIns="0" rIns="0" bIns="0" rtlCol="0" anchor="t"/>
          <a:lstStyle/>
          <a:p>
            <a:pPr algn="l" indent="0" marL="0">
              <a:lnSpc>
                <a:spcPts val="1050"/>
              </a:lnSpc>
              <a:spcAft>
                <a:spcPts val="600"/>
              </a:spcAft>
              <a:buNone/>
            </a:pPr>
            <a:r>
              <a:rPr lang="en-US" sz="750" dirty="0">
                <a:solidFill>
                  <a:srgbClr val="6B7280"/>
                </a:solidFill>
                <a:latin typeface="Arial" pitchFamily="34" charset="0"/>
                <a:ea typeface="Arial" pitchFamily="34" charset="-122"/>
                <a:cs typeface="Arial" pitchFamily="34" charset="-120"/>
              </a:rPr>
              <a:t>Auto-correct text AFTER transcription (programmatic, not AI)</a:t>
            </a:r>
            <a:endParaRPr lang="en-US" sz="750" dirty="0"/>
          </a:p>
        </p:txBody>
      </p:sp>
      <p:sp>
        <p:nvSpPr>
          <p:cNvPr id="14" name="Text 12"/>
          <p:cNvSpPr/>
          <p:nvPr/>
        </p:nvSpPr>
        <p:spPr>
          <a:xfrm>
            <a:off x="476250" y="2757636"/>
            <a:ext cx="3653028" cy="128588"/>
          </a:xfrm>
          <a:prstGeom prst="rect">
            <a:avLst/>
          </a:prstGeom>
          <a:noFill/>
          <a:ln/>
        </p:spPr>
        <p:txBody>
          <a:bodyPr wrap="square" lIns="0" tIns="0" rIns="0" bIns="0" rtlCol="0" anchor="t"/>
          <a:lstStyle/>
          <a:p>
            <a:pPr algn="l" indent="0" marL="0">
              <a:lnSpc>
                <a:spcPts val="1013"/>
              </a:lnSpc>
              <a:buNone/>
            </a:pPr>
            <a:r>
              <a:rPr lang="en-US" sz="675" b="1" dirty="0">
                <a:solidFill>
                  <a:srgbClr val="1A1F2E"/>
                </a:solidFill>
                <a:latin typeface="Arial" pitchFamily="34" charset="0"/>
                <a:ea typeface="Arial" pitchFamily="34" charset="-122"/>
                <a:cs typeface="Arial" pitchFamily="34" charset="-120"/>
              </a:rPr>
              <a:t>Use for:</a:t>
            </a:r>
            <a:pPr algn="l" indent="0" marL="0">
              <a:lnSpc>
                <a:spcPts val="1013"/>
              </a:lnSpc>
              <a:buNone/>
            </a:pPr>
            <a:r>
              <a:rPr lang="en-US" sz="675" dirty="0">
                <a:solidFill>
                  <a:srgbClr val="1A1F2E"/>
                </a:solidFill>
                <a:latin typeface="Arial" pitchFamily="34" charset="0"/>
                <a:ea typeface="Arial" pitchFamily="34" charset="-122"/>
                <a:cs typeface="Arial" pitchFamily="34" charset="-120"/>
              </a:rPr>
              <a:t> Persistent errors, expanding abbreviations, formatting fixes</a:t>
            </a:r>
            <a:endParaRPr lang="en-US" sz="675" dirty="0"/>
          </a:p>
        </p:txBody>
      </p:sp>
      <p:sp>
        <p:nvSpPr>
          <p:cNvPr id="15" name="Text 13"/>
          <p:cNvSpPr/>
          <p:nvPr/>
        </p:nvSpPr>
        <p:spPr>
          <a:xfrm>
            <a:off x="304800" y="3286274"/>
            <a:ext cx="3886200" cy="830312"/>
          </a:xfrm>
          <a:prstGeom prst="rect">
            <a:avLst/>
          </a:prstGeom>
          <a:solidFill>
            <a:srgbClr val="1A1F2E"/>
          </a:solidFill>
          <a:ln/>
        </p:spPr>
        <p:txBody>
          <a:bodyPr wrap="square" rtlCol="0" anchor="ctr"/>
          <a:lstStyle/>
          <a:p>
            <a:pPr indent="0" marL="0">
              <a:buNone/>
            </a:pPr>
            <a:endParaRPr lang="en-US" dirty="0"/>
          </a:p>
        </p:txBody>
      </p:sp>
      <p:sp>
        <p:nvSpPr>
          <p:cNvPr id="16" name="Text 14"/>
          <p:cNvSpPr/>
          <p:nvPr/>
        </p:nvSpPr>
        <p:spPr>
          <a:xfrm>
            <a:off x="419100" y="3400574"/>
            <a:ext cx="3730752" cy="133350"/>
          </a:xfrm>
          <a:prstGeom prst="rect">
            <a:avLst/>
          </a:prstGeom>
          <a:noFill/>
          <a:ln/>
        </p:spPr>
        <p:txBody>
          <a:bodyPr wrap="square" lIns="0" tIns="0" rIns="0" bIns="0" rtlCol="0" anchor="t"/>
          <a:lstStyle/>
          <a:p>
            <a:pPr algn="l" indent="0" marL="0">
              <a:lnSpc>
                <a:spcPts val="1050"/>
              </a:lnSpc>
              <a:spcAft>
                <a:spcPts val="450"/>
              </a:spcAft>
              <a:buNone/>
            </a:pPr>
            <a:r>
              <a:rPr lang="en-US" sz="750" b="1" dirty="0">
                <a:solidFill>
                  <a:srgbClr val="C9A227"/>
                </a:solidFill>
                <a:latin typeface="Arial" pitchFamily="34" charset="0"/>
                <a:ea typeface="Arial" pitchFamily="34" charset="-122"/>
                <a:cs typeface="Arial" pitchFamily="34" charset="-120"/>
              </a:rPr>
              <a:t>EXAMPLE REPLACEMENTS</a:t>
            </a:r>
            <a:endParaRPr lang="en-US" sz="750" dirty="0"/>
          </a:p>
        </p:txBody>
      </p:sp>
      <p:sp>
        <p:nvSpPr>
          <p:cNvPr id="17" name="Text 15"/>
          <p:cNvSpPr/>
          <p:nvPr/>
        </p:nvSpPr>
        <p:spPr>
          <a:xfrm>
            <a:off x="419100" y="3591074"/>
            <a:ext cx="3730752" cy="411212"/>
          </a:xfrm>
          <a:prstGeom prst="rect">
            <a:avLst/>
          </a:prstGeom>
          <a:noFill/>
          <a:ln/>
        </p:spPr>
        <p:txBody>
          <a:bodyPr wrap="square" lIns="0" tIns="0" rIns="0" bIns="0" rtlCol="0" anchor="t"/>
          <a:lstStyle/>
          <a:p>
            <a:pPr algn="l" indent="0" marL="0">
              <a:lnSpc>
                <a:spcPts val="1080"/>
              </a:lnSpc>
              <a:buNone/>
            </a:pPr>
            <a:r>
              <a:rPr lang="en-US" sz="675" dirty="0">
                <a:solidFill>
                  <a:srgbClr val="FFFFFF">
                    <a:alpha val="80000"/>
                  </a:srgbClr>
                </a:solidFill>
                <a:latin typeface="monospace" pitchFamily="34" charset="0"/>
                <a:ea typeface="monospace" pitchFamily="34" charset="-122"/>
                <a:cs typeface="monospace" pitchFamily="34" charset="-120"/>
              </a:rPr>
              <a:t>"todo" → "TODO"</a:t>
            </a:r>
            <a:endParaRPr lang="en-US" sz="675" dirty="0"/>
          </a:p>
          <a:p>
            <a:pPr algn="l" indent="0" marL="0">
              <a:lnSpc>
                <a:spcPts val="1080"/>
              </a:lnSpc>
              <a:buNone/>
            </a:pPr>
            <a:r>
              <a:rPr lang="en-US" sz="675" dirty="0">
                <a:solidFill>
                  <a:srgbClr val="FFFFFF">
                    <a:alpha val="80000"/>
                  </a:srgbClr>
                </a:solidFill>
                <a:latin typeface="monospace" pitchFamily="34" charset="0"/>
                <a:ea typeface="monospace" pitchFamily="34" charset="-122"/>
                <a:cs typeface="monospace" pitchFamily="34" charset="-120"/>
              </a:rPr>
              <a:t> "use state" → "`useState`"</a:t>
            </a:r>
            <a:endParaRPr lang="en-US" sz="675" dirty="0"/>
          </a:p>
          <a:p>
            <a:pPr algn="l" indent="0" marL="0">
              <a:lnSpc>
                <a:spcPts val="1080"/>
              </a:lnSpc>
              <a:buNone/>
            </a:pPr>
            <a:r>
              <a:rPr lang="en-US" sz="675" dirty="0">
                <a:solidFill>
                  <a:srgbClr val="FFFFFF">
                    <a:alpha val="80000"/>
                  </a:srgbClr>
                </a:solidFill>
                <a:latin typeface="monospace" pitchFamily="34" charset="0"/>
                <a:ea typeface="monospace" pitchFamily="34" charset="-122"/>
                <a:cs typeface="monospace" pitchFamily="34" charset="-120"/>
              </a:rPr>
              <a:t> "APH" → "Austin Public Health"</a:t>
            </a:r>
            <a:endParaRPr lang="en-US" sz="675" dirty="0"/>
          </a:p>
        </p:txBody>
      </p:sp>
      <p:sp>
        <p:nvSpPr>
          <p:cNvPr id="18" name="Text 16"/>
          <p:cNvSpPr/>
          <p:nvPr/>
        </p:nvSpPr>
        <p:spPr>
          <a:xfrm>
            <a:off x="304800" y="4383286"/>
            <a:ext cx="3886200" cy="520005"/>
          </a:xfrm>
          <a:prstGeom prst="rect">
            <a:avLst/>
          </a:prstGeom>
          <a:solidFill>
            <a:srgbClr val="FEF3C7"/>
          </a:solidFill>
          <a:ln/>
        </p:spPr>
        <p:txBody>
          <a:bodyPr wrap="square" rtlCol="0" anchor="ctr"/>
          <a:lstStyle/>
          <a:p>
            <a:pPr indent="0" marL="0">
              <a:buNone/>
            </a:pPr>
            <a:endParaRPr lang="en-US" dirty="0"/>
          </a:p>
        </p:txBody>
      </p:sp>
      <p:sp>
        <p:nvSpPr>
          <p:cNvPr id="19" name="Shape 17"/>
          <p:cNvSpPr/>
          <p:nvPr/>
        </p:nvSpPr>
        <p:spPr>
          <a:xfrm>
            <a:off x="323850" y="4383286"/>
            <a:ext cx="0" cy="520005"/>
          </a:xfrm>
          <a:prstGeom prst="line">
            <a:avLst/>
          </a:prstGeom>
          <a:noFill/>
          <a:ln w="38100">
            <a:solidFill>
              <a:srgbClr val="F59E0B"/>
            </a:solidFill>
            <a:prstDash val="solid"/>
          </a:ln>
        </p:spPr>
      </p:sp>
      <p:sp>
        <p:nvSpPr>
          <p:cNvPr id="20" name="Text 18"/>
          <p:cNvSpPr/>
          <p:nvPr/>
        </p:nvSpPr>
        <p:spPr>
          <a:xfrm>
            <a:off x="457200" y="4497586"/>
            <a:ext cx="3691890"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92400E"/>
                </a:solidFill>
                <a:latin typeface="Arial" pitchFamily="34" charset="0"/>
                <a:ea typeface="Arial" pitchFamily="34" charset="-122"/>
                <a:cs typeface="Arial" pitchFamily="34" charset="-120"/>
              </a:rPr>
              <a:t>VOCABULARY TIP</a:t>
            </a:r>
            <a:endParaRPr lang="en-US" sz="750" dirty="0"/>
          </a:p>
        </p:txBody>
      </p:sp>
      <p:sp>
        <p:nvSpPr>
          <p:cNvPr id="21" name="Text 19"/>
          <p:cNvSpPr/>
          <p:nvPr/>
        </p:nvSpPr>
        <p:spPr>
          <a:xfrm>
            <a:off x="457200" y="4669036"/>
            <a:ext cx="3691890" cy="119955"/>
          </a:xfrm>
          <a:prstGeom prst="rect">
            <a:avLst/>
          </a:prstGeom>
          <a:noFill/>
          <a:ln/>
        </p:spPr>
        <p:txBody>
          <a:bodyPr wrap="square" lIns="0" tIns="0" rIns="0" bIns="0" rtlCol="0" anchor="t"/>
          <a:lstStyle/>
          <a:p>
            <a:pPr algn="l" indent="0" marL="0">
              <a:lnSpc>
                <a:spcPts val="945"/>
              </a:lnSpc>
              <a:buNone/>
            </a:pPr>
            <a:r>
              <a:rPr lang="en-US" sz="675" dirty="0">
                <a:solidFill>
                  <a:srgbClr val="92400E"/>
                </a:solidFill>
                <a:latin typeface="Arial" pitchFamily="34" charset="0"/>
                <a:ea typeface="Arial" pitchFamily="34" charset="-122"/>
                <a:cs typeface="Arial" pitchFamily="34" charset="-120"/>
              </a:rPr>
              <a:t>Keep vocabulary list SHORT. Too many words can confuse the AI transcription model.</a:t>
            </a:r>
            <a:endParaRPr lang="en-US" sz="675" dirty="0"/>
          </a:p>
        </p:txBody>
      </p:sp>
      <p:sp>
        <p:nvSpPr>
          <p:cNvPr id="22" name="Text 20"/>
          <p:cNvSpPr/>
          <p:nvPr/>
        </p:nvSpPr>
        <p:spPr>
          <a:xfrm>
            <a:off x="4648200" y="0"/>
            <a:ext cx="4495800" cy="5143500"/>
          </a:xfrm>
          <a:prstGeom prst="rect">
            <a:avLst/>
          </a:prstGeom>
          <a:solidFill>
            <a:srgbClr val="1A1F2E"/>
          </a:solidFill>
          <a:ln/>
        </p:spPr>
        <p:txBody>
          <a:bodyPr wrap="square" rtlCol="0" anchor="ctr"/>
          <a:lstStyle/>
          <a:p>
            <a:pPr indent="0" marL="0">
              <a:buNone/>
            </a:pPr>
            <a:endParaRPr lang="en-US" dirty="0"/>
          </a:p>
        </p:txBody>
      </p:sp>
      <p:sp>
        <p:nvSpPr>
          <p:cNvPr id="23" name="Text 21"/>
          <p:cNvSpPr/>
          <p:nvPr/>
        </p:nvSpPr>
        <p:spPr>
          <a:xfrm>
            <a:off x="4953000" y="266700"/>
            <a:ext cx="3963924" cy="133350"/>
          </a:xfrm>
          <a:prstGeom prst="rect">
            <a:avLst/>
          </a:prstGeom>
          <a:noFill/>
          <a:ln/>
        </p:spPr>
        <p:txBody>
          <a:bodyPr wrap="square" lIns="0" tIns="0" rIns="0" bIns="0" rtlCol="0" anchor="t"/>
          <a:lstStyle/>
          <a:p>
            <a:pPr algn="l" indent="0" marL="0">
              <a:lnSpc>
                <a:spcPts val="1050"/>
              </a:lnSpc>
              <a:spcAft>
                <a:spcPts val="1200"/>
              </a:spcAft>
              <a:buNone/>
            </a:pPr>
            <a:r>
              <a:rPr lang="en-US" sz="750" dirty="0">
                <a:solidFill>
                  <a:srgbClr val="C9A227"/>
                </a:solidFill>
                <a:latin typeface="Arial" pitchFamily="34" charset="0"/>
                <a:ea typeface="Arial" pitchFamily="34" charset="-122"/>
                <a:cs typeface="Arial" pitchFamily="34" charset="-120"/>
              </a:rPr>
              <a:t>HOW TO CONFIGURE</a:t>
            </a:r>
            <a:endParaRPr lang="en-US" sz="750" dirty="0"/>
          </a:p>
        </p:txBody>
      </p:sp>
      <p:sp>
        <p:nvSpPr>
          <p:cNvPr id="24" name="Text 22"/>
          <p:cNvSpPr/>
          <p:nvPr/>
        </p:nvSpPr>
        <p:spPr>
          <a:xfrm>
            <a:off x="4953000" y="704850"/>
            <a:ext cx="3886200" cy="1080046"/>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25" name="Text 23"/>
          <p:cNvSpPr/>
          <p:nvPr/>
        </p:nvSpPr>
        <p:spPr>
          <a:xfrm>
            <a:off x="5095875" y="847725"/>
            <a:ext cx="3672459" cy="146596"/>
          </a:xfrm>
          <a:prstGeom prst="rect">
            <a:avLst/>
          </a:prstGeom>
          <a:noFill/>
          <a:ln/>
        </p:spPr>
        <p:txBody>
          <a:bodyPr wrap="square" lIns="0" tIns="0" rIns="0" bIns="0" rtlCol="0" anchor="t"/>
          <a:lstStyle/>
          <a:p>
            <a:pPr algn="l" indent="0" marL="0">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ACCESS VOCABULARY</a:t>
            </a:r>
            <a:endParaRPr lang="en-US" sz="825" dirty="0"/>
          </a:p>
        </p:txBody>
      </p:sp>
      <p:sp>
        <p:nvSpPr>
          <p:cNvPr id="26" name="Text 24"/>
          <p:cNvSpPr/>
          <p:nvPr/>
        </p:nvSpPr>
        <p:spPr>
          <a:xfrm>
            <a:off x="5095875" y="1070521"/>
            <a:ext cx="3672459" cy="571500"/>
          </a:xfrm>
          <a:prstGeom prst="rect">
            <a:avLst/>
          </a:prstGeom>
          <a:noFill/>
          <a:ln/>
        </p:spPr>
        <p:txBody>
          <a:bodyPr wrap="square" lIns="0" tIns="0" rIns="0" bIns="0" rtlCol="0" anchor="t"/>
          <a:lstStyle/>
          <a:p>
            <a:pPr algn="l" indent="0" marL="0">
              <a:lnSpc>
                <a:spcPts val="1125"/>
              </a:lnSpc>
              <a:buNone/>
            </a:pPr>
            <a:r>
              <a:rPr lang="en-US" sz="750" dirty="0">
                <a:solidFill>
                  <a:srgbClr val="FFFFFF">
                    <a:alpha val="70000"/>
                  </a:srgbClr>
                </a:solidFill>
                <a:latin typeface="Arial" pitchFamily="34" charset="0"/>
                <a:ea typeface="Arial" pitchFamily="34" charset="-122"/>
                <a:cs typeface="Arial" pitchFamily="34" charset="-120"/>
              </a:rPr>
              <a:t>1. Click menu bar icon</a:t>
            </a:r>
            <a:endParaRPr lang="en-US" sz="750" dirty="0"/>
          </a:p>
          <a:p>
            <a:pPr algn="l" indent="0" marL="0">
              <a:lnSpc>
                <a:spcPts val="1125"/>
              </a:lnSpc>
              <a:buNone/>
            </a:pPr>
            <a:r>
              <a:rPr lang="en-US" sz="750" dirty="0">
                <a:solidFill>
                  <a:srgbClr val="FFFFFF">
                    <a:alpha val="70000"/>
                  </a:srgbClr>
                </a:solidFill>
                <a:latin typeface="Arial" pitchFamily="34" charset="0"/>
                <a:ea typeface="Arial" pitchFamily="34" charset="-122"/>
                <a:cs typeface="Arial" pitchFamily="34" charset="-120"/>
              </a:rPr>
              <a:t> 2. Open Settings</a:t>
            </a:r>
            <a:endParaRPr lang="en-US" sz="750" dirty="0"/>
          </a:p>
          <a:p>
            <a:pPr algn="l" indent="0" marL="0">
              <a:lnSpc>
                <a:spcPts val="1125"/>
              </a:lnSpc>
              <a:buNone/>
            </a:pPr>
            <a:r>
              <a:rPr lang="en-US" sz="750" dirty="0">
                <a:solidFill>
                  <a:srgbClr val="FFFFFF">
                    <a:alpha val="70000"/>
                  </a:srgbClr>
                </a:solidFill>
                <a:latin typeface="Arial" pitchFamily="34" charset="0"/>
                <a:ea typeface="Arial" pitchFamily="34" charset="-122"/>
                <a:cs typeface="Arial" pitchFamily="34" charset="-120"/>
              </a:rPr>
              <a:t> 3. Go to "Vocabulary" tab</a:t>
            </a:r>
            <a:endParaRPr lang="en-US" sz="750" dirty="0"/>
          </a:p>
          <a:p>
            <a:pPr algn="l" indent="0" marL="0">
              <a:lnSpc>
                <a:spcPts val="1125"/>
              </a:lnSpc>
              <a:buNone/>
            </a:pPr>
            <a:r>
              <a:rPr lang="en-US" sz="750" dirty="0">
                <a:solidFill>
                  <a:srgbClr val="FFFFFF">
                    <a:alpha val="70000"/>
                  </a:srgbClr>
                </a:solidFill>
                <a:latin typeface="Arial" pitchFamily="34" charset="0"/>
                <a:ea typeface="Arial" pitchFamily="34" charset="-122"/>
                <a:cs typeface="Arial" pitchFamily="34" charset="-120"/>
              </a:rPr>
              <a:t> 4. Add words or replacements</a:t>
            </a:r>
            <a:endParaRPr lang="en-US" sz="750" dirty="0"/>
          </a:p>
        </p:txBody>
      </p:sp>
      <p:sp>
        <p:nvSpPr>
          <p:cNvPr id="27" name="Text 25"/>
          <p:cNvSpPr/>
          <p:nvPr/>
        </p:nvSpPr>
        <p:spPr>
          <a:xfrm>
            <a:off x="4953000" y="2051596"/>
            <a:ext cx="3886200" cy="1060996"/>
          </a:xfrm>
          <a:prstGeom prst="rect">
            <a:avLst/>
          </a:prstGeom>
          <a:solidFill>
            <a:srgbClr val="FFFFFF">
              <a:alpha val="5000"/>
            </a:srgbClr>
          </a:solidFill>
          <a:ln/>
        </p:spPr>
        <p:txBody>
          <a:bodyPr wrap="square" rtlCol="0" anchor="ctr"/>
          <a:lstStyle/>
          <a:p>
            <a:pPr indent="0" marL="0">
              <a:buNone/>
            </a:pPr>
            <a:endParaRPr lang="en-US" dirty="0"/>
          </a:p>
        </p:txBody>
      </p:sp>
      <p:sp>
        <p:nvSpPr>
          <p:cNvPr id="28" name="Text 26"/>
          <p:cNvSpPr/>
          <p:nvPr/>
        </p:nvSpPr>
        <p:spPr>
          <a:xfrm>
            <a:off x="5086350" y="2184946"/>
            <a:ext cx="3691890" cy="146596"/>
          </a:xfrm>
          <a:prstGeom prst="rect">
            <a:avLst/>
          </a:prstGeom>
          <a:noFill/>
          <a:ln/>
        </p:spPr>
        <p:txBody>
          <a:bodyPr wrap="square" lIns="0" tIns="0" rIns="0" bIns="0" rtlCol="0" anchor="t"/>
          <a:lstStyle/>
          <a:p>
            <a:pPr algn="l" indent="0" marL="0">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REPLACEMENT BEHAVIOR</a:t>
            </a:r>
            <a:endParaRPr lang="en-US" sz="825" dirty="0"/>
          </a:p>
        </p:txBody>
      </p:sp>
      <p:sp>
        <p:nvSpPr>
          <p:cNvPr id="29" name="Text 27"/>
          <p:cNvSpPr/>
          <p:nvPr/>
        </p:nvSpPr>
        <p:spPr>
          <a:xfrm>
            <a:off x="5086350" y="2407741"/>
            <a:ext cx="3691890" cy="571500"/>
          </a:xfrm>
          <a:prstGeom prst="rect">
            <a:avLst/>
          </a:prstGeom>
          <a:noFill/>
          <a:ln/>
        </p:spPr>
        <p:txBody>
          <a:bodyPr wrap="square" lIns="0" tIns="0" rIns="0" bIns="0" rtlCol="0" anchor="t"/>
          <a:lstStyle/>
          <a:p>
            <a:pPr algn="l" indent="0" marL="0">
              <a:lnSpc>
                <a:spcPts val="1125"/>
              </a:lnSpc>
              <a:buNone/>
            </a:pPr>
            <a:r>
              <a:rPr lang="en-US" sz="750" dirty="0">
                <a:solidFill>
                  <a:srgbClr val="FFFFFF">
                    <a:alpha val="60000"/>
                  </a:srgbClr>
                </a:solidFill>
                <a:latin typeface="Arial" pitchFamily="34" charset="0"/>
                <a:ea typeface="Arial" pitchFamily="34" charset="-122"/>
                <a:cs typeface="Arial" pitchFamily="34" charset="-120"/>
              </a:rPr>
              <a:t>Case-insensitive matching</a:t>
            </a:r>
            <a:endParaRPr lang="en-US" sz="750" dirty="0"/>
          </a:p>
          <a:p>
            <a:pPr algn="l" indent="0" marL="0">
              <a:lnSpc>
                <a:spcPts val="1125"/>
              </a:lnSpc>
              <a:buNone/>
            </a:pPr>
            <a:r>
              <a:rPr lang="en-US" sz="750" dirty="0">
                <a:solidFill>
                  <a:srgbClr val="FFFFFF">
                    <a:alpha val="60000"/>
                  </a:srgbClr>
                </a:solidFill>
                <a:latin typeface="Arial" pitchFamily="34" charset="0"/>
                <a:ea typeface="Arial" pitchFamily="34" charset="-122"/>
                <a:cs typeface="Arial" pitchFamily="34" charset="-120"/>
              </a:rPr>
              <a:t> "todo" matches "ToDo", "TODO", "Todo"</a:t>
            </a:r>
            <a:endParaRPr lang="en-US" sz="750" dirty="0"/>
          </a:p>
          <a:p>
            <a:pPr algn="l" indent="0" marL="0">
              <a:lnSpc>
                <a:spcPts val="1125"/>
              </a:lnSpc>
              <a:buNone/>
            </a:pPr>
            <a:r>
              <a:rPr lang="en-US" sz="750" dirty="0">
                <a:solidFill>
                  <a:srgbClr val="FFFFFF">
                    <a:alpha val="60000"/>
                  </a:srgbClr>
                </a:solidFill>
                <a:latin typeface="Arial" pitchFamily="34" charset="0"/>
                <a:ea typeface="Arial" pitchFamily="34" charset="-122"/>
                <a:cs typeface="Arial" pitchFamily="34" charset="-120"/>
              </a:rPr>
              <a:t> Output appears exactly as you specify</a:t>
            </a:r>
            <a:endParaRPr lang="en-US" sz="750" dirty="0"/>
          </a:p>
          <a:p>
            <a:pPr algn="l" indent="0" marL="0">
              <a:lnSpc>
                <a:spcPts val="1125"/>
              </a:lnSpc>
              <a:buNone/>
            </a:pPr>
            <a:r>
              <a:rPr lang="en-US" sz="750" dirty="0">
                <a:solidFill>
                  <a:srgbClr val="FFFFFF">
                    <a:alpha val="60000"/>
                  </a:srgbClr>
                </a:solidFill>
                <a:latin typeface="Arial" pitchFamily="34" charset="0"/>
                <a:ea typeface="Arial" pitchFamily="34" charset="-122"/>
                <a:cs typeface="Arial" pitchFamily="34" charset="-120"/>
              </a:rPr>
              <a:t> Works 100% reliably (not AI-dependent)</a:t>
            </a:r>
            <a:endParaRPr lang="en-US" sz="750" dirty="0"/>
          </a:p>
        </p:txBody>
      </p:sp>
      <p:sp>
        <p:nvSpPr>
          <p:cNvPr id="30" name="Text 28"/>
          <p:cNvSpPr/>
          <p:nvPr/>
        </p:nvSpPr>
        <p:spPr>
          <a:xfrm>
            <a:off x="4953000" y="3379291"/>
            <a:ext cx="3886200" cy="775246"/>
          </a:xfrm>
          <a:prstGeom prst="rect">
            <a:avLst/>
          </a:prstGeom>
          <a:solidFill>
            <a:srgbClr val="FFFFFF">
              <a:alpha val="5000"/>
            </a:srgbClr>
          </a:solidFill>
          <a:ln/>
        </p:spPr>
        <p:txBody>
          <a:bodyPr wrap="square" rtlCol="0" anchor="ctr"/>
          <a:lstStyle/>
          <a:p>
            <a:pPr indent="0" marL="0">
              <a:buNone/>
            </a:pPr>
            <a:endParaRPr lang="en-US" dirty="0"/>
          </a:p>
        </p:txBody>
      </p:sp>
      <p:sp>
        <p:nvSpPr>
          <p:cNvPr id="31" name="Text 29"/>
          <p:cNvSpPr/>
          <p:nvPr/>
        </p:nvSpPr>
        <p:spPr>
          <a:xfrm>
            <a:off x="5086350" y="3512641"/>
            <a:ext cx="3691890" cy="146596"/>
          </a:xfrm>
          <a:prstGeom prst="rect">
            <a:avLst/>
          </a:prstGeom>
          <a:noFill/>
          <a:ln/>
        </p:spPr>
        <p:txBody>
          <a:bodyPr wrap="square" lIns="0" tIns="0" rIns="0" bIns="0" rtlCol="0" anchor="t"/>
          <a:lstStyle/>
          <a:p>
            <a:pPr algn="l" indent="0" marL="0">
              <a:lnSpc>
                <a:spcPts val="1155"/>
              </a:lnSpc>
              <a:spcAft>
                <a:spcPts val="600"/>
              </a:spcAft>
              <a:buNone/>
            </a:pPr>
            <a:r>
              <a:rPr lang="en-US" sz="825" b="1" dirty="0">
                <a:solidFill>
                  <a:srgbClr val="FFFFFF"/>
                </a:solidFill>
                <a:latin typeface="Arial" pitchFamily="34" charset="0"/>
                <a:ea typeface="Arial" pitchFamily="34" charset="-122"/>
                <a:cs typeface="Arial" pitchFamily="34" charset="-120"/>
              </a:rPr>
              <a:t>MODEL COMPATIBILITY</a:t>
            </a:r>
            <a:endParaRPr lang="en-US" sz="825" dirty="0"/>
          </a:p>
        </p:txBody>
      </p:sp>
      <p:sp>
        <p:nvSpPr>
          <p:cNvPr id="32" name="Text 30"/>
          <p:cNvSpPr/>
          <p:nvPr/>
        </p:nvSpPr>
        <p:spPr>
          <a:xfrm>
            <a:off x="5086350" y="3735437"/>
            <a:ext cx="3691890" cy="285750"/>
          </a:xfrm>
          <a:prstGeom prst="rect">
            <a:avLst/>
          </a:prstGeom>
          <a:noFill/>
          <a:ln/>
        </p:spPr>
        <p:txBody>
          <a:bodyPr wrap="square" lIns="0" tIns="0" rIns="0" bIns="0" rtlCol="0" anchor="t"/>
          <a:lstStyle/>
          <a:p>
            <a:pPr algn="l" indent="0" marL="0">
              <a:lnSpc>
                <a:spcPts val="1125"/>
              </a:lnSpc>
              <a:buNone/>
            </a:pPr>
            <a:r>
              <a:rPr lang="en-US" sz="750" dirty="0">
                <a:solidFill>
                  <a:srgbClr val="FFFFFF">
                    <a:alpha val="60000"/>
                  </a:srgbClr>
                </a:solidFill>
                <a:latin typeface="Arial" pitchFamily="34" charset="0"/>
                <a:ea typeface="Arial" pitchFamily="34" charset="-122"/>
                <a:cs typeface="Arial" pitchFamily="34" charset="-120"/>
              </a:rPr>
              <a:t>Vocabulary hints work with most models.</a:t>
            </a:r>
            <a:endParaRPr lang="en-US" sz="750" dirty="0"/>
          </a:p>
          <a:p>
            <a:pPr algn="l" indent="0" marL="0">
              <a:lnSpc>
                <a:spcPts val="1125"/>
              </a:lnSpc>
              <a:buNone/>
            </a:pPr>
            <a:r>
              <a:rPr lang="en-US" sz="750" dirty="0">
                <a:solidFill>
                  <a:srgbClr val="FFFFFF">
                    <a:alpha val="60000"/>
                  </a:srgbClr>
                </a:solidFill>
                <a:latin typeface="Arial" pitchFamily="34" charset="0"/>
                <a:ea typeface="Arial" pitchFamily="34" charset="-122"/>
                <a:cs typeface="Arial" pitchFamily="34" charset="-120"/>
              </a:rPr>
              <a:t> </a:t>
            </a:r>
            <a:endParaRPr lang="en-US" sz="750" dirty="0"/>
          </a:p>
          <a:p>
            <a:pPr algn="l" indent="0" marL="0">
              <a:lnSpc>
                <a:spcPts val="1125"/>
              </a:lnSpc>
              <a:buNone/>
            </a:pPr>
            <a:r>
              <a:rPr lang="en-US" sz="750" dirty="0">
                <a:solidFill>
                  <a:srgbClr val="F59E0B">
                    <a:alpha val="60000"/>
                  </a:srgbClr>
                </a:solidFill>
                <a:latin typeface="Arial" pitchFamily="34" charset="0"/>
                <a:ea typeface="Arial" pitchFamily="34" charset="-122"/>
                <a:cs typeface="Arial" pitchFamily="34" charset="-120"/>
              </a:rPr>
              <a:t>Exception:</a:t>
            </a:r>
            <a:pPr algn="l" indent="0" marL="0">
              <a:lnSpc>
                <a:spcPts val="1125"/>
              </a:lnSpc>
              <a:buNone/>
            </a:pPr>
            <a:r>
              <a:rPr lang="en-US" sz="750" dirty="0">
                <a:solidFill>
                  <a:srgbClr val="FFFFFF">
                    <a:alpha val="60000"/>
                  </a:srgbClr>
                </a:solidFill>
                <a:latin typeface="Arial" pitchFamily="34" charset="0"/>
                <a:ea typeface="Arial" pitchFamily="34" charset="-122"/>
                <a:cs typeface="Arial" pitchFamily="34" charset="-120"/>
              </a:rPr>
              <a:t> Nova and Parakeet models don't support vocabulary hints.</a:t>
            </a:r>
            <a:endParaRPr lang="en-US" sz="750" dirty="0"/>
          </a:p>
        </p:txBody>
      </p:sp>
      <p:sp>
        <p:nvSpPr>
          <p:cNvPr id="33" name="Text 31"/>
          <p:cNvSpPr/>
          <p:nvPr/>
        </p:nvSpPr>
        <p:spPr>
          <a:xfrm>
            <a:off x="4953000" y="4514850"/>
            <a:ext cx="3886200" cy="361950"/>
          </a:xfrm>
          <a:prstGeom prst="rect">
            <a:avLst/>
          </a:prstGeom>
          <a:solidFill>
            <a:srgbClr val="059669"/>
          </a:solidFill>
          <a:ln/>
        </p:spPr>
        <p:txBody>
          <a:bodyPr wrap="square" rtlCol="0" anchor="ctr"/>
          <a:lstStyle/>
          <a:p>
            <a:pPr indent="0" marL="0">
              <a:buNone/>
            </a:pPr>
            <a:endParaRPr lang="en-US" dirty="0"/>
          </a:p>
        </p:txBody>
      </p:sp>
      <p:sp>
        <p:nvSpPr>
          <p:cNvPr id="34" name="Text 32"/>
          <p:cNvSpPr/>
          <p:nvPr/>
        </p:nvSpPr>
        <p:spPr>
          <a:xfrm>
            <a:off x="5030724" y="4629150"/>
            <a:ext cx="3730752" cy="133350"/>
          </a:xfrm>
          <a:prstGeom prst="rect">
            <a:avLst/>
          </a:prstGeom>
          <a:noFill/>
          <a:ln/>
        </p:spPr>
        <p:txBody>
          <a:bodyPr wrap="square" lIns="0" tIns="0" rIns="0" bIns="0" rtlCol="0" anchor="t"/>
          <a:lstStyle/>
          <a:p>
            <a:pPr algn="ctr" indent="0" marL="0">
              <a:lnSpc>
                <a:spcPts val="1050"/>
              </a:lnSpc>
              <a:buNone/>
            </a:pPr>
            <a:r>
              <a:rPr lang="en-US" sz="750" dirty="0">
                <a:solidFill>
                  <a:srgbClr val="FFFFFF"/>
                </a:solidFill>
                <a:latin typeface="Arial" pitchFamily="34" charset="0"/>
                <a:ea typeface="Arial" pitchFamily="34" charset="-122"/>
                <a:cs typeface="Arial" pitchFamily="34" charset="-120"/>
              </a:rPr>
              <a:t>Prefer replacements over vocabulary for consistent results</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644625" y="537270"/>
            <a:ext cx="1854750" cy="159990"/>
          </a:xfrm>
          <a:prstGeom prst="rect">
            <a:avLst/>
          </a:prstGeom>
          <a:noFill/>
          <a:ln/>
        </p:spPr>
        <p:txBody>
          <a:bodyPr wrap="square" lIns="0" tIns="0" rIns="0" bIns="0" rtlCol="0" anchor="t"/>
          <a:lstStyle/>
          <a:p>
            <a:pPr algn="ctr" indent="0" marL="0">
              <a:lnSpc>
                <a:spcPts val="1260"/>
              </a:lnSpc>
              <a:spcAft>
                <a:spcPts val="1800"/>
              </a:spcAft>
              <a:buNone/>
            </a:pPr>
            <a:r>
              <a:rPr lang="en-US" sz="900" dirty="0">
                <a:solidFill>
                  <a:srgbClr val="C9A227"/>
                </a:solidFill>
                <a:latin typeface="Arial" pitchFamily="34" charset="0"/>
                <a:ea typeface="Arial" pitchFamily="34" charset="-122"/>
                <a:cs typeface="Arial" pitchFamily="34" charset="-120"/>
              </a:rPr>
              <a:t>PART 4 • WORKSHOP</a:t>
            </a:r>
            <a:endParaRPr lang="en-US" sz="900" dirty="0"/>
          </a:p>
        </p:txBody>
      </p:sp>
      <p:sp>
        <p:nvSpPr>
          <p:cNvPr id="3" name="Text 1"/>
          <p:cNvSpPr/>
          <p:nvPr/>
        </p:nvSpPr>
        <p:spPr>
          <a:xfrm>
            <a:off x="2005743" y="1078260"/>
            <a:ext cx="5132365" cy="457200"/>
          </a:xfrm>
          <a:prstGeom prst="rect">
            <a:avLst/>
          </a:prstGeom>
          <a:noFill/>
          <a:ln/>
        </p:spPr>
        <p:txBody>
          <a:bodyPr wrap="square" lIns="0" tIns="0" rIns="0" bIns="0" rtlCol="0" anchor="t"/>
          <a:lstStyle/>
          <a:p>
            <a:pPr algn="ctr" indent="0" marL="0">
              <a:lnSpc>
                <a:spcPts val="3600"/>
              </a:lnSpc>
              <a:spcAft>
                <a:spcPts val="1200"/>
              </a:spcAft>
              <a:buNone/>
            </a:pPr>
            <a:r>
              <a:rPr lang="en-US" sz="3600" dirty="0">
                <a:solidFill>
                  <a:srgbClr val="FFFFFF"/>
                </a:solidFill>
                <a:latin typeface="Georgia" pitchFamily="34" charset="0"/>
                <a:ea typeface="Georgia" pitchFamily="34" charset="-122"/>
                <a:cs typeface="Georgia" pitchFamily="34" charset="-120"/>
              </a:rPr>
              <a:t>Custom Mode Workshop</a:t>
            </a:r>
            <a:endParaRPr lang="en-US" sz="3600" dirty="0"/>
          </a:p>
        </p:txBody>
      </p:sp>
      <p:sp>
        <p:nvSpPr>
          <p:cNvPr id="4" name="Text 2"/>
          <p:cNvSpPr/>
          <p:nvPr/>
        </p:nvSpPr>
        <p:spPr>
          <a:xfrm>
            <a:off x="4191000" y="1840260"/>
            <a:ext cx="762000" cy="28575"/>
          </a:xfrm>
          <a:prstGeom prst="rect">
            <a:avLst/>
          </a:prstGeom>
          <a:solidFill>
            <a:srgbClr val="C9A227"/>
          </a:solidFill>
          <a:ln/>
        </p:spPr>
        <p:txBody>
          <a:bodyPr wrap="square" rtlCol="0" anchor="ctr"/>
          <a:lstStyle/>
          <a:p>
            <a:pPr indent="0" marL="0">
              <a:buNone/>
            </a:pPr>
            <a:endParaRPr lang="en-US" dirty="0"/>
          </a:p>
        </p:txBody>
      </p:sp>
      <p:sp>
        <p:nvSpPr>
          <p:cNvPr id="5" name="Text 3"/>
          <p:cNvSpPr/>
          <p:nvPr/>
        </p:nvSpPr>
        <p:spPr>
          <a:xfrm>
            <a:off x="1657350" y="2249835"/>
            <a:ext cx="5829300" cy="487561"/>
          </a:xfrm>
          <a:prstGeom prst="rect">
            <a:avLst/>
          </a:prstGeom>
          <a:noFill/>
          <a:ln/>
        </p:spPr>
        <p:txBody>
          <a:bodyPr wrap="square" lIns="0" tIns="0" rIns="0" bIns="0" rtlCol="0" anchor="t"/>
          <a:lstStyle/>
          <a:p>
            <a:pPr algn="ctr" indent="0" marL="0">
              <a:lnSpc>
                <a:spcPts val="1920"/>
              </a:lnSpc>
              <a:spcAft>
                <a:spcPts val="2400"/>
              </a:spcAft>
              <a:buNone/>
            </a:pPr>
            <a:r>
              <a:rPr lang="en-US" sz="1200" dirty="0">
                <a:solidFill>
                  <a:srgbClr val="FFFFFF">
                    <a:alpha val="70000"/>
                  </a:srgbClr>
                </a:solidFill>
                <a:latin typeface="Arial" pitchFamily="34" charset="0"/>
                <a:ea typeface="Arial" pitchFamily="34" charset="-122"/>
                <a:cs typeface="Arial" pitchFamily="34" charset="-120"/>
              </a:rPr>
              <a:t>Build application-specific modes for your daily workflow. We'll create modes for coding, email, chat, and more.</a:t>
            </a:r>
            <a:endParaRPr lang="en-US" sz="1200" dirty="0"/>
          </a:p>
        </p:txBody>
      </p:sp>
      <p:sp>
        <p:nvSpPr>
          <p:cNvPr id="6" name="Text 4"/>
          <p:cNvSpPr/>
          <p:nvPr/>
        </p:nvSpPr>
        <p:spPr>
          <a:xfrm>
            <a:off x="1704231" y="3346996"/>
            <a:ext cx="1110704" cy="394246"/>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7" name="Text 5"/>
          <p:cNvSpPr/>
          <p:nvPr/>
        </p:nvSpPr>
        <p:spPr>
          <a:xfrm>
            <a:off x="1897149" y="3470821"/>
            <a:ext cx="724867" cy="146596"/>
          </a:xfrm>
          <a:prstGeom prst="rect">
            <a:avLst/>
          </a:prstGeom>
          <a:noFill/>
          <a:ln/>
        </p:spPr>
        <p:txBody>
          <a:bodyPr wrap="square" lIns="0" tIns="0" rIns="0" bIns="0" rtlCol="0" anchor="t"/>
          <a:lstStyle/>
          <a:p>
            <a:pPr algn="ctr" indent="0" marL="0">
              <a:lnSpc>
                <a:spcPts val="1155"/>
              </a:lnSpc>
              <a:buNone/>
            </a:pPr>
            <a:r>
              <a:rPr lang="en-US" sz="825" dirty="0">
                <a:solidFill>
                  <a:srgbClr val="C9A227"/>
                </a:solidFill>
                <a:latin typeface="Arial" pitchFamily="34" charset="0"/>
                <a:ea typeface="Arial" pitchFamily="34" charset="-122"/>
                <a:cs typeface="Arial" pitchFamily="34" charset="-120"/>
              </a:rPr>
              <a:t>Agentic Coding</a:t>
            </a:r>
            <a:endParaRPr lang="en-US" sz="825" dirty="0"/>
          </a:p>
        </p:txBody>
      </p:sp>
      <p:sp>
        <p:nvSpPr>
          <p:cNvPr id="8" name="Text 6"/>
          <p:cNvSpPr/>
          <p:nvPr/>
        </p:nvSpPr>
        <p:spPr>
          <a:xfrm>
            <a:off x="2967335" y="3346996"/>
            <a:ext cx="959197" cy="394246"/>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9" name="Text 7"/>
          <p:cNvSpPr/>
          <p:nvPr/>
        </p:nvSpPr>
        <p:spPr>
          <a:xfrm>
            <a:off x="3161769" y="3470821"/>
            <a:ext cx="570330" cy="146596"/>
          </a:xfrm>
          <a:prstGeom prst="rect">
            <a:avLst/>
          </a:prstGeom>
          <a:noFill/>
          <a:ln/>
        </p:spPr>
        <p:txBody>
          <a:bodyPr wrap="square" lIns="0" tIns="0" rIns="0" bIns="0" rtlCol="0" anchor="t"/>
          <a:lstStyle/>
          <a:p>
            <a:pPr algn="ctr" indent="0" marL="0">
              <a:lnSpc>
                <a:spcPts val="1155"/>
              </a:lnSpc>
              <a:buNone/>
            </a:pPr>
            <a:r>
              <a:rPr lang="en-US" sz="825" dirty="0">
                <a:solidFill>
                  <a:srgbClr val="C9A227"/>
                </a:solidFill>
                <a:latin typeface="Arial" pitchFamily="34" charset="0"/>
                <a:ea typeface="Arial" pitchFamily="34" charset="-122"/>
                <a:cs typeface="Arial" pitchFamily="34" charset="-120"/>
              </a:rPr>
              <a:t>Teams Chat</a:t>
            </a:r>
            <a:endParaRPr lang="en-US" sz="825" dirty="0"/>
          </a:p>
        </p:txBody>
      </p:sp>
      <p:sp>
        <p:nvSpPr>
          <p:cNvPr id="10" name="Text 8"/>
          <p:cNvSpPr/>
          <p:nvPr/>
        </p:nvSpPr>
        <p:spPr>
          <a:xfrm>
            <a:off x="4078932" y="3346996"/>
            <a:ext cx="968722" cy="394246"/>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11" name="Text 9"/>
          <p:cNvSpPr/>
          <p:nvPr/>
        </p:nvSpPr>
        <p:spPr>
          <a:xfrm>
            <a:off x="4273271" y="3470821"/>
            <a:ext cx="580046" cy="146596"/>
          </a:xfrm>
          <a:prstGeom prst="rect">
            <a:avLst/>
          </a:prstGeom>
          <a:noFill/>
          <a:ln/>
        </p:spPr>
        <p:txBody>
          <a:bodyPr wrap="square" lIns="0" tIns="0" rIns="0" bIns="0" rtlCol="0" anchor="t"/>
          <a:lstStyle/>
          <a:p>
            <a:pPr algn="ctr" indent="0" marL="0">
              <a:lnSpc>
                <a:spcPts val="1155"/>
              </a:lnSpc>
              <a:buNone/>
            </a:pPr>
            <a:r>
              <a:rPr lang="en-US" sz="825" dirty="0">
                <a:solidFill>
                  <a:srgbClr val="C9A227"/>
                </a:solidFill>
                <a:latin typeface="Arial" pitchFamily="34" charset="0"/>
                <a:ea typeface="Arial" pitchFamily="34" charset="-122"/>
                <a:cs typeface="Arial" pitchFamily="34" charset="-120"/>
              </a:rPr>
              <a:t>Email Writer</a:t>
            </a:r>
            <a:endParaRPr lang="en-US" sz="825" dirty="0"/>
          </a:p>
        </p:txBody>
      </p:sp>
      <p:sp>
        <p:nvSpPr>
          <p:cNvPr id="12" name="Text 10"/>
          <p:cNvSpPr/>
          <p:nvPr/>
        </p:nvSpPr>
        <p:spPr>
          <a:xfrm>
            <a:off x="5200055" y="3346996"/>
            <a:ext cx="1011734" cy="394246"/>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13" name="Text 11"/>
          <p:cNvSpPr/>
          <p:nvPr/>
        </p:nvSpPr>
        <p:spPr>
          <a:xfrm>
            <a:off x="5393963" y="3470821"/>
            <a:ext cx="623917" cy="146596"/>
          </a:xfrm>
          <a:prstGeom prst="rect">
            <a:avLst/>
          </a:prstGeom>
          <a:noFill/>
          <a:ln/>
        </p:spPr>
        <p:txBody>
          <a:bodyPr wrap="square" lIns="0" tIns="0" rIns="0" bIns="0" rtlCol="0" anchor="t"/>
          <a:lstStyle/>
          <a:p>
            <a:pPr algn="ctr" indent="0" marL="0">
              <a:lnSpc>
                <a:spcPts val="1155"/>
              </a:lnSpc>
              <a:buNone/>
            </a:pPr>
            <a:r>
              <a:rPr lang="en-US" sz="825" dirty="0">
                <a:solidFill>
                  <a:srgbClr val="C9A227"/>
                </a:solidFill>
                <a:latin typeface="Arial" pitchFamily="34" charset="0"/>
                <a:ea typeface="Arial" pitchFamily="34" charset="-122"/>
                <a:cs typeface="Arial" pitchFamily="34" charset="-120"/>
              </a:rPr>
              <a:t>Claude Code</a:t>
            </a:r>
            <a:endParaRPr lang="en-US" sz="825" dirty="0"/>
          </a:p>
        </p:txBody>
      </p:sp>
      <p:sp>
        <p:nvSpPr>
          <p:cNvPr id="14" name="Text 12"/>
          <p:cNvSpPr/>
          <p:nvPr/>
        </p:nvSpPr>
        <p:spPr>
          <a:xfrm>
            <a:off x="6364188" y="3346996"/>
            <a:ext cx="1075581" cy="394246"/>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15" name="Text 13"/>
          <p:cNvSpPr/>
          <p:nvPr/>
        </p:nvSpPr>
        <p:spPr>
          <a:xfrm>
            <a:off x="6557458" y="3470821"/>
            <a:ext cx="689041" cy="146596"/>
          </a:xfrm>
          <a:prstGeom prst="rect">
            <a:avLst/>
          </a:prstGeom>
          <a:noFill/>
          <a:ln/>
        </p:spPr>
        <p:txBody>
          <a:bodyPr wrap="square" lIns="0" tIns="0" rIns="0" bIns="0" rtlCol="0" anchor="t"/>
          <a:lstStyle/>
          <a:p>
            <a:pPr algn="ctr" indent="0" marL="0">
              <a:lnSpc>
                <a:spcPts val="1155"/>
              </a:lnSpc>
              <a:buNone/>
            </a:pPr>
            <a:r>
              <a:rPr lang="en-US" sz="825" dirty="0">
                <a:solidFill>
                  <a:srgbClr val="C9A227"/>
                </a:solidFill>
                <a:latin typeface="Arial" pitchFamily="34" charset="0"/>
                <a:ea typeface="Arial" pitchFamily="34" charset="-122"/>
                <a:cs typeface="Arial" pitchFamily="34" charset="-120"/>
              </a:rPr>
              <a:t>Browser Mode</a:t>
            </a:r>
            <a:endParaRPr lang="en-US" sz="825" dirty="0"/>
          </a:p>
        </p:txBody>
      </p:sp>
      <p:sp>
        <p:nvSpPr>
          <p:cNvPr id="16" name="Text 14"/>
          <p:cNvSpPr/>
          <p:nvPr/>
        </p:nvSpPr>
        <p:spPr>
          <a:xfrm>
            <a:off x="2920008" y="4160341"/>
            <a:ext cx="3303984" cy="445740"/>
          </a:xfrm>
          <a:prstGeom prst="rect">
            <a:avLst/>
          </a:prstGeom>
          <a:solidFill>
            <a:srgbClr val="059669">
              <a:alpha val="20000"/>
            </a:srgbClr>
          </a:solidFill>
          <a:ln w="9525">
            <a:solidFill>
              <a:srgbClr val="059669"/>
            </a:solidFill>
          </a:ln>
        </p:spPr>
        <p:txBody>
          <a:bodyPr wrap="square" rtlCol="0" anchor="ctr"/>
          <a:lstStyle/>
          <a:p>
            <a:pPr indent="0" marL="0">
              <a:buNone/>
            </a:pPr>
            <a:endParaRPr lang="en-US" dirty="0"/>
          </a:p>
        </p:txBody>
      </p:sp>
      <p:sp>
        <p:nvSpPr>
          <p:cNvPr id="17" name="Text 15"/>
          <p:cNvSpPr/>
          <p:nvPr/>
        </p:nvSpPr>
        <p:spPr>
          <a:xfrm>
            <a:off x="3129855" y="4303216"/>
            <a:ext cx="2884289" cy="159990"/>
          </a:xfrm>
          <a:prstGeom prst="rect">
            <a:avLst/>
          </a:prstGeom>
          <a:noFill/>
          <a:ln/>
        </p:spPr>
        <p:txBody>
          <a:bodyPr wrap="square" lIns="0" tIns="0" rIns="0" bIns="0" rtlCol="0" anchor="t"/>
          <a:lstStyle/>
          <a:p>
            <a:pPr algn="ctr" indent="0" marL="0">
              <a:lnSpc>
                <a:spcPts val="1260"/>
              </a:lnSpc>
              <a:buNone/>
            </a:pPr>
            <a:r>
              <a:rPr lang="en-US" sz="900" dirty="0">
                <a:solidFill>
                  <a:srgbClr val="34D399"/>
                </a:solidFill>
                <a:latin typeface="Arial" pitchFamily="34" charset="0"/>
                <a:ea typeface="Arial" pitchFamily="34" charset="-122"/>
                <a:cs typeface="Arial" pitchFamily="34" charset="-120"/>
              </a:rPr>
              <a:t>We'll provide pre-built prompts you can use immediately</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3598664" cy="5143500"/>
          </a:xfrm>
          <a:prstGeom prst="rect">
            <a:avLst/>
          </a:prstGeom>
          <a:solidFill>
            <a:srgbClr val="1A1F2E"/>
          </a:solidFill>
          <a:ln/>
        </p:spPr>
        <p:txBody>
          <a:bodyPr wrap="square" rtlCol="0" anchor="ctr"/>
          <a:lstStyle/>
          <a:p>
            <a:pPr indent="0" marL="0">
              <a:buNone/>
            </a:pPr>
            <a:endParaRPr lang="en-US" dirty="0"/>
          </a:p>
        </p:txBody>
      </p:sp>
      <p:sp>
        <p:nvSpPr>
          <p:cNvPr id="3" name="Text 1"/>
          <p:cNvSpPr/>
          <p:nvPr/>
        </p:nvSpPr>
        <p:spPr>
          <a:xfrm>
            <a:off x="266700" y="276820"/>
            <a:ext cx="876449" cy="272355"/>
          </a:xfrm>
          <a:prstGeom prst="rect">
            <a:avLst/>
          </a:prstGeom>
          <a:solidFill>
            <a:srgbClr val="059669"/>
          </a:solidFill>
          <a:ln/>
        </p:spPr>
        <p:txBody>
          <a:bodyPr wrap="square" rtlCol="0" anchor="ctr"/>
          <a:lstStyle/>
          <a:p>
            <a:pPr indent="0" marL="0">
              <a:buNone/>
            </a:pPr>
            <a:endParaRPr lang="en-US" dirty="0"/>
          </a:p>
        </p:txBody>
      </p:sp>
      <p:sp>
        <p:nvSpPr>
          <p:cNvPr id="4" name="Text 2"/>
          <p:cNvSpPr/>
          <p:nvPr/>
        </p:nvSpPr>
        <p:spPr>
          <a:xfrm>
            <a:off x="381000" y="353020"/>
            <a:ext cx="660806" cy="119955"/>
          </a:xfrm>
          <a:prstGeom prst="rect">
            <a:avLst/>
          </a:prstGeom>
          <a:noFill/>
          <a:ln/>
        </p:spPr>
        <p:txBody>
          <a:bodyPr wrap="square" lIns="0" tIns="0" rIns="0" bIns="0" rtlCol="0" anchor="t"/>
          <a:lstStyle/>
          <a:p>
            <a:pPr algn="l" indent="0" marL="0">
              <a:lnSpc>
                <a:spcPts val="945"/>
              </a:lnSpc>
              <a:buNone/>
            </a:pPr>
            <a:r>
              <a:rPr lang="en-US" sz="675" b="1" dirty="0">
                <a:solidFill>
                  <a:srgbClr val="FFFFFF"/>
                </a:solidFill>
                <a:latin typeface="Arial" pitchFamily="34" charset="0"/>
                <a:ea typeface="Arial" pitchFamily="34" charset="-122"/>
                <a:cs typeface="Arial" pitchFamily="34" charset="-120"/>
              </a:rPr>
              <a:t>MODE 1 OF 5</a:t>
            </a:r>
            <a:endParaRPr lang="en-US" sz="675" dirty="0"/>
          </a:p>
        </p:txBody>
      </p:sp>
      <p:sp>
        <p:nvSpPr>
          <p:cNvPr id="5" name="Text 3"/>
          <p:cNvSpPr/>
          <p:nvPr/>
        </p:nvSpPr>
        <p:spPr>
          <a:xfrm>
            <a:off x="266700" y="815876"/>
            <a:ext cx="2079117" cy="548580"/>
          </a:xfrm>
          <a:prstGeom prst="rect">
            <a:avLst/>
          </a:prstGeom>
          <a:noFill/>
          <a:ln/>
        </p:spPr>
        <p:txBody>
          <a:bodyPr wrap="square" lIns="0" tIns="0" rIns="0" bIns="0" rtlCol="0" anchor="t"/>
          <a:lstStyle/>
          <a:p>
            <a:pPr algn="l" indent="0" marL="0">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Prompt Enrichment</a:t>
            </a:r>
            <a:endParaRPr lang="en-US" sz="1800" dirty="0"/>
          </a:p>
          <a:p>
            <a:pPr algn="l" indent="0" marL="0">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Mode</a:t>
            </a:r>
            <a:endParaRPr lang="en-US" sz="1800" dirty="0"/>
          </a:p>
        </p:txBody>
      </p:sp>
      <p:sp>
        <p:nvSpPr>
          <p:cNvPr id="6" name="Text 4"/>
          <p:cNvSpPr/>
          <p:nvPr/>
        </p:nvSpPr>
        <p:spPr>
          <a:xfrm>
            <a:off x="266700" y="1631156"/>
            <a:ext cx="381000" cy="19050"/>
          </a:xfrm>
          <a:prstGeom prst="rect">
            <a:avLst/>
          </a:prstGeom>
          <a:solidFill>
            <a:srgbClr val="C9A227"/>
          </a:solidFill>
          <a:ln/>
        </p:spPr>
        <p:txBody>
          <a:bodyPr wrap="square" rtlCol="0" anchor="ctr"/>
          <a:lstStyle/>
          <a:p>
            <a:pPr indent="0" marL="0">
              <a:buNone/>
            </a:pPr>
            <a:endParaRPr lang="en-US" dirty="0"/>
          </a:p>
        </p:txBody>
      </p:sp>
      <p:sp>
        <p:nvSpPr>
          <p:cNvPr id="7" name="Text 5"/>
          <p:cNvSpPr/>
          <p:nvPr/>
        </p:nvSpPr>
        <p:spPr>
          <a:xfrm>
            <a:off x="266700" y="1955006"/>
            <a:ext cx="3065264" cy="639961"/>
          </a:xfrm>
          <a:prstGeom prst="rect">
            <a:avLst/>
          </a:prstGeom>
          <a:solidFill>
            <a:srgbClr val="C9A227">
              <a:alpha val="15000"/>
            </a:srgbClr>
          </a:solidFill>
          <a:ln/>
        </p:spPr>
        <p:txBody>
          <a:bodyPr wrap="square" rtlCol="0" anchor="ctr"/>
          <a:lstStyle/>
          <a:p>
            <a:pPr indent="0" marL="0">
              <a:buNone/>
            </a:pPr>
            <a:endParaRPr lang="en-US" dirty="0"/>
          </a:p>
        </p:txBody>
      </p:sp>
      <p:sp>
        <p:nvSpPr>
          <p:cNvPr id="8" name="Shape 6"/>
          <p:cNvSpPr/>
          <p:nvPr/>
        </p:nvSpPr>
        <p:spPr>
          <a:xfrm>
            <a:off x="280988" y="1955006"/>
            <a:ext cx="0" cy="639961"/>
          </a:xfrm>
          <a:prstGeom prst="line">
            <a:avLst/>
          </a:prstGeom>
          <a:noFill/>
          <a:ln w="28575">
            <a:solidFill>
              <a:srgbClr val="C9A227"/>
            </a:solidFill>
            <a:prstDash val="solid"/>
          </a:ln>
        </p:spPr>
      </p:sp>
      <p:sp>
        <p:nvSpPr>
          <p:cNvPr id="9" name="Text 7"/>
          <p:cNvSpPr/>
          <p:nvPr/>
        </p:nvSpPr>
        <p:spPr>
          <a:xfrm>
            <a:off x="409575" y="2069306"/>
            <a:ext cx="2864251"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USE CASE</a:t>
            </a:r>
            <a:endParaRPr lang="en-US" sz="750" dirty="0"/>
          </a:p>
        </p:txBody>
      </p:sp>
      <p:sp>
        <p:nvSpPr>
          <p:cNvPr id="10" name="Text 8"/>
          <p:cNvSpPr/>
          <p:nvPr/>
        </p:nvSpPr>
        <p:spPr>
          <a:xfrm>
            <a:off x="409575" y="2240756"/>
            <a:ext cx="2864251" cy="239911"/>
          </a:xfrm>
          <a:prstGeom prst="rect">
            <a:avLst/>
          </a:prstGeom>
          <a:noFill/>
          <a:ln/>
        </p:spPr>
        <p:txBody>
          <a:bodyPr wrap="square" lIns="0" tIns="0" rIns="0" bIns="0" rtlCol="0" anchor="t"/>
          <a:lstStyle/>
          <a:p>
            <a:pPr algn="l" indent="0" marL="0">
              <a:lnSpc>
                <a:spcPts val="945"/>
              </a:lnSpc>
              <a:buNone/>
            </a:pPr>
            <a:r>
              <a:rPr lang="en-US" sz="675" dirty="0">
                <a:solidFill>
                  <a:srgbClr val="FFFFFF">
                    <a:alpha val="70000"/>
                  </a:srgbClr>
                </a:solidFill>
                <a:latin typeface="Arial" pitchFamily="34" charset="0"/>
                <a:ea typeface="Arial" pitchFamily="34" charset="-122"/>
                <a:cs typeface="Arial" pitchFamily="34" charset="-120"/>
              </a:rPr>
              <a:t>Transform raw spoken thoughts into well-structured prompts for ANY AI tool: Claude, ChatGPT, Cursor, Copilot, etc.</a:t>
            </a:r>
            <a:endParaRPr lang="en-US" sz="675" dirty="0"/>
          </a:p>
        </p:txBody>
      </p:sp>
      <p:sp>
        <p:nvSpPr>
          <p:cNvPr id="11" name="Text 9"/>
          <p:cNvSpPr/>
          <p:nvPr/>
        </p:nvSpPr>
        <p:spPr>
          <a:xfrm>
            <a:off x="266700" y="2861667"/>
            <a:ext cx="3065264" cy="804863"/>
          </a:xfrm>
          <a:prstGeom prst="rect">
            <a:avLst/>
          </a:prstGeom>
          <a:solidFill>
            <a:srgbClr val="FFFFFF">
              <a:alpha val="5000"/>
            </a:srgbClr>
          </a:solidFill>
          <a:ln/>
        </p:spPr>
        <p:txBody>
          <a:bodyPr wrap="square" rtlCol="0" anchor="ctr"/>
          <a:lstStyle/>
          <a:p>
            <a:pPr indent="0" marL="0">
              <a:buNone/>
            </a:pPr>
            <a:endParaRPr lang="en-US" dirty="0"/>
          </a:p>
        </p:txBody>
      </p:sp>
      <p:sp>
        <p:nvSpPr>
          <p:cNvPr id="12" name="Text 10"/>
          <p:cNvSpPr/>
          <p:nvPr/>
        </p:nvSpPr>
        <p:spPr>
          <a:xfrm>
            <a:off x="381000" y="2975967"/>
            <a:ext cx="2893397" cy="133350"/>
          </a:xfrm>
          <a:prstGeom prst="rect">
            <a:avLst/>
          </a:prstGeom>
          <a:noFill/>
          <a:ln/>
        </p:spPr>
        <p:txBody>
          <a:bodyPr wrap="square" lIns="0" tIns="0" rIns="0" bIns="0" rtlCol="0" anchor="t"/>
          <a:lstStyle/>
          <a:p>
            <a:pPr algn="l" indent="0" marL="0">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KEY INSIGHT</a:t>
            </a:r>
            <a:endParaRPr lang="en-US" sz="750" dirty="0"/>
          </a:p>
        </p:txBody>
      </p:sp>
      <p:sp>
        <p:nvSpPr>
          <p:cNvPr id="13" name="Text 11"/>
          <p:cNvSpPr/>
          <p:nvPr/>
        </p:nvSpPr>
        <p:spPr>
          <a:xfrm>
            <a:off x="381000" y="3166467"/>
            <a:ext cx="2893397" cy="385763"/>
          </a:xfrm>
          <a:prstGeom prst="rect">
            <a:avLst/>
          </a:prstGeom>
          <a:noFill/>
          <a:ln/>
        </p:spPr>
        <p:txBody>
          <a:bodyPr wrap="square" lIns="0" tIns="0" rIns="0" bIns="0" rtlCol="0" anchor="t"/>
          <a:lstStyle/>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SuperWhisper is an </a:t>
            </a:r>
            <a:pPr algn="l" indent="0" marL="0">
              <a:lnSpc>
                <a:spcPts val="1013"/>
              </a:lnSpc>
              <a:buNone/>
            </a:pPr>
            <a:r>
              <a:rPr lang="en-US" sz="675" b="1" dirty="0">
                <a:solidFill>
                  <a:srgbClr val="FFFFFF">
                    <a:alpha val="60000"/>
                  </a:srgbClr>
                </a:solidFill>
                <a:latin typeface="Arial" pitchFamily="34" charset="0"/>
                <a:ea typeface="Arial" pitchFamily="34" charset="-122"/>
                <a:cs typeface="Arial" pitchFamily="34" charset="-120"/>
              </a:rPr>
              <a:t>input method</a:t>
            </a:r>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not a code generator. It prepares</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your prompts for another AI to execute.</a:t>
            </a:r>
            <a:endParaRPr lang="en-US" sz="675" dirty="0"/>
          </a:p>
        </p:txBody>
      </p:sp>
      <p:sp>
        <p:nvSpPr>
          <p:cNvPr id="14" name="Text 12"/>
          <p:cNvSpPr/>
          <p:nvPr/>
        </p:nvSpPr>
        <p:spPr>
          <a:xfrm>
            <a:off x="266700" y="3933230"/>
            <a:ext cx="3065264" cy="933450"/>
          </a:xfrm>
          <a:prstGeom prst="rect">
            <a:avLst/>
          </a:prstGeom>
          <a:solidFill>
            <a:srgbClr val="FFFFFF">
              <a:alpha val="5000"/>
            </a:srgbClr>
          </a:solidFill>
          <a:ln/>
        </p:spPr>
        <p:txBody>
          <a:bodyPr wrap="square" rtlCol="0" anchor="ctr"/>
          <a:lstStyle/>
          <a:p>
            <a:pPr indent="0" marL="0">
              <a:buNone/>
            </a:pPr>
            <a:endParaRPr lang="en-US" dirty="0"/>
          </a:p>
        </p:txBody>
      </p:sp>
      <p:sp>
        <p:nvSpPr>
          <p:cNvPr id="15" name="Text 13"/>
          <p:cNvSpPr/>
          <p:nvPr/>
        </p:nvSpPr>
        <p:spPr>
          <a:xfrm>
            <a:off x="381000" y="4047530"/>
            <a:ext cx="2893397" cy="133350"/>
          </a:xfrm>
          <a:prstGeom prst="rect">
            <a:avLst/>
          </a:prstGeom>
          <a:noFill/>
          <a:ln/>
        </p:spPr>
        <p:txBody>
          <a:bodyPr wrap="square" lIns="0" tIns="0" rIns="0" bIns="0" rtlCol="0" anchor="t"/>
          <a:lstStyle/>
          <a:p>
            <a:pPr algn="l" indent="0" marL="0">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AUTO-ACTIVATION</a:t>
            </a:r>
            <a:endParaRPr lang="en-US" sz="750" dirty="0"/>
          </a:p>
        </p:txBody>
      </p:sp>
      <p:sp>
        <p:nvSpPr>
          <p:cNvPr id="16" name="Text 14"/>
          <p:cNvSpPr/>
          <p:nvPr/>
        </p:nvSpPr>
        <p:spPr>
          <a:xfrm>
            <a:off x="381000" y="4238030"/>
            <a:ext cx="2893397" cy="514350"/>
          </a:xfrm>
          <a:prstGeom prst="rect">
            <a:avLst/>
          </a:prstGeom>
          <a:noFill/>
          <a:ln/>
        </p:spPr>
        <p:txBody>
          <a:bodyPr wrap="square" lIns="0" tIns="0" rIns="0" bIns="0" rtlCol="0" anchor="t"/>
          <a:lstStyle/>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ChatGPT / Claude.ai</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Cursor AI input</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Copilot Chat</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Any AI prompt field</a:t>
            </a:r>
            <a:endParaRPr lang="en-US" sz="675" dirty="0"/>
          </a:p>
        </p:txBody>
      </p:sp>
      <p:sp>
        <p:nvSpPr>
          <p:cNvPr id="17" name="Text 15"/>
          <p:cNvSpPr/>
          <p:nvPr/>
        </p:nvSpPr>
        <p:spPr>
          <a:xfrm>
            <a:off x="3751064" y="0"/>
            <a:ext cx="5392936" cy="5143500"/>
          </a:xfrm>
          <a:prstGeom prst="rect">
            <a:avLst/>
          </a:prstGeom>
          <a:solidFill>
            <a:srgbClr val="F7F8FA"/>
          </a:solidFill>
          <a:ln/>
        </p:spPr>
        <p:txBody>
          <a:bodyPr wrap="square" rtlCol="0" anchor="ctr"/>
          <a:lstStyle/>
          <a:p>
            <a:pPr indent="0" marL="0">
              <a:buNone/>
            </a:pPr>
            <a:endParaRPr lang="en-US" dirty="0"/>
          </a:p>
        </p:txBody>
      </p:sp>
      <p:sp>
        <p:nvSpPr>
          <p:cNvPr id="18" name="Text 16"/>
          <p:cNvSpPr/>
          <p:nvPr/>
        </p:nvSpPr>
        <p:spPr>
          <a:xfrm>
            <a:off x="4017764" y="337840"/>
            <a:ext cx="4956727" cy="159990"/>
          </a:xfrm>
          <a:prstGeom prst="rect">
            <a:avLst/>
          </a:prstGeom>
          <a:noFill/>
          <a:ln/>
        </p:spPr>
        <p:txBody>
          <a:bodyPr wrap="square" lIns="0" tIns="0" rIns="0" bIns="0" rtlCol="0" anchor="t"/>
          <a:lstStyle/>
          <a:p>
            <a:pPr algn="l" indent="0" marL="0">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SAMPLE AI INSTRUCTIONS</a:t>
            </a:r>
            <a:endParaRPr lang="en-US" sz="900" dirty="0"/>
          </a:p>
        </p:txBody>
      </p:sp>
      <p:sp>
        <p:nvSpPr>
          <p:cNvPr id="19" name="Text 17"/>
          <p:cNvSpPr/>
          <p:nvPr/>
        </p:nvSpPr>
        <p:spPr>
          <a:xfrm>
            <a:off x="4017764" y="764530"/>
            <a:ext cx="4859536" cy="2422327"/>
          </a:xfrm>
          <a:prstGeom prst="rect">
            <a:avLst/>
          </a:prstGeom>
          <a:solidFill>
            <a:srgbClr val="1A1F2E"/>
          </a:solidFill>
          <a:ln/>
        </p:spPr>
        <p:txBody>
          <a:bodyPr wrap="square" rtlCol="0" anchor="ctr"/>
          <a:lstStyle/>
          <a:p>
            <a:pPr indent="0" marL="0">
              <a:buNone/>
            </a:pPr>
            <a:endParaRPr lang="en-US" dirty="0"/>
          </a:p>
        </p:txBody>
      </p:sp>
      <p:sp>
        <p:nvSpPr>
          <p:cNvPr id="20" name="Text 18"/>
          <p:cNvSpPr/>
          <p:nvPr/>
        </p:nvSpPr>
        <p:spPr>
          <a:xfrm>
            <a:off x="4170164" y="916930"/>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1" name="Text 19"/>
          <p:cNvSpPr/>
          <p:nvPr/>
        </p:nvSpPr>
        <p:spPr>
          <a:xfrm>
            <a:off x="4170164" y="1080641"/>
            <a:ext cx="4645831" cy="106561"/>
          </a:xfrm>
          <a:prstGeom prst="rect">
            <a:avLst/>
          </a:prstGeom>
          <a:noFill/>
          <a:ln/>
        </p:spPr>
        <p:txBody>
          <a:bodyPr wrap="square" lIns="76200" tIns="0" rIns="0" bIns="0" rtlCol="0" anchor="t"/>
          <a:lstStyle/>
          <a:p>
            <a:pPr algn="l" indent="0" marL="0">
              <a:lnSpc>
                <a:spcPts val="84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You are a prompt engineer preparing input for AI assistants</a:t>
            </a:r>
            <a:endParaRPr lang="en-US" sz="600" dirty="0"/>
          </a:p>
        </p:txBody>
      </p:sp>
      <p:sp>
        <p:nvSpPr>
          <p:cNvPr id="22" name="Text 20"/>
          <p:cNvSpPr/>
          <p:nvPr/>
        </p:nvSpPr>
        <p:spPr>
          <a:xfrm>
            <a:off x="4170164" y="1244352"/>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3" name="Text 21"/>
          <p:cNvSpPr/>
          <p:nvPr/>
        </p:nvSpPr>
        <p:spPr>
          <a:xfrm>
            <a:off x="4170164" y="1408063"/>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4" name="Text 22"/>
          <p:cNvSpPr/>
          <p:nvPr/>
        </p:nvSpPr>
        <p:spPr>
          <a:xfrm>
            <a:off x="4170164" y="1571774"/>
            <a:ext cx="4645831" cy="342900"/>
          </a:xfrm>
          <a:prstGeom prst="rect">
            <a:avLst/>
          </a:prstGeom>
          <a:noFill/>
          <a:ln/>
        </p:spPr>
        <p:txBody>
          <a:bodyPr wrap="square" lIns="76200" tIns="0" rIns="0" bIns="0" rtlCol="0" anchor="t"/>
          <a:lstStyle/>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The User Message is raw dictated speech.</a:t>
            </a:r>
            <a:endParaRPr lang="en-US" sz="600" dirty="0"/>
          </a:p>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Reformat it as a clear, effective prompt</a:t>
            </a:r>
            <a:endParaRPr lang="en-US" sz="600" dirty="0"/>
          </a:p>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ready to paste into an AI tool.</a:t>
            </a:r>
            <a:endParaRPr lang="en-US" sz="600" dirty="0"/>
          </a:p>
        </p:txBody>
      </p:sp>
      <p:sp>
        <p:nvSpPr>
          <p:cNvPr id="25" name="Text 23"/>
          <p:cNvSpPr/>
          <p:nvPr/>
        </p:nvSpPr>
        <p:spPr>
          <a:xfrm>
            <a:off x="4170164" y="1971824"/>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6" name="Text 24"/>
          <p:cNvSpPr/>
          <p:nvPr/>
        </p:nvSpPr>
        <p:spPr>
          <a:xfrm>
            <a:off x="4170164" y="2135535"/>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7" name="Text 25"/>
          <p:cNvSpPr/>
          <p:nvPr/>
        </p:nvSpPr>
        <p:spPr>
          <a:xfrm>
            <a:off x="4170164" y="2299246"/>
            <a:ext cx="4645831" cy="571500"/>
          </a:xfrm>
          <a:prstGeom prst="rect">
            <a:avLst/>
          </a:prstGeom>
          <a:noFill/>
          <a:ln/>
        </p:spPr>
        <p:txBody>
          <a:bodyPr wrap="square" lIns="76200" tIns="0" rIns="0" bIns="0" rtlCol="0" anchor="t"/>
          <a:lstStyle/>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Clarify intent and scope</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Add structure (numbered steps if complex)</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Preserve technical terms exactly</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Remove filler words ("um", "like", etc.)</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Keep the user's voice and intent</a:t>
            </a:r>
            <a:endParaRPr lang="en-US" sz="600" dirty="0"/>
          </a:p>
        </p:txBody>
      </p:sp>
      <p:sp>
        <p:nvSpPr>
          <p:cNvPr id="28" name="Text 26"/>
          <p:cNvSpPr/>
          <p:nvPr/>
        </p:nvSpPr>
        <p:spPr>
          <a:xfrm>
            <a:off x="4170164" y="2927896"/>
            <a:ext cx="4645831" cy="106561"/>
          </a:xfrm>
          <a:prstGeom prst="rect">
            <a:avLst/>
          </a:prstGeom>
          <a:noFill/>
          <a:ln/>
        </p:spPr>
        <p:txBody>
          <a:bodyPr wrap="square" lIns="0" tIns="0" rIns="0" bIns="0" rtlCol="0" anchor="t"/>
          <a:lstStyle/>
          <a:p>
            <a:pPr algn="l" indent="0" marL="0">
              <a:lnSpc>
                <a:spcPts val="840"/>
              </a:lnSpc>
              <a:spcBef>
                <a:spcPts val="450"/>
              </a:spcBef>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9" name="Text 27"/>
          <p:cNvSpPr/>
          <p:nvPr/>
        </p:nvSpPr>
        <p:spPr>
          <a:xfrm>
            <a:off x="4017764" y="3516362"/>
            <a:ext cx="2386905" cy="668238"/>
          </a:xfrm>
          <a:prstGeom prst="rect">
            <a:avLst/>
          </a:prstGeom>
          <a:solidFill>
            <a:srgbClr val="DCFCE7"/>
          </a:solidFill>
          <a:ln/>
        </p:spPr>
        <p:txBody>
          <a:bodyPr wrap="square" rtlCol="0" anchor="ctr"/>
          <a:lstStyle/>
          <a:p>
            <a:pPr indent="0" marL="0">
              <a:buNone/>
            </a:pPr>
            <a:endParaRPr lang="en-US" dirty="0"/>
          </a:p>
        </p:txBody>
      </p:sp>
      <p:sp>
        <p:nvSpPr>
          <p:cNvPr id="30" name="Shape 28"/>
          <p:cNvSpPr/>
          <p:nvPr/>
        </p:nvSpPr>
        <p:spPr>
          <a:xfrm>
            <a:off x="4032052" y="3516362"/>
            <a:ext cx="0" cy="668238"/>
          </a:xfrm>
          <a:prstGeom prst="line">
            <a:avLst/>
          </a:prstGeom>
          <a:noFill/>
          <a:ln w="28575">
            <a:solidFill>
              <a:srgbClr val="059669"/>
            </a:solidFill>
            <a:prstDash val="solid"/>
          </a:ln>
        </p:spPr>
      </p:sp>
      <p:sp>
        <p:nvSpPr>
          <p:cNvPr id="31" name="Text 29"/>
          <p:cNvSpPr/>
          <p:nvPr/>
        </p:nvSpPr>
        <p:spPr>
          <a:xfrm>
            <a:off x="4141589" y="3611612"/>
            <a:ext cx="2211187" cy="119955"/>
          </a:xfrm>
          <a:prstGeom prst="rect">
            <a:avLst/>
          </a:prstGeom>
          <a:noFill/>
          <a:ln/>
        </p:spPr>
        <p:txBody>
          <a:bodyPr wrap="square" lIns="0" tIns="0" rIns="0" bIns="0" rtlCol="0" anchor="t"/>
          <a:lstStyle/>
          <a:p>
            <a:pPr algn="l" indent="0" marL="0">
              <a:lnSpc>
                <a:spcPts val="945"/>
              </a:lnSpc>
              <a:spcAft>
                <a:spcPts val="300"/>
              </a:spcAft>
              <a:buNone/>
            </a:pPr>
            <a:r>
              <a:rPr lang="en-US" sz="675" b="1" dirty="0">
                <a:solidFill>
                  <a:srgbClr val="166534"/>
                </a:solidFill>
                <a:latin typeface="Arial" pitchFamily="34" charset="0"/>
                <a:ea typeface="Arial" pitchFamily="34" charset="-122"/>
                <a:cs typeface="Arial" pitchFamily="34" charset="-120"/>
              </a:rPr>
              <a:t>RAW SPEECH</a:t>
            </a:r>
            <a:endParaRPr lang="en-US" sz="675" dirty="0"/>
          </a:p>
        </p:txBody>
      </p:sp>
      <p:sp>
        <p:nvSpPr>
          <p:cNvPr id="32" name="Text 30"/>
          <p:cNvSpPr/>
          <p:nvPr/>
        </p:nvSpPr>
        <p:spPr>
          <a:xfrm>
            <a:off x="4141589" y="3769668"/>
            <a:ext cx="2211187" cy="319683"/>
          </a:xfrm>
          <a:prstGeom prst="rect">
            <a:avLst/>
          </a:prstGeom>
          <a:noFill/>
          <a:ln/>
        </p:spPr>
        <p:txBody>
          <a:bodyPr wrap="square" lIns="0" tIns="0" rIns="0" bIns="0" rtlCol="0" anchor="t"/>
          <a:lstStyle/>
          <a:p>
            <a:pPr algn="l" indent="0" marL="0">
              <a:lnSpc>
                <a:spcPts val="840"/>
              </a:lnSpc>
              <a:buNone/>
            </a:pPr>
            <a:r>
              <a:rPr lang="en-US" sz="600" dirty="0">
                <a:solidFill>
                  <a:srgbClr val="166534"/>
                </a:solidFill>
                <a:latin typeface="Arial" pitchFamily="34" charset="0"/>
                <a:ea typeface="Arial" pitchFamily="34" charset="-122"/>
                <a:cs typeface="Arial" pitchFamily="34" charset="-120"/>
              </a:rPr>
              <a:t>"okay so um I need like a function that takes a list of users and filters them by um you know active status and then sorts by last login date"</a:t>
            </a:r>
            <a:endParaRPr lang="en-US" sz="600" dirty="0"/>
          </a:p>
        </p:txBody>
      </p:sp>
      <p:sp>
        <p:nvSpPr>
          <p:cNvPr id="33" name="Text 31"/>
          <p:cNvSpPr/>
          <p:nvPr/>
        </p:nvSpPr>
        <p:spPr>
          <a:xfrm>
            <a:off x="6499920" y="3453557"/>
            <a:ext cx="2377380" cy="793849"/>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34" name="Text 32"/>
          <p:cNvSpPr/>
          <p:nvPr/>
        </p:nvSpPr>
        <p:spPr>
          <a:xfrm>
            <a:off x="6604695" y="3558332"/>
            <a:ext cx="2211187" cy="119955"/>
          </a:xfrm>
          <a:prstGeom prst="rect">
            <a:avLst/>
          </a:prstGeom>
          <a:noFill/>
          <a:ln/>
        </p:spPr>
        <p:txBody>
          <a:bodyPr wrap="square" lIns="0" tIns="0" rIns="0" bIns="0" rtlCol="0" anchor="t"/>
          <a:lstStyle/>
          <a:p>
            <a:pPr algn="l" indent="0" marL="0">
              <a:lnSpc>
                <a:spcPts val="945"/>
              </a:lnSpc>
              <a:spcAft>
                <a:spcPts val="300"/>
              </a:spcAft>
              <a:buNone/>
            </a:pPr>
            <a:r>
              <a:rPr lang="en-US" sz="675" b="1" dirty="0">
                <a:solidFill>
                  <a:srgbClr val="1A1F2E"/>
                </a:solidFill>
                <a:latin typeface="Arial" pitchFamily="34" charset="0"/>
                <a:ea typeface="Arial" pitchFamily="34" charset="-122"/>
                <a:cs typeface="Arial" pitchFamily="34" charset="-120"/>
              </a:rPr>
              <a:t>ENRICHED PROMPT</a:t>
            </a:r>
            <a:endParaRPr lang="en-US" sz="675" dirty="0"/>
          </a:p>
        </p:txBody>
      </p:sp>
      <p:sp>
        <p:nvSpPr>
          <p:cNvPr id="35" name="Text 33"/>
          <p:cNvSpPr/>
          <p:nvPr/>
        </p:nvSpPr>
        <p:spPr>
          <a:xfrm>
            <a:off x="6604695" y="3716387"/>
            <a:ext cx="2211187" cy="426244"/>
          </a:xfrm>
          <a:prstGeom prst="rect">
            <a:avLst/>
          </a:prstGeom>
          <a:noFill/>
          <a:ln/>
        </p:spPr>
        <p:txBody>
          <a:bodyPr wrap="square" lIns="0" tIns="0" rIns="0" bIns="0" rtlCol="0" anchor="t"/>
          <a:lstStyle/>
          <a:p>
            <a:pPr algn="l" indent="0" marL="0">
              <a:lnSpc>
                <a:spcPts val="840"/>
              </a:lnSpc>
              <a:buNone/>
            </a:pPr>
            <a:r>
              <a:rPr lang="en-US" sz="600" dirty="0">
                <a:solidFill>
                  <a:srgbClr val="6B7280"/>
                </a:solidFill>
                <a:latin typeface="Arial" pitchFamily="34" charset="0"/>
                <a:ea typeface="Arial" pitchFamily="34" charset="-122"/>
                <a:cs typeface="Arial" pitchFamily="34" charset="-120"/>
              </a:rPr>
              <a:t>Create a function that:</a:t>
            </a:r>
            <a:endParaRPr lang="en-US" sz="600" dirty="0"/>
          </a:p>
          <a:p>
            <a:pPr algn="l" indent="0" marL="0">
              <a:lnSpc>
                <a:spcPts val="840"/>
              </a:lnSpc>
              <a:buNone/>
            </a:pPr>
            <a:r>
              <a:rPr lang="en-US" sz="600" dirty="0">
                <a:solidFill>
                  <a:srgbClr val="6B7280"/>
                </a:solidFill>
                <a:latin typeface="Arial" pitchFamily="34" charset="0"/>
                <a:ea typeface="Arial" pitchFamily="34" charset="-122"/>
                <a:cs typeface="Arial" pitchFamily="34" charset="-120"/>
              </a:rPr>
              <a:t>1. Takes a list of users</a:t>
            </a:r>
            <a:endParaRPr lang="en-US" sz="600" dirty="0"/>
          </a:p>
          <a:p>
            <a:pPr algn="l" indent="0" marL="0">
              <a:lnSpc>
                <a:spcPts val="840"/>
              </a:lnSpc>
              <a:buNone/>
            </a:pPr>
            <a:r>
              <a:rPr lang="en-US" sz="600" dirty="0">
                <a:solidFill>
                  <a:srgbClr val="6B7280"/>
                </a:solidFill>
                <a:latin typeface="Arial" pitchFamily="34" charset="0"/>
                <a:ea typeface="Arial" pitchFamily="34" charset="-122"/>
                <a:cs typeface="Arial" pitchFamily="34" charset="-120"/>
              </a:rPr>
              <a:t>2. Filters to only active users</a:t>
            </a:r>
            <a:endParaRPr lang="en-US" sz="600" dirty="0"/>
          </a:p>
          <a:p>
            <a:pPr algn="l" indent="0" marL="0">
              <a:lnSpc>
                <a:spcPts val="840"/>
              </a:lnSpc>
              <a:buNone/>
            </a:pPr>
            <a:r>
              <a:rPr lang="en-US" sz="600" dirty="0">
                <a:solidFill>
                  <a:srgbClr val="6B7280"/>
                </a:solidFill>
                <a:latin typeface="Arial" pitchFamily="34" charset="0"/>
                <a:ea typeface="Arial" pitchFamily="34" charset="-122"/>
                <a:cs typeface="Arial" pitchFamily="34" charset="-120"/>
              </a:rPr>
              <a:t>3. Sorts by last login date (descending)</a:t>
            </a:r>
            <a:endParaRPr lang="en-US" sz="600" dirty="0"/>
          </a:p>
        </p:txBody>
      </p:sp>
      <p:sp>
        <p:nvSpPr>
          <p:cNvPr id="36" name="Text 34"/>
          <p:cNvSpPr/>
          <p:nvPr/>
        </p:nvSpPr>
        <p:spPr>
          <a:xfrm>
            <a:off x="4017764" y="4495056"/>
            <a:ext cx="4859536" cy="310455"/>
          </a:xfrm>
          <a:prstGeom prst="rect">
            <a:avLst/>
          </a:prstGeom>
          <a:solidFill>
            <a:srgbClr val="FEF3C7"/>
          </a:solidFill>
          <a:ln/>
        </p:spPr>
        <p:txBody>
          <a:bodyPr wrap="square" rtlCol="0" anchor="ctr"/>
          <a:lstStyle/>
          <a:p>
            <a:pPr indent="0" marL="0">
              <a:buNone/>
            </a:pPr>
            <a:endParaRPr lang="en-US" dirty="0"/>
          </a:p>
        </p:txBody>
      </p:sp>
      <p:sp>
        <p:nvSpPr>
          <p:cNvPr id="37" name="Shape 35"/>
          <p:cNvSpPr/>
          <p:nvPr/>
        </p:nvSpPr>
        <p:spPr>
          <a:xfrm>
            <a:off x="4032052" y="4495056"/>
            <a:ext cx="0" cy="310455"/>
          </a:xfrm>
          <a:prstGeom prst="line">
            <a:avLst/>
          </a:prstGeom>
          <a:noFill/>
          <a:ln w="28575">
            <a:solidFill>
              <a:srgbClr val="F59E0B"/>
            </a:solidFill>
            <a:prstDash val="solid"/>
          </a:ln>
        </p:spPr>
      </p:sp>
      <p:sp>
        <p:nvSpPr>
          <p:cNvPr id="38" name="Text 36"/>
          <p:cNvSpPr/>
          <p:nvPr/>
        </p:nvSpPr>
        <p:spPr>
          <a:xfrm>
            <a:off x="4141589" y="4590306"/>
            <a:ext cx="4733270" cy="119955"/>
          </a:xfrm>
          <a:prstGeom prst="rect">
            <a:avLst/>
          </a:prstGeom>
          <a:noFill/>
          <a:ln/>
        </p:spPr>
        <p:txBody>
          <a:bodyPr wrap="square" lIns="0" tIns="0" rIns="0" bIns="0" rtlCol="0" anchor="t"/>
          <a:lstStyle/>
          <a:p>
            <a:pPr algn="l" indent="0" marL="0">
              <a:lnSpc>
                <a:spcPts val="945"/>
              </a:lnSpc>
              <a:buNone/>
            </a:pPr>
            <a:r>
              <a:rPr lang="en-US" sz="675" b="1" dirty="0">
                <a:solidFill>
                  <a:srgbClr val="92400E"/>
                </a:solidFill>
                <a:latin typeface="Arial" pitchFamily="34" charset="0"/>
                <a:ea typeface="Arial" pitchFamily="34" charset="-122"/>
                <a:cs typeface="Arial" pitchFamily="34" charset="-120"/>
              </a:rPr>
              <a:t>Flow:</a:t>
            </a:r>
            <a:pPr algn="l" indent="0" marL="0">
              <a:lnSpc>
                <a:spcPts val="945"/>
              </a:lnSpc>
              <a:buNone/>
            </a:pPr>
            <a:r>
              <a:rPr lang="en-US" sz="675" dirty="0">
                <a:solidFill>
                  <a:srgbClr val="92400E"/>
                </a:solidFill>
                <a:latin typeface="Arial" pitchFamily="34" charset="0"/>
                <a:ea typeface="Arial" pitchFamily="34" charset="-122"/>
                <a:cs typeface="Arial" pitchFamily="34" charset="-120"/>
              </a:rPr>
              <a:t> Speak naturally → SuperWhisper enriches → Paste to AI tool → AI executes</a:t>
            </a:r>
            <a:endParaRPr lang="en-US" sz="675"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3598664" cy="5143500"/>
          </a:xfrm>
          <a:prstGeom prst="rect">
            <a:avLst/>
          </a:prstGeom>
          <a:solidFill>
            <a:srgbClr val="1A1F2E"/>
          </a:solidFill>
          <a:ln/>
        </p:spPr>
        <p:txBody>
          <a:bodyPr wrap="square" rtlCol="0" anchor="ctr"/>
          <a:lstStyle/>
          <a:p>
            <a:pPr indent="0" marL="0">
              <a:buNone/>
            </a:pPr>
            <a:endParaRPr lang="en-US" dirty="0"/>
          </a:p>
        </p:txBody>
      </p:sp>
      <p:sp>
        <p:nvSpPr>
          <p:cNvPr id="3" name="Text 1"/>
          <p:cNvSpPr/>
          <p:nvPr/>
        </p:nvSpPr>
        <p:spPr>
          <a:xfrm>
            <a:off x="266700" y="240804"/>
            <a:ext cx="778073" cy="220861"/>
          </a:xfrm>
          <a:prstGeom prst="rect">
            <a:avLst/>
          </a:prstGeom>
          <a:solidFill>
            <a:srgbClr val="3B82F6"/>
          </a:solidFill>
          <a:ln/>
        </p:spPr>
        <p:txBody>
          <a:bodyPr wrap="square" rtlCol="0" anchor="ctr"/>
          <a:lstStyle/>
          <a:p>
            <a:pPr indent="0" marL="0">
              <a:buNone/>
            </a:pPr>
            <a:endParaRPr lang="en-US" dirty="0"/>
          </a:p>
        </p:txBody>
      </p:sp>
      <p:sp>
        <p:nvSpPr>
          <p:cNvPr id="4" name="Text 2"/>
          <p:cNvSpPr/>
          <p:nvPr/>
        </p:nvSpPr>
        <p:spPr>
          <a:xfrm>
            <a:off x="361950" y="297954"/>
            <a:ext cx="599325" cy="106561"/>
          </a:xfrm>
          <a:prstGeom prst="rect">
            <a:avLst/>
          </a:prstGeom>
          <a:noFill/>
          <a:ln/>
        </p:spPr>
        <p:txBody>
          <a:bodyPr wrap="square" lIns="0" tIns="0" rIns="0" bIns="0" rtlCol="0" anchor="t"/>
          <a:lstStyle/>
          <a:p>
            <a:pPr algn="l" indent="0" marL="0">
              <a:lnSpc>
                <a:spcPts val="840"/>
              </a:lnSpc>
              <a:buNone/>
            </a:pPr>
            <a:r>
              <a:rPr lang="en-US" sz="600" b="1" dirty="0">
                <a:solidFill>
                  <a:srgbClr val="FFFFFF"/>
                </a:solidFill>
                <a:latin typeface="Arial" pitchFamily="34" charset="0"/>
                <a:ea typeface="Arial" pitchFamily="34" charset="-122"/>
                <a:cs typeface="Arial" pitchFamily="34" charset="-120"/>
              </a:rPr>
              <a:t>MODE 2 OF 5</a:t>
            </a:r>
            <a:endParaRPr lang="en-US" sz="600" dirty="0"/>
          </a:p>
        </p:txBody>
      </p:sp>
      <p:sp>
        <p:nvSpPr>
          <p:cNvPr id="5" name="Text 3"/>
          <p:cNvSpPr/>
          <p:nvPr/>
        </p:nvSpPr>
        <p:spPr>
          <a:xfrm>
            <a:off x="266700" y="709315"/>
            <a:ext cx="1739075" cy="548580"/>
          </a:xfrm>
          <a:prstGeom prst="rect">
            <a:avLst/>
          </a:prstGeom>
          <a:noFill/>
          <a:ln/>
        </p:spPr>
        <p:txBody>
          <a:bodyPr wrap="square" lIns="0" tIns="0" rIns="0" bIns="0" rtlCol="0" anchor="t"/>
          <a:lstStyle/>
          <a:p>
            <a:pPr algn="l" indent="0" marL="0">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Microsoft Teams</a:t>
            </a:r>
            <a:endParaRPr lang="en-US" sz="1800" dirty="0"/>
          </a:p>
          <a:p>
            <a:pPr algn="l" indent="0" marL="0">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Chat Mode</a:t>
            </a:r>
            <a:endParaRPr lang="en-US" sz="1800" dirty="0"/>
          </a:p>
        </p:txBody>
      </p:sp>
      <p:sp>
        <p:nvSpPr>
          <p:cNvPr id="6" name="Text 4"/>
          <p:cNvSpPr/>
          <p:nvPr/>
        </p:nvSpPr>
        <p:spPr>
          <a:xfrm>
            <a:off x="266700" y="1829395"/>
            <a:ext cx="3065264" cy="639961"/>
          </a:xfrm>
          <a:prstGeom prst="rect">
            <a:avLst/>
          </a:prstGeom>
          <a:solidFill>
            <a:srgbClr val="C9A227">
              <a:alpha val="15000"/>
            </a:srgbClr>
          </a:solidFill>
          <a:ln/>
        </p:spPr>
        <p:txBody>
          <a:bodyPr wrap="square" rtlCol="0" anchor="ctr"/>
          <a:lstStyle/>
          <a:p>
            <a:pPr indent="0" marL="0">
              <a:buNone/>
            </a:pPr>
            <a:endParaRPr lang="en-US" dirty="0"/>
          </a:p>
        </p:txBody>
      </p:sp>
      <p:sp>
        <p:nvSpPr>
          <p:cNvPr id="7" name="Shape 5"/>
          <p:cNvSpPr/>
          <p:nvPr/>
        </p:nvSpPr>
        <p:spPr>
          <a:xfrm>
            <a:off x="280988" y="1829395"/>
            <a:ext cx="0" cy="639961"/>
          </a:xfrm>
          <a:prstGeom prst="line">
            <a:avLst/>
          </a:prstGeom>
          <a:noFill/>
          <a:ln w="28575">
            <a:solidFill>
              <a:srgbClr val="C9A227"/>
            </a:solidFill>
            <a:prstDash val="solid"/>
          </a:ln>
        </p:spPr>
      </p:sp>
      <p:sp>
        <p:nvSpPr>
          <p:cNvPr id="8" name="Text 6"/>
          <p:cNvSpPr/>
          <p:nvPr/>
        </p:nvSpPr>
        <p:spPr>
          <a:xfrm>
            <a:off x="409575" y="1943695"/>
            <a:ext cx="2864251"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USE CASE</a:t>
            </a:r>
            <a:endParaRPr lang="en-US" sz="750" dirty="0"/>
          </a:p>
        </p:txBody>
      </p:sp>
      <p:sp>
        <p:nvSpPr>
          <p:cNvPr id="9" name="Text 7"/>
          <p:cNvSpPr/>
          <p:nvPr/>
        </p:nvSpPr>
        <p:spPr>
          <a:xfrm>
            <a:off x="409575" y="2115145"/>
            <a:ext cx="2864251" cy="239911"/>
          </a:xfrm>
          <a:prstGeom prst="rect">
            <a:avLst/>
          </a:prstGeom>
          <a:noFill/>
          <a:ln/>
        </p:spPr>
        <p:txBody>
          <a:bodyPr wrap="square" lIns="0" tIns="0" rIns="0" bIns="0" rtlCol="0" anchor="t"/>
          <a:lstStyle/>
          <a:p>
            <a:pPr algn="l" indent="0" marL="0">
              <a:lnSpc>
                <a:spcPts val="945"/>
              </a:lnSpc>
              <a:buNone/>
            </a:pPr>
            <a:r>
              <a:rPr lang="en-US" sz="675" dirty="0">
                <a:solidFill>
                  <a:srgbClr val="FFFFFF">
                    <a:alpha val="70000"/>
                  </a:srgbClr>
                </a:solidFill>
                <a:latin typeface="Arial" pitchFamily="34" charset="0"/>
                <a:ea typeface="Arial" pitchFamily="34" charset="-122"/>
                <a:cs typeface="Arial" pitchFamily="34" charset="-120"/>
              </a:rPr>
              <a:t>Quick, professional chat messages. Maintains conversational tone while keeping it workplace-appropriate.</a:t>
            </a:r>
            <a:endParaRPr lang="en-US" sz="675" dirty="0"/>
          </a:p>
        </p:txBody>
      </p:sp>
      <p:sp>
        <p:nvSpPr>
          <p:cNvPr id="10" name="Text 8"/>
          <p:cNvSpPr/>
          <p:nvPr/>
        </p:nvSpPr>
        <p:spPr>
          <a:xfrm>
            <a:off x="266700" y="2736056"/>
            <a:ext cx="3065264" cy="804863"/>
          </a:xfrm>
          <a:prstGeom prst="rect">
            <a:avLst/>
          </a:prstGeom>
          <a:solidFill>
            <a:srgbClr val="FFFFFF">
              <a:alpha val="5000"/>
            </a:srgbClr>
          </a:solidFill>
          <a:ln/>
        </p:spPr>
        <p:txBody>
          <a:bodyPr wrap="square" rtlCol="0" anchor="ctr"/>
          <a:lstStyle/>
          <a:p>
            <a:pPr indent="0" marL="0">
              <a:buNone/>
            </a:pPr>
            <a:endParaRPr lang="en-US" dirty="0"/>
          </a:p>
        </p:txBody>
      </p:sp>
      <p:sp>
        <p:nvSpPr>
          <p:cNvPr id="11" name="Text 9"/>
          <p:cNvSpPr/>
          <p:nvPr/>
        </p:nvSpPr>
        <p:spPr>
          <a:xfrm>
            <a:off x="381000" y="2850356"/>
            <a:ext cx="2893397" cy="133350"/>
          </a:xfrm>
          <a:prstGeom prst="rect">
            <a:avLst/>
          </a:prstGeom>
          <a:noFill/>
          <a:ln/>
        </p:spPr>
        <p:txBody>
          <a:bodyPr wrap="square" lIns="0" tIns="0" rIns="0" bIns="0" rtlCol="0" anchor="t"/>
          <a:lstStyle/>
          <a:p>
            <a:pPr algn="l" indent="0" marL="0">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CONTEXT SETTINGS</a:t>
            </a:r>
            <a:endParaRPr lang="en-US" sz="750" dirty="0"/>
          </a:p>
        </p:txBody>
      </p:sp>
      <p:sp>
        <p:nvSpPr>
          <p:cNvPr id="12" name="Text 10"/>
          <p:cNvSpPr/>
          <p:nvPr/>
        </p:nvSpPr>
        <p:spPr>
          <a:xfrm>
            <a:off x="381000" y="3040856"/>
            <a:ext cx="2893397" cy="385763"/>
          </a:xfrm>
          <a:prstGeom prst="rect">
            <a:avLst/>
          </a:prstGeom>
          <a:noFill/>
          <a:ln/>
        </p:spPr>
        <p:txBody>
          <a:bodyPr wrap="square" lIns="0" tIns="0" rIns="0" bIns="0" rtlCol="0" anchor="t"/>
          <a:lstStyle/>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Application Context (detect Teams)</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 Selected Text (optional)</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 Clipboard Context (optional)</a:t>
            </a:r>
            <a:endParaRPr lang="en-US" sz="675" dirty="0"/>
          </a:p>
        </p:txBody>
      </p:sp>
      <p:sp>
        <p:nvSpPr>
          <p:cNvPr id="13" name="Text 11"/>
          <p:cNvSpPr/>
          <p:nvPr/>
        </p:nvSpPr>
        <p:spPr>
          <a:xfrm>
            <a:off x="266700" y="3807619"/>
            <a:ext cx="3065264" cy="721816"/>
          </a:xfrm>
          <a:prstGeom prst="rect">
            <a:avLst/>
          </a:prstGeom>
          <a:solidFill>
            <a:srgbClr val="FFFFFF">
              <a:alpha val="5000"/>
            </a:srgbClr>
          </a:solidFill>
          <a:ln/>
        </p:spPr>
        <p:txBody>
          <a:bodyPr wrap="square" rtlCol="0" anchor="ctr"/>
          <a:lstStyle/>
          <a:p>
            <a:pPr indent="0" marL="0">
              <a:buNone/>
            </a:pPr>
            <a:endParaRPr lang="en-US" dirty="0"/>
          </a:p>
        </p:txBody>
      </p:sp>
      <p:sp>
        <p:nvSpPr>
          <p:cNvPr id="14" name="Text 12"/>
          <p:cNvSpPr/>
          <p:nvPr/>
        </p:nvSpPr>
        <p:spPr>
          <a:xfrm>
            <a:off x="361950" y="3902869"/>
            <a:ext cx="2932259"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FFFFFF"/>
                </a:solidFill>
                <a:latin typeface="Arial" pitchFamily="34" charset="0"/>
                <a:ea typeface="Arial" pitchFamily="34" charset="-122"/>
                <a:cs typeface="Arial" pitchFamily="34" charset="-120"/>
              </a:rPr>
              <a:t>AUTO-ACTIVATION</a:t>
            </a:r>
            <a:endParaRPr lang="en-US" sz="750" dirty="0"/>
          </a:p>
        </p:txBody>
      </p:sp>
      <p:sp>
        <p:nvSpPr>
          <p:cNvPr id="15" name="Text 13"/>
          <p:cNvSpPr/>
          <p:nvPr/>
        </p:nvSpPr>
        <p:spPr>
          <a:xfrm>
            <a:off x="361950" y="4074319"/>
            <a:ext cx="2932259" cy="359866"/>
          </a:xfrm>
          <a:prstGeom prst="rect">
            <a:avLst/>
          </a:prstGeom>
          <a:noFill/>
          <a:ln/>
        </p:spPr>
        <p:txBody>
          <a:bodyPr wrap="square" lIns="0" tIns="0" rIns="0" bIns="0" rtlCol="0" anchor="t"/>
          <a:lstStyle/>
          <a:p>
            <a:pPr algn="l" indent="0" marL="0">
              <a:lnSpc>
                <a:spcPts val="945"/>
              </a:lnSpc>
              <a:buNone/>
            </a:pPr>
            <a:r>
              <a:rPr lang="en-US" sz="675" dirty="0">
                <a:solidFill>
                  <a:srgbClr val="FFFFFF">
                    <a:alpha val="60000"/>
                  </a:srgbClr>
                </a:solidFill>
                <a:latin typeface="Arial" pitchFamily="34" charset="0"/>
                <a:ea typeface="Arial" pitchFamily="34" charset="-122"/>
                <a:cs typeface="Arial" pitchFamily="34" charset="-120"/>
              </a:rPr>
              <a:t>Microsoft Teams</a:t>
            </a:r>
            <a:endParaRPr lang="en-US" sz="675" dirty="0"/>
          </a:p>
          <a:p>
            <a:pPr algn="l" indent="0" marL="0">
              <a:lnSpc>
                <a:spcPts val="945"/>
              </a:lnSpc>
              <a:buNone/>
            </a:pPr>
            <a:r>
              <a:rPr lang="en-US" sz="675" dirty="0">
                <a:solidFill>
                  <a:srgbClr val="FFFFFF">
                    <a:alpha val="60000"/>
                  </a:srgbClr>
                </a:solidFill>
                <a:latin typeface="Arial" pitchFamily="34" charset="0"/>
                <a:ea typeface="Arial" pitchFamily="34" charset="-122"/>
                <a:cs typeface="Arial" pitchFamily="34" charset="-120"/>
              </a:rPr>
              <a:t> Slack (optional)</a:t>
            </a:r>
            <a:endParaRPr lang="en-US" sz="675" dirty="0"/>
          </a:p>
          <a:p>
            <a:pPr algn="l" indent="0" marL="0">
              <a:lnSpc>
                <a:spcPts val="945"/>
              </a:lnSpc>
              <a:buNone/>
            </a:pPr>
            <a:r>
              <a:rPr lang="en-US" sz="675" dirty="0">
                <a:solidFill>
                  <a:srgbClr val="FFFFFF">
                    <a:alpha val="60000"/>
                  </a:srgbClr>
                </a:solidFill>
                <a:latin typeface="Arial" pitchFamily="34" charset="0"/>
                <a:ea typeface="Arial" pitchFamily="34" charset="-122"/>
                <a:cs typeface="Arial" pitchFamily="34" charset="-120"/>
              </a:rPr>
              <a:t> Discord (optional)</a:t>
            </a:r>
            <a:endParaRPr lang="en-US" sz="675" dirty="0"/>
          </a:p>
        </p:txBody>
      </p:sp>
      <p:sp>
        <p:nvSpPr>
          <p:cNvPr id="16" name="Text 14"/>
          <p:cNvSpPr/>
          <p:nvPr/>
        </p:nvSpPr>
        <p:spPr>
          <a:xfrm>
            <a:off x="266700" y="4681835"/>
            <a:ext cx="3065264" cy="258961"/>
          </a:xfrm>
          <a:prstGeom prst="rect">
            <a:avLst/>
          </a:prstGeom>
          <a:solidFill>
            <a:srgbClr val="FEF3C7"/>
          </a:solidFill>
          <a:ln/>
        </p:spPr>
        <p:txBody>
          <a:bodyPr wrap="square" rtlCol="0" anchor="ctr"/>
          <a:lstStyle/>
          <a:p>
            <a:pPr indent="0" marL="0">
              <a:buNone/>
            </a:pPr>
            <a:endParaRPr lang="en-US" dirty="0"/>
          </a:p>
        </p:txBody>
      </p:sp>
      <p:sp>
        <p:nvSpPr>
          <p:cNvPr id="17" name="Shape 15"/>
          <p:cNvSpPr/>
          <p:nvPr/>
        </p:nvSpPr>
        <p:spPr>
          <a:xfrm>
            <a:off x="280988" y="4681835"/>
            <a:ext cx="0" cy="258961"/>
          </a:xfrm>
          <a:prstGeom prst="line">
            <a:avLst/>
          </a:prstGeom>
          <a:noFill/>
          <a:ln w="28575">
            <a:solidFill>
              <a:srgbClr val="F59E0B"/>
            </a:solidFill>
            <a:prstDash val="solid"/>
          </a:ln>
        </p:spPr>
      </p:sp>
      <p:sp>
        <p:nvSpPr>
          <p:cNvPr id="18" name="Text 16"/>
          <p:cNvSpPr/>
          <p:nvPr/>
        </p:nvSpPr>
        <p:spPr>
          <a:xfrm>
            <a:off x="371475" y="4758035"/>
            <a:ext cx="2941975" cy="106561"/>
          </a:xfrm>
          <a:prstGeom prst="rect">
            <a:avLst/>
          </a:prstGeom>
          <a:noFill/>
          <a:ln/>
        </p:spPr>
        <p:txBody>
          <a:bodyPr wrap="square" lIns="0" tIns="0" rIns="0" bIns="0" rtlCol="0" anchor="t"/>
          <a:lstStyle/>
          <a:p>
            <a:pPr algn="l" indent="0" marL="0">
              <a:lnSpc>
                <a:spcPts val="840"/>
              </a:lnSpc>
              <a:buNone/>
            </a:pPr>
            <a:r>
              <a:rPr lang="en-US" sz="600" b="1" dirty="0">
                <a:solidFill>
                  <a:srgbClr val="92400E"/>
                </a:solidFill>
                <a:latin typeface="Arial" pitchFamily="34" charset="0"/>
                <a:ea typeface="Arial" pitchFamily="34" charset="-122"/>
                <a:cs typeface="Arial" pitchFamily="34" charset="-120"/>
              </a:rPr>
              <a:t>Note:</a:t>
            </a:r>
            <a:pPr algn="l" indent="0" marL="0">
              <a:lnSpc>
                <a:spcPts val="840"/>
              </a:lnSpc>
              <a:buNone/>
            </a:pPr>
            <a:r>
              <a:rPr lang="en-US" sz="600" dirty="0">
                <a:solidFill>
                  <a:srgbClr val="92400E"/>
                </a:solidFill>
                <a:latin typeface="Arial" pitchFamily="34" charset="0"/>
                <a:ea typeface="Arial" pitchFamily="34" charset="-122"/>
                <a:cs typeface="Arial" pitchFamily="34" charset="-120"/>
              </a:rPr>
              <a:t> Teams has no native dictation.</a:t>
            </a:r>
            <a:endParaRPr lang="en-US" sz="600" dirty="0"/>
          </a:p>
        </p:txBody>
      </p:sp>
      <p:sp>
        <p:nvSpPr>
          <p:cNvPr id="19" name="Text 17"/>
          <p:cNvSpPr/>
          <p:nvPr/>
        </p:nvSpPr>
        <p:spPr>
          <a:xfrm>
            <a:off x="3751064" y="0"/>
            <a:ext cx="5392936" cy="5143500"/>
          </a:xfrm>
          <a:prstGeom prst="rect">
            <a:avLst/>
          </a:prstGeom>
          <a:solidFill>
            <a:srgbClr val="F7F8FA"/>
          </a:solidFill>
          <a:ln/>
        </p:spPr>
        <p:txBody>
          <a:bodyPr wrap="square" rtlCol="0" anchor="ctr"/>
          <a:lstStyle/>
          <a:p>
            <a:pPr indent="0" marL="0">
              <a:buNone/>
            </a:pPr>
            <a:endParaRPr lang="en-US" dirty="0"/>
          </a:p>
        </p:txBody>
      </p:sp>
      <p:sp>
        <p:nvSpPr>
          <p:cNvPr id="20" name="Text 18"/>
          <p:cNvSpPr/>
          <p:nvPr/>
        </p:nvSpPr>
        <p:spPr>
          <a:xfrm>
            <a:off x="4017764" y="444401"/>
            <a:ext cx="4956727" cy="159990"/>
          </a:xfrm>
          <a:prstGeom prst="rect">
            <a:avLst/>
          </a:prstGeom>
          <a:noFill/>
          <a:ln/>
        </p:spPr>
        <p:txBody>
          <a:bodyPr wrap="square" lIns="0" tIns="0" rIns="0" bIns="0" rtlCol="0" anchor="t"/>
          <a:lstStyle/>
          <a:p>
            <a:pPr algn="l" indent="0" marL="0">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SAMPLE AI INSTRUCTIONS</a:t>
            </a:r>
            <a:endParaRPr lang="en-US" sz="900" dirty="0"/>
          </a:p>
        </p:txBody>
      </p:sp>
      <p:sp>
        <p:nvSpPr>
          <p:cNvPr id="21" name="Text 19"/>
          <p:cNvSpPr/>
          <p:nvPr/>
        </p:nvSpPr>
        <p:spPr>
          <a:xfrm>
            <a:off x="4017764" y="871091"/>
            <a:ext cx="4859536" cy="2422327"/>
          </a:xfrm>
          <a:prstGeom prst="rect">
            <a:avLst/>
          </a:prstGeom>
          <a:solidFill>
            <a:srgbClr val="1A1F2E"/>
          </a:solidFill>
          <a:ln/>
        </p:spPr>
        <p:txBody>
          <a:bodyPr wrap="square" rtlCol="0" anchor="ctr"/>
          <a:lstStyle/>
          <a:p>
            <a:pPr indent="0" marL="0">
              <a:buNone/>
            </a:pPr>
            <a:endParaRPr lang="en-US" dirty="0"/>
          </a:p>
        </p:txBody>
      </p:sp>
      <p:sp>
        <p:nvSpPr>
          <p:cNvPr id="22" name="Text 20"/>
          <p:cNvSpPr/>
          <p:nvPr/>
        </p:nvSpPr>
        <p:spPr>
          <a:xfrm>
            <a:off x="4170164" y="1023491"/>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3" name="Text 21"/>
          <p:cNvSpPr/>
          <p:nvPr/>
        </p:nvSpPr>
        <p:spPr>
          <a:xfrm>
            <a:off x="4170164" y="1187202"/>
            <a:ext cx="4645831" cy="106561"/>
          </a:xfrm>
          <a:prstGeom prst="rect">
            <a:avLst/>
          </a:prstGeom>
          <a:noFill/>
          <a:ln/>
        </p:spPr>
        <p:txBody>
          <a:bodyPr wrap="square" lIns="76200" tIns="0" rIns="0" bIns="0" rtlCol="0" anchor="t"/>
          <a:lstStyle/>
          <a:p>
            <a:pPr algn="l" indent="0" marL="0">
              <a:lnSpc>
                <a:spcPts val="84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You are a workplace chat assistant</a:t>
            </a:r>
            <a:endParaRPr lang="en-US" sz="600" dirty="0"/>
          </a:p>
        </p:txBody>
      </p:sp>
      <p:sp>
        <p:nvSpPr>
          <p:cNvPr id="24" name="Text 22"/>
          <p:cNvSpPr/>
          <p:nvPr/>
        </p:nvSpPr>
        <p:spPr>
          <a:xfrm>
            <a:off x="4170164" y="1350913"/>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5" name="Text 23"/>
          <p:cNvSpPr/>
          <p:nvPr/>
        </p:nvSpPr>
        <p:spPr>
          <a:xfrm>
            <a:off x="4170164" y="1514624"/>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6" name="Text 24"/>
          <p:cNvSpPr/>
          <p:nvPr/>
        </p:nvSpPr>
        <p:spPr>
          <a:xfrm>
            <a:off x="4170164" y="1678335"/>
            <a:ext cx="4645831" cy="342900"/>
          </a:xfrm>
          <a:prstGeom prst="rect">
            <a:avLst/>
          </a:prstGeom>
          <a:noFill/>
          <a:ln/>
        </p:spPr>
        <p:txBody>
          <a:bodyPr wrap="square" lIns="76200" tIns="0" rIns="0" bIns="0" rtlCol="0" anchor="t"/>
          <a:lstStyle/>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Format the User Message for Teams chat.</a:t>
            </a:r>
            <a:endParaRPr lang="en-US" sz="600" dirty="0"/>
          </a:p>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Keep it conversational but professional.</a:t>
            </a:r>
            <a:endParaRPr lang="en-US" sz="600" dirty="0"/>
          </a:p>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Messages should feel natural, not formal.</a:t>
            </a:r>
            <a:endParaRPr lang="en-US" sz="600" dirty="0"/>
          </a:p>
        </p:txBody>
      </p:sp>
      <p:sp>
        <p:nvSpPr>
          <p:cNvPr id="27" name="Text 25"/>
          <p:cNvSpPr/>
          <p:nvPr/>
        </p:nvSpPr>
        <p:spPr>
          <a:xfrm>
            <a:off x="4170164" y="2078385"/>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8" name="Text 26"/>
          <p:cNvSpPr/>
          <p:nvPr/>
        </p:nvSpPr>
        <p:spPr>
          <a:xfrm>
            <a:off x="4170164" y="2242096"/>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9" name="Text 27"/>
          <p:cNvSpPr/>
          <p:nvPr/>
        </p:nvSpPr>
        <p:spPr>
          <a:xfrm>
            <a:off x="4170164" y="2405807"/>
            <a:ext cx="4645831" cy="571500"/>
          </a:xfrm>
          <a:prstGeom prst="rect">
            <a:avLst/>
          </a:prstGeom>
          <a:noFill/>
          <a:ln/>
        </p:spPr>
        <p:txBody>
          <a:bodyPr wrap="square" lIns="76200" tIns="0" rIns="0" bIns="0" rtlCol="0" anchor="t"/>
          <a:lstStyle/>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Short, direct messages (no essays)</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Professional but friendly tone</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Handle @mentions as usernames</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No formal greetings/signatures</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Add appropriate punctuation only</a:t>
            </a:r>
            <a:endParaRPr lang="en-US" sz="600" dirty="0"/>
          </a:p>
        </p:txBody>
      </p:sp>
      <p:sp>
        <p:nvSpPr>
          <p:cNvPr id="30" name="Text 28"/>
          <p:cNvSpPr/>
          <p:nvPr/>
        </p:nvSpPr>
        <p:spPr>
          <a:xfrm>
            <a:off x="4170164" y="3034457"/>
            <a:ext cx="4645831" cy="106561"/>
          </a:xfrm>
          <a:prstGeom prst="rect">
            <a:avLst/>
          </a:prstGeom>
          <a:noFill/>
          <a:ln/>
        </p:spPr>
        <p:txBody>
          <a:bodyPr wrap="square" lIns="0" tIns="0" rIns="0" bIns="0" rtlCol="0" anchor="t"/>
          <a:lstStyle/>
          <a:p>
            <a:pPr algn="l" indent="0" marL="0">
              <a:lnSpc>
                <a:spcPts val="840"/>
              </a:lnSpc>
              <a:spcBef>
                <a:spcPts val="450"/>
              </a:spcBef>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31" name="Text 29"/>
          <p:cNvSpPr/>
          <p:nvPr/>
        </p:nvSpPr>
        <p:spPr>
          <a:xfrm>
            <a:off x="4017764" y="3569643"/>
            <a:ext cx="2386905" cy="561677"/>
          </a:xfrm>
          <a:prstGeom prst="rect">
            <a:avLst/>
          </a:prstGeom>
          <a:solidFill>
            <a:srgbClr val="DBEAFE"/>
          </a:solidFill>
          <a:ln/>
        </p:spPr>
        <p:txBody>
          <a:bodyPr wrap="square" rtlCol="0" anchor="ctr"/>
          <a:lstStyle/>
          <a:p>
            <a:pPr indent="0" marL="0">
              <a:buNone/>
            </a:pPr>
            <a:endParaRPr lang="en-US" dirty="0"/>
          </a:p>
        </p:txBody>
      </p:sp>
      <p:sp>
        <p:nvSpPr>
          <p:cNvPr id="32" name="Shape 30"/>
          <p:cNvSpPr/>
          <p:nvPr/>
        </p:nvSpPr>
        <p:spPr>
          <a:xfrm>
            <a:off x="4032052" y="3569643"/>
            <a:ext cx="0" cy="561677"/>
          </a:xfrm>
          <a:prstGeom prst="line">
            <a:avLst/>
          </a:prstGeom>
          <a:noFill/>
          <a:ln w="28575">
            <a:solidFill>
              <a:srgbClr val="3B82F6"/>
            </a:solidFill>
            <a:prstDash val="solid"/>
          </a:ln>
        </p:spPr>
      </p:sp>
      <p:sp>
        <p:nvSpPr>
          <p:cNvPr id="33" name="Text 31"/>
          <p:cNvSpPr/>
          <p:nvPr/>
        </p:nvSpPr>
        <p:spPr>
          <a:xfrm>
            <a:off x="4141589" y="3664893"/>
            <a:ext cx="2211187" cy="119955"/>
          </a:xfrm>
          <a:prstGeom prst="rect">
            <a:avLst/>
          </a:prstGeom>
          <a:noFill/>
          <a:ln/>
        </p:spPr>
        <p:txBody>
          <a:bodyPr wrap="square" lIns="0" tIns="0" rIns="0" bIns="0" rtlCol="0" anchor="t"/>
          <a:lstStyle/>
          <a:p>
            <a:pPr algn="l" indent="0" marL="0">
              <a:lnSpc>
                <a:spcPts val="945"/>
              </a:lnSpc>
              <a:spcAft>
                <a:spcPts val="300"/>
              </a:spcAft>
              <a:buNone/>
            </a:pPr>
            <a:r>
              <a:rPr lang="en-US" sz="675" b="1" dirty="0">
                <a:solidFill>
                  <a:srgbClr val="1E40AF"/>
                </a:solidFill>
                <a:latin typeface="Arial" pitchFamily="34" charset="0"/>
                <a:ea typeface="Arial" pitchFamily="34" charset="-122"/>
                <a:cs typeface="Arial" pitchFamily="34" charset="-120"/>
              </a:rPr>
              <a:t>EXAMPLE INPUT</a:t>
            </a:r>
            <a:endParaRPr lang="en-US" sz="675" dirty="0"/>
          </a:p>
        </p:txBody>
      </p:sp>
      <p:sp>
        <p:nvSpPr>
          <p:cNvPr id="34" name="Text 32"/>
          <p:cNvSpPr/>
          <p:nvPr/>
        </p:nvSpPr>
        <p:spPr>
          <a:xfrm>
            <a:off x="4141589" y="3822948"/>
            <a:ext cx="2211187" cy="213122"/>
          </a:xfrm>
          <a:prstGeom prst="rect">
            <a:avLst/>
          </a:prstGeom>
          <a:noFill/>
          <a:ln/>
        </p:spPr>
        <p:txBody>
          <a:bodyPr wrap="square" lIns="0" tIns="0" rIns="0" bIns="0" rtlCol="0" anchor="t"/>
          <a:lstStyle/>
          <a:p>
            <a:pPr algn="l" indent="0" marL="0">
              <a:lnSpc>
                <a:spcPts val="840"/>
              </a:lnSpc>
              <a:buNone/>
            </a:pPr>
            <a:r>
              <a:rPr lang="en-US" sz="600" dirty="0">
                <a:solidFill>
                  <a:srgbClr val="1E40AF"/>
                </a:solidFill>
                <a:latin typeface="Arial" pitchFamily="34" charset="0"/>
                <a:ea typeface="Arial" pitchFamily="34" charset="-122"/>
                <a:cs typeface="Arial" pitchFamily="34" charset="-120"/>
              </a:rPr>
              <a:t>"hey can you let Sarah know that the meeting got moved to three PM and we'll need her to bring the quarterly report"</a:t>
            </a:r>
            <a:endParaRPr lang="en-US" sz="600" dirty="0"/>
          </a:p>
        </p:txBody>
      </p:sp>
      <p:sp>
        <p:nvSpPr>
          <p:cNvPr id="35" name="Text 33"/>
          <p:cNvSpPr/>
          <p:nvPr/>
        </p:nvSpPr>
        <p:spPr>
          <a:xfrm>
            <a:off x="6499920" y="3560118"/>
            <a:ext cx="2377380" cy="580727"/>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36" name="Text 34"/>
          <p:cNvSpPr/>
          <p:nvPr/>
        </p:nvSpPr>
        <p:spPr>
          <a:xfrm>
            <a:off x="6604695" y="3664893"/>
            <a:ext cx="2211187" cy="119955"/>
          </a:xfrm>
          <a:prstGeom prst="rect">
            <a:avLst/>
          </a:prstGeom>
          <a:noFill/>
          <a:ln/>
        </p:spPr>
        <p:txBody>
          <a:bodyPr wrap="square" lIns="0" tIns="0" rIns="0" bIns="0" rtlCol="0" anchor="t"/>
          <a:lstStyle/>
          <a:p>
            <a:pPr algn="l" indent="0" marL="0">
              <a:lnSpc>
                <a:spcPts val="945"/>
              </a:lnSpc>
              <a:spcAft>
                <a:spcPts val="300"/>
              </a:spcAft>
              <a:buNone/>
            </a:pPr>
            <a:r>
              <a:rPr lang="en-US" sz="675" b="1" dirty="0">
                <a:solidFill>
                  <a:srgbClr val="1A1F2E"/>
                </a:solidFill>
                <a:latin typeface="Arial" pitchFamily="34" charset="0"/>
                <a:ea typeface="Arial" pitchFamily="34" charset="-122"/>
                <a:cs typeface="Arial" pitchFamily="34" charset="-120"/>
              </a:rPr>
              <a:t>EXAMPLE OUTPUT</a:t>
            </a:r>
            <a:endParaRPr lang="en-US" sz="675" dirty="0"/>
          </a:p>
        </p:txBody>
      </p:sp>
      <p:sp>
        <p:nvSpPr>
          <p:cNvPr id="37" name="Text 35"/>
          <p:cNvSpPr/>
          <p:nvPr/>
        </p:nvSpPr>
        <p:spPr>
          <a:xfrm>
            <a:off x="6604695" y="3822948"/>
            <a:ext cx="2211187" cy="213122"/>
          </a:xfrm>
          <a:prstGeom prst="rect">
            <a:avLst/>
          </a:prstGeom>
          <a:noFill/>
          <a:ln/>
        </p:spPr>
        <p:txBody>
          <a:bodyPr wrap="square" lIns="0" tIns="0" rIns="0" bIns="0" rtlCol="0" anchor="t"/>
          <a:lstStyle/>
          <a:p>
            <a:pPr algn="l" indent="0" marL="0">
              <a:lnSpc>
                <a:spcPts val="840"/>
              </a:lnSpc>
              <a:buNone/>
            </a:pPr>
            <a:r>
              <a:rPr lang="en-US" sz="600" dirty="0">
                <a:solidFill>
                  <a:srgbClr val="6B7280"/>
                </a:solidFill>
                <a:latin typeface="Arial" pitchFamily="34" charset="0"/>
                <a:ea typeface="Arial" pitchFamily="34" charset="-122"/>
                <a:cs typeface="Arial" pitchFamily="34" charset="-120"/>
              </a:rPr>
              <a:t>Hey @Sarah, heads up - the meeting got moved to 3 PM. Can you bring the quarterly report?</a:t>
            </a:r>
            <a:endParaRPr lang="en-US" sz="600" dirty="0"/>
          </a:p>
        </p:txBody>
      </p:sp>
      <p:sp>
        <p:nvSpPr>
          <p:cNvPr id="38" name="Text 36"/>
          <p:cNvSpPr/>
          <p:nvPr/>
        </p:nvSpPr>
        <p:spPr>
          <a:xfrm>
            <a:off x="4017764" y="4388495"/>
            <a:ext cx="4859536" cy="310455"/>
          </a:xfrm>
          <a:prstGeom prst="rect">
            <a:avLst/>
          </a:prstGeom>
          <a:solidFill>
            <a:srgbClr val="DCFCE7"/>
          </a:solidFill>
          <a:ln/>
        </p:spPr>
        <p:txBody>
          <a:bodyPr wrap="square" rtlCol="0" anchor="ctr"/>
          <a:lstStyle/>
          <a:p>
            <a:pPr indent="0" marL="0">
              <a:buNone/>
            </a:pPr>
            <a:endParaRPr lang="en-US" dirty="0"/>
          </a:p>
        </p:txBody>
      </p:sp>
      <p:sp>
        <p:nvSpPr>
          <p:cNvPr id="39" name="Shape 37"/>
          <p:cNvSpPr/>
          <p:nvPr/>
        </p:nvSpPr>
        <p:spPr>
          <a:xfrm>
            <a:off x="4032052" y="4388495"/>
            <a:ext cx="0" cy="310455"/>
          </a:xfrm>
          <a:prstGeom prst="line">
            <a:avLst/>
          </a:prstGeom>
          <a:noFill/>
          <a:ln w="28575">
            <a:solidFill>
              <a:srgbClr val="059669"/>
            </a:solidFill>
            <a:prstDash val="solid"/>
          </a:ln>
        </p:spPr>
      </p:sp>
      <p:sp>
        <p:nvSpPr>
          <p:cNvPr id="40" name="Text 38"/>
          <p:cNvSpPr/>
          <p:nvPr/>
        </p:nvSpPr>
        <p:spPr>
          <a:xfrm>
            <a:off x="4141589" y="4483745"/>
            <a:ext cx="4733270" cy="119955"/>
          </a:xfrm>
          <a:prstGeom prst="rect">
            <a:avLst/>
          </a:prstGeom>
          <a:noFill/>
          <a:ln/>
        </p:spPr>
        <p:txBody>
          <a:bodyPr wrap="square" lIns="0" tIns="0" rIns="0" bIns="0" rtlCol="0" anchor="t"/>
          <a:lstStyle/>
          <a:p>
            <a:pPr algn="l" indent="0" marL="0">
              <a:lnSpc>
                <a:spcPts val="945"/>
              </a:lnSpc>
              <a:buNone/>
            </a:pPr>
            <a:r>
              <a:rPr lang="en-US" sz="675" b="1" dirty="0">
                <a:solidFill>
                  <a:srgbClr val="166534"/>
                </a:solidFill>
                <a:latin typeface="Arial" pitchFamily="34" charset="0"/>
                <a:ea typeface="Arial" pitchFamily="34" charset="-122"/>
                <a:cs typeface="Arial" pitchFamily="34" charset="-120"/>
              </a:rPr>
              <a:t>Pro tip:</a:t>
            </a:r>
            <a:pPr algn="l" indent="0" marL="0">
              <a:lnSpc>
                <a:spcPts val="945"/>
              </a:lnSpc>
              <a:buNone/>
            </a:pPr>
            <a:r>
              <a:rPr lang="en-US" sz="675" dirty="0">
                <a:solidFill>
                  <a:srgbClr val="166534"/>
                </a:solidFill>
                <a:latin typeface="Arial" pitchFamily="34" charset="0"/>
                <a:ea typeface="Arial" pitchFamily="34" charset="-122"/>
                <a:cs typeface="Arial" pitchFamily="34" charset="-120"/>
              </a:rPr>
              <a:t> Say "at Sarah" to get @Sarah. The AI learns to convert spoken mentions to proper format.</a:t>
            </a:r>
            <a:endParaRPr lang="en-US" sz="675"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3598664" cy="5143500"/>
          </a:xfrm>
          <a:prstGeom prst="rect">
            <a:avLst/>
          </a:prstGeom>
          <a:solidFill>
            <a:srgbClr val="1A1F2E"/>
          </a:solidFill>
          <a:ln/>
        </p:spPr>
        <p:txBody>
          <a:bodyPr wrap="square" rtlCol="0" anchor="ctr"/>
          <a:lstStyle/>
          <a:p>
            <a:pPr indent="0" marL="0">
              <a:buNone/>
            </a:pPr>
            <a:endParaRPr lang="en-US" dirty="0"/>
          </a:p>
        </p:txBody>
      </p:sp>
      <p:sp>
        <p:nvSpPr>
          <p:cNvPr id="3" name="Text 1"/>
          <p:cNvSpPr/>
          <p:nvPr/>
        </p:nvSpPr>
        <p:spPr>
          <a:xfrm>
            <a:off x="266700" y="240804"/>
            <a:ext cx="778073" cy="220861"/>
          </a:xfrm>
          <a:prstGeom prst="rect">
            <a:avLst/>
          </a:prstGeom>
          <a:solidFill>
            <a:srgbClr val="8B5CF6"/>
          </a:solidFill>
          <a:ln/>
        </p:spPr>
        <p:txBody>
          <a:bodyPr wrap="square" rtlCol="0" anchor="ctr"/>
          <a:lstStyle/>
          <a:p>
            <a:pPr indent="0" marL="0">
              <a:buNone/>
            </a:pPr>
            <a:endParaRPr lang="en-US" dirty="0"/>
          </a:p>
        </p:txBody>
      </p:sp>
      <p:sp>
        <p:nvSpPr>
          <p:cNvPr id="4" name="Text 2"/>
          <p:cNvSpPr/>
          <p:nvPr/>
        </p:nvSpPr>
        <p:spPr>
          <a:xfrm>
            <a:off x="361950" y="297954"/>
            <a:ext cx="599325" cy="106561"/>
          </a:xfrm>
          <a:prstGeom prst="rect">
            <a:avLst/>
          </a:prstGeom>
          <a:noFill/>
          <a:ln/>
        </p:spPr>
        <p:txBody>
          <a:bodyPr wrap="square" lIns="0" tIns="0" rIns="0" bIns="0" rtlCol="0" anchor="t"/>
          <a:lstStyle/>
          <a:p>
            <a:pPr algn="l" indent="0" marL="0">
              <a:lnSpc>
                <a:spcPts val="840"/>
              </a:lnSpc>
              <a:buNone/>
            </a:pPr>
            <a:r>
              <a:rPr lang="en-US" sz="600" b="1" dirty="0">
                <a:solidFill>
                  <a:srgbClr val="FFFFFF"/>
                </a:solidFill>
                <a:latin typeface="Arial" pitchFamily="34" charset="0"/>
                <a:ea typeface="Arial" pitchFamily="34" charset="-122"/>
                <a:cs typeface="Arial" pitchFamily="34" charset="-120"/>
              </a:rPr>
              <a:t>MODE 3 OF 5</a:t>
            </a:r>
            <a:endParaRPr lang="en-US" sz="600" dirty="0"/>
          </a:p>
        </p:txBody>
      </p:sp>
      <p:sp>
        <p:nvSpPr>
          <p:cNvPr id="5" name="Text 3"/>
          <p:cNvSpPr/>
          <p:nvPr/>
        </p:nvSpPr>
        <p:spPr>
          <a:xfrm>
            <a:off x="266700" y="709315"/>
            <a:ext cx="1573911" cy="548580"/>
          </a:xfrm>
          <a:prstGeom prst="rect">
            <a:avLst/>
          </a:prstGeom>
          <a:noFill/>
          <a:ln/>
        </p:spPr>
        <p:txBody>
          <a:bodyPr wrap="square" lIns="0" tIns="0" rIns="0" bIns="0" rtlCol="0" anchor="t"/>
          <a:lstStyle/>
          <a:p>
            <a:pPr algn="l" indent="0" marL="0">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Professional</a:t>
            </a:r>
            <a:endParaRPr lang="en-US" sz="1800" dirty="0"/>
          </a:p>
          <a:p>
            <a:pPr algn="l" indent="0" marL="0">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Email Mode</a:t>
            </a:r>
            <a:endParaRPr lang="en-US" sz="1800" dirty="0"/>
          </a:p>
        </p:txBody>
      </p:sp>
      <p:sp>
        <p:nvSpPr>
          <p:cNvPr id="6" name="Text 4"/>
          <p:cNvSpPr/>
          <p:nvPr/>
        </p:nvSpPr>
        <p:spPr>
          <a:xfrm>
            <a:off x="266700" y="1829395"/>
            <a:ext cx="3065264" cy="639961"/>
          </a:xfrm>
          <a:prstGeom prst="rect">
            <a:avLst/>
          </a:prstGeom>
          <a:solidFill>
            <a:srgbClr val="C9A227">
              <a:alpha val="15000"/>
            </a:srgbClr>
          </a:solidFill>
          <a:ln/>
        </p:spPr>
        <p:txBody>
          <a:bodyPr wrap="square" rtlCol="0" anchor="ctr"/>
          <a:lstStyle/>
          <a:p>
            <a:pPr indent="0" marL="0">
              <a:buNone/>
            </a:pPr>
            <a:endParaRPr lang="en-US" dirty="0"/>
          </a:p>
        </p:txBody>
      </p:sp>
      <p:sp>
        <p:nvSpPr>
          <p:cNvPr id="7" name="Shape 5"/>
          <p:cNvSpPr/>
          <p:nvPr/>
        </p:nvSpPr>
        <p:spPr>
          <a:xfrm>
            <a:off x="280988" y="1829395"/>
            <a:ext cx="0" cy="639961"/>
          </a:xfrm>
          <a:prstGeom prst="line">
            <a:avLst/>
          </a:prstGeom>
          <a:noFill/>
          <a:ln w="28575">
            <a:solidFill>
              <a:srgbClr val="C9A227"/>
            </a:solidFill>
            <a:prstDash val="solid"/>
          </a:ln>
        </p:spPr>
      </p:sp>
      <p:sp>
        <p:nvSpPr>
          <p:cNvPr id="8" name="Text 6"/>
          <p:cNvSpPr/>
          <p:nvPr/>
        </p:nvSpPr>
        <p:spPr>
          <a:xfrm>
            <a:off x="409575" y="1943695"/>
            <a:ext cx="2864251"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USE CASE</a:t>
            </a:r>
            <a:endParaRPr lang="en-US" sz="750" dirty="0"/>
          </a:p>
        </p:txBody>
      </p:sp>
      <p:sp>
        <p:nvSpPr>
          <p:cNvPr id="9" name="Text 7"/>
          <p:cNvSpPr/>
          <p:nvPr/>
        </p:nvSpPr>
        <p:spPr>
          <a:xfrm>
            <a:off x="409575" y="2115145"/>
            <a:ext cx="2864251" cy="239911"/>
          </a:xfrm>
          <a:prstGeom prst="rect">
            <a:avLst/>
          </a:prstGeom>
          <a:noFill/>
          <a:ln/>
        </p:spPr>
        <p:txBody>
          <a:bodyPr wrap="square" lIns="0" tIns="0" rIns="0" bIns="0" rtlCol="0" anchor="t"/>
          <a:lstStyle/>
          <a:p>
            <a:pPr algn="l" indent="0" marL="0">
              <a:lnSpc>
                <a:spcPts val="945"/>
              </a:lnSpc>
              <a:buNone/>
            </a:pPr>
            <a:r>
              <a:rPr lang="en-US" sz="675" dirty="0">
                <a:solidFill>
                  <a:srgbClr val="FFFFFF">
                    <a:alpha val="70000"/>
                  </a:srgbClr>
                </a:solidFill>
                <a:latin typeface="Arial" pitchFamily="34" charset="0"/>
                <a:ea typeface="Arial" pitchFamily="34" charset="-122"/>
                <a:cs typeface="Arial" pitchFamily="34" charset="-120"/>
              </a:rPr>
              <a:t>Transform rambling dictation into well-structured, professional emails. Perfect for busy schedules.</a:t>
            </a:r>
            <a:endParaRPr lang="en-US" sz="675" dirty="0"/>
          </a:p>
        </p:txBody>
      </p:sp>
      <p:sp>
        <p:nvSpPr>
          <p:cNvPr id="10" name="Text 8"/>
          <p:cNvSpPr/>
          <p:nvPr/>
        </p:nvSpPr>
        <p:spPr>
          <a:xfrm>
            <a:off x="266700" y="2736056"/>
            <a:ext cx="3065264" cy="804863"/>
          </a:xfrm>
          <a:prstGeom prst="rect">
            <a:avLst/>
          </a:prstGeom>
          <a:solidFill>
            <a:srgbClr val="FFFFFF">
              <a:alpha val="5000"/>
            </a:srgbClr>
          </a:solidFill>
          <a:ln/>
        </p:spPr>
        <p:txBody>
          <a:bodyPr wrap="square" rtlCol="0" anchor="ctr"/>
          <a:lstStyle/>
          <a:p>
            <a:pPr indent="0" marL="0">
              <a:buNone/>
            </a:pPr>
            <a:endParaRPr lang="en-US" dirty="0"/>
          </a:p>
        </p:txBody>
      </p:sp>
      <p:sp>
        <p:nvSpPr>
          <p:cNvPr id="11" name="Text 9"/>
          <p:cNvSpPr/>
          <p:nvPr/>
        </p:nvSpPr>
        <p:spPr>
          <a:xfrm>
            <a:off x="381000" y="2850356"/>
            <a:ext cx="2893397" cy="133350"/>
          </a:xfrm>
          <a:prstGeom prst="rect">
            <a:avLst/>
          </a:prstGeom>
          <a:noFill/>
          <a:ln/>
        </p:spPr>
        <p:txBody>
          <a:bodyPr wrap="square" lIns="0" tIns="0" rIns="0" bIns="0" rtlCol="0" anchor="t"/>
          <a:lstStyle/>
          <a:p>
            <a:pPr algn="l" indent="0" marL="0">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CONTEXT SETTINGS</a:t>
            </a:r>
            <a:endParaRPr lang="en-US" sz="750" dirty="0"/>
          </a:p>
        </p:txBody>
      </p:sp>
      <p:sp>
        <p:nvSpPr>
          <p:cNvPr id="12" name="Text 10"/>
          <p:cNvSpPr/>
          <p:nvPr/>
        </p:nvSpPr>
        <p:spPr>
          <a:xfrm>
            <a:off x="381000" y="3040856"/>
            <a:ext cx="2893397" cy="385763"/>
          </a:xfrm>
          <a:prstGeom prst="rect">
            <a:avLst/>
          </a:prstGeom>
          <a:noFill/>
          <a:ln/>
        </p:spPr>
        <p:txBody>
          <a:bodyPr wrap="square" lIns="0" tIns="0" rIns="0" bIns="0" rtlCol="0" anchor="t"/>
          <a:lstStyle/>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Application Context (detect Outlook)</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 Selected Text (reply context)</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 Clipboard Context (optional)</a:t>
            </a:r>
            <a:endParaRPr lang="en-US" sz="675" dirty="0"/>
          </a:p>
        </p:txBody>
      </p:sp>
      <p:sp>
        <p:nvSpPr>
          <p:cNvPr id="13" name="Text 11"/>
          <p:cNvSpPr/>
          <p:nvPr/>
        </p:nvSpPr>
        <p:spPr>
          <a:xfrm>
            <a:off x="266700" y="3807619"/>
            <a:ext cx="3065264" cy="721816"/>
          </a:xfrm>
          <a:prstGeom prst="rect">
            <a:avLst/>
          </a:prstGeom>
          <a:solidFill>
            <a:srgbClr val="FFFFFF">
              <a:alpha val="5000"/>
            </a:srgbClr>
          </a:solidFill>
          <a:ln/>
        </p:spPr>
        <p:txBody>
          <a:bodyPr wrap="square" rtlCol="0" anchor="ctr"/>
          <a:lstStyle/>
          <a:p>
            <a:pPr indent="0" marL="0">
              <a:buNone/>
            </a:pPr>
            <a:endParaRPr lang="en-US" dirty="0"/>
          </a:p>
        </p:txBody>
      </p:sp>
      <p:sp>
        <p:nvSpPr>
          <p:cNvPr id="14" name="Text 12"/>
          <p:cNvSpPr/>
          <p:nvPr/>
        </p:nvSpPr>
        <p:spPr>
          <a:xfrm>
            <a:off x="361950" y="3902869"/>
            <a:ext cx="2932259"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FFFFFF"/>
                </a:solidFill>
                <a:latin typeface="Arial" pitchFamily="34" charset="0"/>
                <a:ea typeface="Arial" pitchFamily="34" charset="-122"/>
                <a:cs typeface="Arial" pitchFamily="34" charset="-120"/>
              </a:rPr>
              <a:t>AUTO-ACTIVATION</a:t>
            </a:r>
            <a:endParaRPr lang="en-US" sz="750" dirty="0"/>
          </a:p>
        </p:txBody>
      </p:sp>
      <p:sp>
        <p:nvSpPr>
          <p:cNvPr id="15" name="Text 13"/>
          <p:cNvSpPr/>
          <p:nvPr/>
        </p:nvSpPr>
        <p:spPr>
          <a:xfrm>
            <a:off x="361950" y="4074319"/>
            <a:ext cx="2932259" cy="359866"/>
          </a:xfrm>
          <a:prstGeom prst="rect">
            <a:avLst/>
          </a:prstGeom>
          <a:noFill/>
          <a:ln/>
        </p:spPr>
        <p:txBody>
          <a:bodyPr wrap="square" lIns="0" tIns="0" rIns="0" bIns="0" rtlCol="0" anchor="t"/>
          <a:lstStyle/>
          <a:p>
            <a:pPr algn="l" indent="0" marL="0">
              <a:lnSpc>
                <a:spcPts val="945"/>
              </a:lnSpc>
              <a:buNone/>
            </a:pPr>
            <a:r>
              <a:rPr lang="en-US" sz="675" dirty="0">
                <a:solidFill>
                  <a:srgbClr val="FFFFFF">
                    <a:alpha val="60000"/>
                  </a:srgbClr>
                </a:solidFill>
                <a:latin typeface="Arial" pitchFamily="34" charset="0"/>
                <a:ea typeface="Arial" pitchFamily="34" charset="-122"/>
                <a:cs typeface="Arial" pitchFamily="34" charset="-120"/>
              </a:rPr>
              <a:t>Microsoft Outlook</a:t>
            </a:r>
            <a:endParaRPr lang="en-US" sz="675" dirty="0"/>
          </a:p>
          <a:p>
            <a:pPr algn="l" indent="0" marL="0">
              <a:lnSpc>
                <a:spcPts val="945"/>
              </a:lnSpc>
              <a:buNone/>
            </a:pPr>
            <a:r>
              <a:rPr lang="en-US" sz="675" dirty="0">
                <a:solidFill>
                  <a:srgbClr val="FFFFFF">
                    <a:alpha val="60000"/>
                  </a:srgbClr>
                </a:solidFill>
                <a:latin typeface="Arial" pitchFamily="34" charset="0"/>
                <a:ea typeface="Arial" pitchFamily="34" charset="-122"/>
                <a:cs typeface="Arial" pitchFamily="34" charset="-120"/>
              </a:rPr>
              <a:t> Gmail (browser)</a:t>
            </a:r>
            <a:endParaRPr lang="en-US" sz="675" dirty="0"/>
          </a:p>
          <a:p>
            <a:pPr algn="l" indent="0" marL="0">
              <a:lnSpc>
                <a:spcPts val="945"/>
              </a:lnSpc>
              <a:buNone/>
            </a:pPr>
            <a:r>
              <a:rPr lang="en-US" sz="675" dirty="0">
                <a:solidFill>
                  <a:srgbClr val="FFFFFF">
                    <a:alpha val="60000"/>
                  </a:srgbClr>
                </a:solidFill>
                <a:latin typeface="Arial" pitchFamily="34" charset="0"/>
                <a:ea typeface="Arial" pitchFamily="34" charset="-122"/>
                <a:cs typeface="Arial" pitchFamily="34" charset="-120"/>
              </a:rPr>
              <a:t> Apple Mail</a:t>
            </a:r>
            <a:endParaRPr lang="en-US" sz="675" dirty="0"/>
          </a:p>
        </p:txBody>
      </p:sp>
      <p:sp>
        <p:nvSpPr>
          <p:cNvPr id="16" name="Text 14"/>
          <p:cNvSpPr/>
          <p:nvPr/>
        </p:nvSpPr>
        <p:spPr>
          <a:xfrm>
            <a:off x="266700" y="4681835"/>
            <a:ext cx="3065264" cy="258961"/>
          </a:xfrm>
          <a:prstGeom prst="rect">
            <a:avLst/>
          </a:prstGeom>
          <a:solidFill>
            <a:srgbClr val="059669"/>
          </a:solidFill>
          <a:ln/>
        </p:spPr>
        <p:txBody>
          <a:bodyPr wrap="square" rtlCol="0" anchor="ctr"/>
          <a:lstStyle/>
          <a:p>
            <a:pPr indent="0" marL="0">
              <a:buNone/>
            </a:pPr>
            <a:endParaRPr lang="en-US" dirty="0"/>
          </a:p>
        </p:txBody>
      </p:sp>
      <p:sp>
        <p:nvSpPr>
          <p:cNvPr id="17" name="Text 15"/>
          <p:cNvSpPr/>
          <p:nvPr/>
        </p:nvSpPr>
        <p:spPr>
          <a:xfrm>
            <a:off x="313771" y="4758035"/>
            <a:ext cx="2971121" cy="106561"/>
          </a:xfrm>
          <a:prstGeom prst="rect">
            <a:avLst/>
          </a:prstGeom>
          <a:noFill/>
          <a:ln/>
        </p:spPr>
        <p:txBody>
          <a:bodyPr wrap="square" lIns="0" tIns="0" rIns="0" bIns="0" rtlCol="0" anchor="t"/>
          <a:lstStyle/>
          <a:p>
            <a:pPr algn="ctr" indent="0" marL="0">
              <a:lnSpc>
                <a:spcPts val="840"/>
              </a:lnSpc>
              <a:buNone/>
            </a:pPr>
            <a:r>
              <a:rPr lang="en-US" sz="600" dirty="0">
                <a:solidFill>
                  <a:srgbClr val="FFFFFF"/>
                </a:solidFill>
                <a:latin typeface="Arial" pitchFamily="34" charset="0"/>
                <a:ea typeface="Arial" pitchFamily="34" charset="-122"/>
                <a:cs typeface="Arial" pitchFamily="34" charset="-120"/>
              </a:rPr>
              <a:t>Uses your name from system context</a:t>
            </a:r>
            <a:endParaRPr lang="en-US" sz="600" dirty="0"/>
          </a:p>
        </p:txBody>
      </p:sp>
      <p:sp>
        <p:nvSpPr>
          <p:cNvPr id="18" name="Text 16"/>
          <p:cNvSpPr/>
          <p:nvPr/>
        </p:nvSpPr>
        <p:spPr>
          <a:xfrm>
            <a:off x="3751064" y="0"/>
            <a:ext cx="5392936" cy="5143500"/>
          </a:xfrm>
          <a:prstGeom prst="rect">
            <a:avLst/>
          </a:prstGeom>
          <a:solidFill>
            <a:srgbClr val="F7F8FA"/>
          </a:solidFill>
          <a:ln/>
        </p:spPr>
        <p:txBody>
          <a:bodyPr wrap="square" rtlCol="0" anchor="ctr"/>
          <a:lstStyle/>
          <a:p>
            <a:pPr indent="0" marL="0">
              <a:buNone/>
            </a:pPr>
            <a:endParaRPr lang="en-US" dirty="0"/>
          </a:p>
        </p:txBody>
      </p:sp>
      <p:sp>
        <p:nvSpPr>
          <p:cNvPr id="19" name="Text 17"/>
          <p:cNvSpPr/>
          <p:nvPr/>
        </p:nvSpPr>
        <p:spPr>
          <a:xfrm>
            <a:off x="4017764" y="228600"/>
            <a:ext cx="4956727" cy="159990"/>
          </a:xfrm>
          <a:prstGeom prst="rect">
            <a:avLst/>
          </a:prstGeom>
          <a:noFill/>
          <a:ln/>
        </p:spPr>
        <p:txBody>
          <a:bodyPr wrap="square" lIns="0" tIns="0" rIns="0" bIns="0" rtlCol="0" anchor="t"/>
          <a:lstStyle/>
          <a:p>
            <a:pPr algn="l" indent="0" marL="0">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SAMPLE AI INSTRUCTIONS</a:t>
            </a:r>
            <a:endParaRPr lang="en-US" sz="900" dirty="0"/>
          </a:p>
        </p:txBody>
      </p:sp>
      <p:sp>
        <p:nvSpPr>
          <p:cNvPr id="20" name="Text 18"/>
          <p:cNvSpPr/>
          <p:nvPr/>
        </p:nvSpPr>
        <p:spPr>
          <a:xfrm>
            <a:off x="4017764" y="655290"/>
            <a:ext cx="4859536" cy="2321272"/>
          </a:xfrm>
          <a:prstGeom prst="rect">
            <a:avLst/>
          </a:prstGeom>
          <a:solidFill>
            <a:srgbClr val="1A1F2E"/>
          </a:solidFill>
          <a:ln/>
        </p:spPr>
        <p:txBody>
          <a:bodyPr wrap="square" rtlCol="0" anchor="ctr"/>
          <a:lstStyle/>
          <a:p>
            <a:pPr indent="0" marL="0">
              <a:buNone/>
            </a:pPr>
            <a:endParaRPr lang="en-US" dirty="0"/>
          </a:p>
        </p:txBody>
      </p:sp>
      <p:sp>
        <p:nvSpPr>
          <p:cNvPr id="21" name="Text 19"/>
          <p:cNvSpPr/>
          <p:nvPr/>
        </p:nvSpPr>
        <p:spPr>
          <a:xfrm>
            <a:off x="4170164" y="807690"/>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2" name="Text 20"/>
          <p:cNvSpPr/>
          <p:nvPr/>
        </p:nvSpPr>
        <p:spPr>
          <a:xfrm>
            <a:off x="4170164" y="971401"/>
            <a:ext cx="4645831" cy="106561"/>
          </a:xfrm>
          <a:prstGeom prst="rect">
            <a:avLst/>
          </a:prstGeom>
          <a:noFill/>
          <a:ln/>
        </p:spPr>
        <p:txBody>
          <a:bodyPr wrap="square" lIns="76200" tIns="0" rIns="0" bIns="0" rtlCol="0" anchor="t"/>
          <a:lstStyle/>
          <a:p>
            <a:pPr algn="l" indent="0" marL="0">
              <a:lnSpc>
                <a:spcPts val="84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You are a professional email editor</a:t>
            </a:r>
            <a:endParaRPr lang="en-US" sz="600" dirty="0"/>
          </a:p>
        </p:txBody>
      </p:sp>
      <p:sp>
        <p:nvSpPr>
          <p:cNvPr id="23" name="Text 21"/>
          <p:cNvSpPr/>
          <p:nvPr/>
        </p:nvSpPr>
        <p:spPr>
          <a:xfrm>
            <a:off x="4170164" y="1135112"/>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4" name="Text 22"/>
          <p:cNvSpPr/>
          <p:nvPr/>
        </p:nvSpPr>
        <p:spPr>
          <a:xfrm>
            <a:off x="4170164" y="1298823"/>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5" name="Text 23"/>
          <p:cNvSpPr/>
          <p:nvPr/>
        </p:nvSpPr>
        <p:spPr>
          <a:xfrm>
            <a:off x="4170164" y="1462534"/>
            <a:ext cx="4645831" cy="571500"/>
          </a:xfrm>
          <a:prstGeom prst="rect">
            <a:avLst/>
          </a:prstGeom>
          <a:noFill/>
          <a:ln/>
        </p:spPr>
        <p:txBody>
          <a:bodyPr wrap="square" lIns="76200" tIns="0" rIns="0" bIns="0" rtlCol="0" anchor="t"/>
          <a:lstStyle/>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The User Message is dictated speech.</a:t>
            </a:r>
            <a:endParaRPr lang="en-US" sz="600" dirty="0"/>
          </a:p>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Format into a professional email with:</a:t>
            </a:r>
            <a:endParaRPr lang="en-US" sz="600" dirty="0"/>
          </a:p>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 Appropriate greeting</a:t>
            </a:r>
            <a:endParaRPr lang="en-US" sz="600" dirty="0"/>
          </a:p>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 Clear paragraphs</a:t>
            </a:r>
            <a:endParaRPr lang="en-US" sz="600" dirty="0"/>
          </a:p>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 Professional closing</a:t>
            </a:r>
            <a:endParaRPr lang="en-US" sz="600" dirty="0"/>
          </a:p>
        </p:txBody>
      </p:sp>
      <p:sp>
        <p:nvSpPr>
          <p:cNvPr id="26" name="Text 24"/>
          <p:cNvSpPr/>
          <p:nvPr/>
        </p:nvSpPr>
        <p:spPr>
          <a:xfrm>
            <a:off x="4170164" y="2091184"/>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7" name="Text 25"/>
          <p:cNvSpPr/>
          <p:nvPr/>
        </p:nvSpPr>
        <p:spPr>
          <a:xfrm>
            <a:off x="4170164" y="2254895"/>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8" name="Text 26"/>
          <p:cNvSpPr/>
          <p:nvPr/>
        </p:nvSpPr>
        <p:spPr>
          <a:xfrm>
            <a:off x="4170164" y="2418606"/>
            <a:ext cx="4645831" cy="571500"/>
          </a:xfrm>
          <a:prstGeom prst="rect">
            <a:avLst/>
          </a:prstGeom>
          <a:noFill/>
          <a:ln/>
        </p:spPr>
        <p:txBody>
          <a:bodyPr wrap="square" lIns="76200" tIns="0" rIns="0" bIns="0" rtlCol="0" anchor="t"/>
          <a:lstStyle/>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Professional but warm tone</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Structure logically</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Use my name for signature</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If Selected Text exists, treat as</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email being replied to</a:t>
            </a:r>
            <a:endParaRPr lang="en-US" sz="600" dirty="0"/>
          </a:p>
        </p:txBody>
      </p:sp>
      <p:sp>
        <p:nvSpPr>
          <p:cNvPr id="29" name="Text 27"/>
          <p:cNvSpPr/>
          <p:nvPr/>
        </p:nvSpPr>
        <p:spPr>
          <a:xfrm>
            <a:off x="4170164" y="3047256"/>
            <a:ext cx="4645831" cy="106561"/>
          </a:xfrm>
          <a:prstGeom prst="rect">
            <a:avLst/>
          </a:prstGeom>
          <a:noFill/>
          <a:ln/>
        </p:spPr>
        <p:txBody>
          <a:bodyPr wrap="square" lIns="0" tIns="0" rIns="0" bIns="0" rtlCol="0" anchor="t"/>
          <a:lstStyle/>
          <a:p>
            <a:pPr algn="l" indent="0" marL="0">
              <a:lnSpc>
                <a:spcPts val="840"/>
              </a:lnSpc>
              <a:spcBef>
                <a:spcPts val="450"/>
              </a:spcBef>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30" name="Text 28"/>
          <p:cNvSpPr/>
          <p:nvPr/>
        </p:nvSpPr>
        <p:spPr>
          <a:xfrm>
            <a:off x="4017764" y="3412629"/>
            <a:ext cx="2386905" cy="774799"/>
          </a:xfrm>
          <a:prstGeom prst="rect">
            <a:avLst/>
          </a:prstGeom>
          <a:solidFill>
            <a:srgbClr val="EDE9FE"/>
          </a:solidFill>
          <a:ln/>
        </p:spPr>
        <p:txBody>
          <a:bodyPr wrap="square" rtlCol="0" anchor="ctr"/>
          <a:lstStyle/>
          <a:p>
            <a:pPr indent="0" marL="0">
              <a:buNone/>
            </a:pPr>
            <a:endParaRPr lang="en-US" dirty="0"/>
          </a:p>
        </p:txBody>
      </p:sp>
      <p:sp>
        <p:nvSpPr>
          <p:cNvPr id="31" name="Shape 29"/>
          <p:cNvSpPr/>
          <p:nvPr/>
        </p:nvSpPr>
        <p:spPr>
          <a:xfrm>
            <a:off x="4032052" y="3412629"/>
            <a:ext cx="0" cy="774799"/>
          </a:xfrm>
          <a:prstGeom prst="line">
            <a:avLst/>
          </a:prstGeom>
          <a:noFill/>
          <a:ln w="28575">
            <a:solidFill>
              <a:srgbClr val="8B5CF6"/>
            </a:solidFill>
            <a:prstDash val="solid"/>
          </a:ln>
        </p:spPr>
      </p:sp>
      <p:sp>
        <p:nvSpPr>
          <p:cNvPr id="32" name="Text 30"/>
          <p:cNvSpPr/>
          <p:nvPr/>
        </p:nvSpPr>
        <p:spPr>
          <a:xfrm>
            <a:off x="4141589" y="3507879"/>
            <a:ext cx="2211187" cy="119955"/>
          </a:xfrm>
          <a:prstGeom prst="rect">
            <a:avLst/>
          </a:prstGeom>
          <a:noFill/>
          <a:ln/>
        </p:spPr>
        <p:txBody>
          <a:bodyPr wrap="square" lIns="0" tIns="0" rIns="0" bIns="0" rtlCol="0" anchor="t"/>
          <a:lstStyle/>
          <a:p>
            <a:pPr algn="l" indent="0" marL="0">
              <a:lnSpc>
                <a:spcPts val="945"/>
              </a:lnSpc>
              <a:spcAft>
                <a:spcPts val="300"/>
              </a:spcAft>
              <a:buNone/>
            </a:pPr>
            <a:r>
              <a:rPr lang="en-US" sz="675" b="1" dirty="0">
                <a:solidFill>
                  <a:srgbClr val="5B21B6"/>
                </a:solidFill>
                <a:latin typeface="Arial" pitchFamily="34" charset="0"/>
                <a:ea typeface="Arial" pitchFamily="34" charset="-122"/>
                <a:cs typeface="Arial" pitchFamily="34" charset="-120"/>
              </a:rPr>
              <a:t>EXAMPLE INPUT</a:t>
            </a:r>
            <a:endParaRPr lang="en-US" sz="675" dirty="0"/>
          </a:p>
        </p:txBody>
      </p:sp>
      <p:sp>
        <p:nvSpPr>
          <p:cNvPr id="33" name="Text 31"/>
          <p:cNvSpPr/>
          <p:nvPr/>
        </p:nvSpPr>
        <p:spPr>
          <a:xfrm>
            <a:off x="4141589" y="3665934"/>
            <a:ext cx="2211187" cy="426244"/>
          </a:xfrm>
          <a:prstGeom prst="rect">
            <a:avLst/>
          </a:prstGeom>
          <a:noFill/>
          <a:ln/>
        </p:spPr>
        <p:txBody>
          <a:bodyPr wrap="square" lIns="0" tIns="0" rIns="0" bIns="0" rtlCol="0" anchor="t"/>
          <a:lstStyle/>
          <a:p>
            <a:pPr algn="l" indent="0" marL="0">
              <a:lnSpc>
                <a:spcPts val="840"/>
              </a:lnSpc>
              <a:buNone/>
            </a:pPr>
            <a:r>
              <a:rPr lang="en-US" sz="600" dirty="0">
                <a:solidFill>
                  <a:srgbClr val="5B21B6"/>
                </a:solidFill>
                <a:latin typeface="Arial" pitchFamily="34" charset="0"/>
                <a:ea typeface="Arial" pitchFamily="34" charset="-122"/>
                <a:cs typeface="Arial" pitchFamily="34" charset="-120"/>
              </a:rPr>
              <a:t>"okay so I need to follow up with Dr Martinez about the data request we talked about last week and ask if she got the files I sent and when she thinks she can get back to me with her analysis"</a:t>
            </a:r>
            <a:endParaRPr lang="en-US" sz="600" dirty="0"/>
          </a:p>
        </p:txBody>
      </p:sp>
      <p:sp>
        <p:nvSpPr>
          <p:cNvPr id="34" name="Text 32"/>
          <p:cNvSpPr/>
          <p:nvPr/>
        </p:nvSpPr>
        <p:spPr>
          <a:xfrm>
            <a:off x="6499920" y="3243263"/>
            <a:ext cx="2377380" cy="1113532"/>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35" name="Text 33"/>
          <p:cNvSpPr/>
          <p:nvPr/>
        </p:nvSpPr>
        <p:spPr>
          <a:xfrm>
            <a:off x="6604695" y="3348038"/>
            <a:ext cx="2211187" cy="119955"/>
          </a:xfrm>
          <a:prstGeom prst="rect">
            <a:avLst/>
          </a:prstGeom>
          <a:noFill/>
          <a:ln/>
        </p:spPr>
        <p:txBody>
          <a:bodyPr wrap="square" lIns="0" tIns="0" rIns="0" bIns="0" rtlCol="0" anchor="t"/>
          <a:lstStyle/>
          <a:p>
            <a:pPr algn="l" indent="0" marL="0">
              <a:lnSpc>
                <a:spcPts val="945"/>
              </a:lnSpc>
              <a:spcAft>
                <a:spcPts val="300"/>
              </a:spcAft>
              <a:buNone/>
            </a:pPr>
            <a:r>
              <a:rPr lang="en-US" sz="675" b="1" dirty="0">
                <a:solidFill>
                  <a:srgbClr val="1A1F2E"/>
                </a:solidFill>
                <a:latin typeface="Arial" pitchFamily="34" charset="0"/>
                <a:ea typeface="Arial" pitchFamily="34" charset="-122"/>
                <a:cs typeface="Arial" pitchFamily="34" charset="-120"/>
              </a:rPr>
              <a:t>EXAMPLE OUTPUT</a:t>
            </a:r>
            <a:endParaRPr lang="en-US" sz="675" dirty="0"/>
          </a:p>
        </p:txBody>
      </p:sp>
      <p:sp>
        <p:nvSpPr>
          <p:cNvPr id="36" name="Text 34"/>
          <p:cNvSpPr/>
          <p:nvPr/>
        </p:nvSpPr>
        <p:spPr>
          <a:xfrm>
            <a:off x="6604695" y="3506093"/>
            <a:ext cx="2211187" cy="745927"/>
          </a:xfrm>
          <a:prstGeom prst="rect">
            <a:avLst/>
          </a:prstGeom>
          <a:noFill/>
          <a:ln/>
        </p:spPr>
        <p:txBody>
          <a:bodyPr wrap="square" lIns="0" tIns="0" rIns="0" bIns="0" rtlCol="0" anchor="t"/>
          <a:lstStyle/>
          <a:p>
            <a:pPr algn="l" indent="0" marL="0">
              <a:lnSpc>
                <a:spcPts val="840"/>
              </a:lnSpc>
              <a:buNone/>
            </a:pPr>
            <a:r>
              <a:rPr lang="en-US" sz="600" dirty="0">
                <a:solidFill>
                  <a:srgbClr val="6B7280"/>
                </a:solidFill>
                <a:latin typeface="Arial" pitchFamily="34" charset="0"/>
                <a:ea typeface="Arial" pitchFamily="34" charset="-122"/>
                <a:cs typeface="Arial" pitchFamily="34" charset="-120"/>
              </a:rPr>
              <a:t>Hi Dr. Martinez,</a:t>
            </a:r>
            <a:endParaRPr lang="en-US" sz="600" dirty="0"/>
          </a:p>
          <a:p>
            <a:pPr algn="l" indent="0" marL="0">
              <a:lnSpc>
                <a:spcPts val="840"/>
              </a:lnSpc>
              <a:buNone/>
            </a:pPr>
            <a:endParaRPr lang="en-US" sz="600" dirty="0"/>
          </a:p>
          <a:p>
            <a:pPr algn="l" indent="0" marL="0">
              <a:lnSpc>
                <a:spcPts val="840"/>
              </a:lnSpc>
              <a:buNone/>
            </a:pPr>
            <a:r>
              <a:rPr lang="en-US" sz="600" dirty="0">
                <a:solidFill>
                  <a:srgbClr val="6B7280"/>
                </a:solidFill>
                <a:latin typeface="Arial" pitchFamily="34" charset="0"/>
                <a:ea typeface="Arial" pitchFamily="34" charset="-122"/>
                <a:cs typeface="Arial" pitchFamily="34" charset="-120"/>
              </a:rPr>
              <a:t>I wanted to follow up on the data request we discussed last week...</a:t>
            </a:r>
            <a:endParaRPr lang="en-US" sz="600" dirty="0"/>
          </a:p>
          <a:p>
            <a:pPr algn="l" indent="0" marL="0">
              <a:lnSpc>
                <a:spcPts val="840"/>
              </a:lnSpc>
              <a:buNone/>
            </a:pPr>
            <a:endParaRPr lang="en-US" sz="600" dirty="0"/>
          </a:p>
          <a:p>
            <a:pPr algn="l" indent="0" marL="0">
              <a:lnSpc>
                <a:spcPts val="840"/>
              </a:lnSpc>
              <a:buNone/>
            </a:pPr>
            <a:r>
              <a:rPr lang="en-US" sz="600" dirty="0">
                <a:solidFill>
                  <a:srgbClr val="6B7280"/>
                </a:solidFill>
                <a:latin typeface="Arial" pitchFamily="34" charset="0"/>
                <a:ea typeface="Arial" pitchFamily="34" charset="-122"/>
                <a:cs typeface="Arial" pitchFamily="34" charset="-120"/>
              </a:rPr>
              <a:t>Best regards,</a:t>
            </a:r>
            <a:endParaRPr lang="en-US" sz="600" dirty="0"/>
          </a:p>
          <a:p>
            <a:pPr algn="l" indent="0" marL="0">
              <a:lnSpc>
                <a:spcPts val="840"/>
              </a:lnSpc>
              <a:buNone/>
            </a:pPr>
            <a:r>
              <a:rPr lang="en-US" sz="600" dirty="0">
                <a:solidFill>
                  <a:srgbClr val="6B7280"/>
                </a:solidFill>
                <a:latin typeface="Arial" pitchFamily="34" charset="0"/>
                <a:ea typeface="Arial" pitchFamily="34" charset="-122"/>
                <a:cs typeface="Arial" pitchFamily="34" charset="-120"/>
              </a:rPr>
              <a:t>[Your Name]</a:t>
            </a:r>
            <a:endParaRPr lang="en-US" sz="600" dirty="0"/>
          </a:p>
        </p:txBody>
      </p:sp>
      <p:sp>
        <p:nvSpPr>
          <p:cNvPr id="37" name="Text 35"/>
          <p:cNvSpPr/>
          <p:nvPr/>
        </p:nvSpPr>
        <p:spPr>
          <a:xfrm>
            <a:off x="4017764" y="4604445"/>
            <a:ext cx="4859536" cy="310455"/>
          </a:xfrm>
          <a:prstGeom prst="rect">
            <a:avLst/>
          </a:prstGeom>
          <a:solidFill>
            <a:srgbClr val="FEF3C7"/>
          </a:solidFill>
          <a:ln/>
        </p:spPr>
        <p:txBody>
          <a:bodyPr wrap="square" rtlCol="0" anchor="ctr"/>
          <a:lstStyle/>
          <a:p>
            <a:pPr indent="0" marL="0">
              <a:buNone/>
            </a:pPr>
            <a:endParaRPr lang="en-US" dirty="0"/>
          </a:p>
        </p:txBody>
      </p:sp>
      <p:sp>
        <p:nvSpPr>
          <p:cNvPr id="38" name="Shape 36"/>
          <p:cNvSpPr/>
          <p:nvPr/>
        </p:nvSpPr>
        <p:spPr>
          <a:xfrm>
            <a:off x="4032052" y="4604445"/>
            <a:ext cx="0" cy="310455"/>
          </a:xfrm>
          <a:prstGeom prst="line">
            <a:avLst/>
          </a:prstGeom>
          <a:noFill/>
          <a:ln w="28575">
            <a:solidFill>
              <a:srgbClr val="F59E0B"/>
            </a:solidFill>
            <a:prstDash val="solid"/>
          </a:ln>
        </p:spPr>
      </p:sp>
      <p:sp>
        <p:nvSpPr>
          <p:cNvPr id="39" name="Text 37"/>
          <p:cNvSpPr/>
          <p:nvPr/>
        </p:nvSpPr>
        <p:spPr>
          <a:xfrm>
            <a:off x="4141589" y="4699695"/>
            <a:ext cx="4733270" cy="119955"/>
          </a:xfrm>
          <a:prstGeom prst="rect">
            <a:avLst/>
          </a:prstGeom>
          <a:noFill/>
          <a:ln/>
        </p:spPr>
        <p:txBody>
          <a:bodyPr wrap="square" lIns="0" tIns="0" rIns="0" bIns="0" rtlCol="0" anchor="t"/>
          <a:lstStyle/>
          <a:p>
            <a:pPr algn="l" indent="0" marL="0">
              <a:lnSpc>
                <a:spcPts val="945"/>
              </a:lnSpc>
              <a:buNone/>
            </a:pPr>
            <a:r>
              <a:rPr lang="en-US" sz="675" b="1" dirty="0">
                <a:solidFill>
                  <a:srgbClr val="92400E"/>
                </a:solidFill>
                <a:latin typeface="Arial" pitchFamily="34" charset="0"/>
                <a:ea typeface="Arial" pitchFamily="34" charset="-122"/>
                <a:cs typeface="Arial" pitchFamily="34" charset="-120"/>
              </a:rPr>
              <a:t>Reply tip:</a:t>
            </a:r>
            <a:pPr algn="l" indent="0" marL="0">
              <a:lnSpc>
                <a:spcPts val="945"/>
              </a:lnSpc>
              <a:buNone/>
            </a:pPr>
            <a:r>
              <a:rPr lang="en-US" sz="675" dirty="0">
                <a:solidFill>
                  <a:srgbClr val="92400E"/>
                </a:solidFill>
                <a:latin typeface="Arial" pitchFamily="34" charset="0"/>
                <a:ea typeface="Arial" pitchFamily="34" charset="-122"/>
                <a:cs typeface="Arial" pitchFamily="34" charset="-120"/>
              </a:rPr>
              <a:t> Select the email you're replying to, then dictate. AI will format appropriately.</a:t>
            </a:r>
            <a:endParaRPr lang="en-US" sz="675"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3598664" cy="5143500"/>
          </a:xfrm>
          <a:prstGeom prst="rect">
            <a:avLst/>
          </a:prstGeom>
          <a:solidFill>
            <a:srgbClr val="1A1F2E"/>
          </a:solidFill>
          <a:ln/>
        </p:spPr>
        <p:txBody>
          <a:bodyPr wrap="square" rtlCol="0" anchor="ctr"/>
          <a:lstStyle/>
          <a:p>
            <a:pPr indent="0" marL="0">
              <a:buNone/>
            </a:pPr>
            <a:endParaRPr lang="en-US" dirty="0"/>
          </a:p>
        </p:txBody>
      </p:sp>
      <p:sp>
        <p:nvSpPr>
          <p:cNvPr id="3" name="Text 1"/>
          <p:cNvSpPr/>
          <p:nvPr/>
        </p:nvSpPr>
        <p:spPr>
          <a:xfrm>
            <a:off x="266700" y="278904"/>
            <a:ext cx="778073" cy="220861"/>
          </a:xfrm>
          <a:prstGeom prst="rect">
            <a:avLst/>
          </a:prstGeom>
          <a:solidFill>
            <a:srgbClr val="F59E0B"/>
          </a:solidFill>
          <a:ln/>
        </p:spPr>
        <p:txBody>
          <a:bodyPr wrap="square" rtlCol="0" anchor="ctr"/>
          <a:lstStyle/>
          <a:p>
            <a:pPr indent="0" marL="0">
              <a:buNone/>
            </a:pPr>
            <a:endParaRPr lang="en-US" dirty="0"/>
          </a:p>
        </p:txBody>
      </p:sp>
      <p:sp>
        <p:nvSpPr>
          <p:cNvPr id="4" name="Text 2"/>
          <p:cNvSpPr/>
          <p:nvPr/>
        </p:nvSpPr>
        <p:spPr>
          <a:xfrm>
            <a:off x="361950" y="336054"/>
            <a:ext cx="599325" cy="106561"/>
          </a:xfrm>
          <a:prstGeom prst="rect">
            <a:avLst/>
          </a:prstGeom>
          <a:noFill/>
          <a:ln/>
        </p:spPr>
        <p:txBody>
          <a:bodyPr wrap="square" lIns="0" tIns="0" rIns="0" bIns="0" rtlCol="0" anchor="t"/>
          <a:lstStyle/>
          <a:p>
            <a:pPr algn="l" indent="0" marL="0">
              <a:lnSpc>
                <a:spcPts val="840"/>
              </a:lnSpc>
              <a:buNone/>
            </a:pPr>
            <a:r>
              <a:rPr lang="en-US" sz="600" b="1" dirty="0">
                <a:solidFill>
                  <a:srgbClr val="1A1F2E"/>
                </a:solidFill>
                <a:latin typeface="Arial" pitchFamily="34" charset="0"/>
                <a:ea typeface="Arial" pitchFamily="34" charset="-122"/>
                <a:cs typeface="Arial" pitchFamily="34" charset="-120"/>
              </a:rPr>
              <a:t>MODE 4 OF 5</a:t>
            </a:r>
            <a:endParaRPr lang="en-US" sz="600" dirty="0"/>
          </a:p>
        </p:txBody>
      </p:sp>
      <p:sp>
        <p:nvSpPr>
          <p:cNvPr id="5" name="Text 3"/>
          <p:cNvSpPr/>
          <p:nvPr/>
        </p:nvSpPr>
        <p:spPr>
          <a:xfrm>
            <a:off x="266700" y="747415"/>
            <a:ext cx="1593342" cy="548580"/>
          </a:xfrm>
          <a:prstGeom prst="rect">
            <a:avLst/>
          </a:prstGeom>
          <a:noFill/>
          <a:ln/>
        </p:spPr>
        <p:txBody>
          <a:bodyPr wrap="square" lIns="0" tIns="0" rIns="0" bIns="0" rtlCol="0" anchor="t"/>
          <a:lstStyle/>
          <a:p>
            <a:pPr algn="l" indent="0" marL="0">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Claude Code</a:t>
            </a:r>
            <a:endParaRPr lang="en-US" sz="1800" dirty="0"/>
          </a:p>
          <a:p>
            <a:pPr algn="l" indent="0" marL="0">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Terminal Mode</a:t>
            </a:r>
            <a:endParaRPr lang="en-US" sz="1800" dirty="0"/>
          </a:p>
        </p:txBody>
      </p:sp>
      <p:sp>
        <p:nvSpPr>
          <p:cNvPr id="6" name="Text 4"/>
          <p:cNvSpPr/>
          <p:nvPr/>
        </p:nvSpPr>
        <p:spPr>
          <a:xfrm>
            <a:off x="266700" y="1867495"/>
            <a:ext cx="3065264" cy="639961"/>
          </a:xfrm>
          <a:prstGeom prst="rect">
            <a:avLst/>
          </a:prstGeom>
          <a:solidFill>
            <a:srgbClr val="C9A227">
              <a:alpha val="15000"/>
            </a:srgbClr>
          </a:solidFill>
          <a:ln/>
        </p:spPr>
        <p:txBody>
          <a:bodyPr wrap="square" rtlCol="0" anchor="ctr"/>
          <a:lstStyle/>
          <a:p>
            <a:pPr indent="0" marL="0">
              <a:buNone/>
            </a:pPr>
            <a:endParaRPr lang="en-US" dirty="0"/>
          </a:p>
        </p:txBody>
      </p:sp>
      <p:sp>
        <p:nvSpPr>
          <p:cNvPr id="7" name="Shape 5"/>
          <p:cNvSpPr/>
          <p:nvPr/>
        </p:nvSpPr>
        <p:spPr>
          <a:xfrm>
            <a:off x="280988" y="1867495"/>
            <a:ext cx="0" cy="639961"/>
          </a:xfrm>
          <a:prstGeom prst="line">
            <a:avLst/>
          </a:prstGeom>
          <a:noFill/>
          <a:ln w="28575">
            <a:solidFill>
              <a:srgbClr val="C9A227"/>
            </a:solidFill>
            <a:prstDash val="solid"/>
          </a:ln>
        </p:spPr>
      </p:sp>
      <p:sp>
        <p:nvSpPr>
          <p:cNvPr id="8" name="Text 6"/>
          <p:cNvSpPr/>
          <p:nvPr/>
        </p:nvSpPr>
        <p:spPr>
          <a:xfrm>
            <a:off x="409575" y="1981795"/>
            <a:ext cx="2864251"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USE CASE</a:t>
            </a:r>
            <a:endParaRPr lang="en-US" sz="750" dirty="0"/>
          </a:p>
        </p:txBody>
      </p:sp>
      <p:sp>
        <p:nvSpPr>
          <p:cNvPr id="9" name="Text 7"/>
          <p:cNvSpPr/>
          <p:nvPr/>
        </p:nvSpPr>
        <p:spPr>
          <a:xfrm>
            <a:off x="409575" y="2153245"/>
            <a:ext cx="2864251" cy="239911"/>
          </a:xfrm>
          <a:prstGeom prst="rect">
            <a:avLst/>
          </a:prstGeom>
          <a:noFill/>
          <a:ln/>
        </p:spPr>
        <p:txBody>
          <a:bodyPr wrap="square" lIns="0" tIns="0" rIns="0" bIns="0" rtlCol="0" anchor="t"/>
          <a:lstStyle/>
          <a:p>
            <a:pPr algn="l" indent="0" marL="0">
              <a:lnSpc>
                <a:spcPts val="945"/>
              </a:lnSpc>
              <a:buNone/>
            </a:pPr>
            <a:r>
              <a:rPr lang="en-US" sz="675" dirty="0">
                <a:solidFill>
                  <a:srgbClr val="FFFFFF">
                    <a:alpha val="70000"/>
                  </a:srgbClr>
                </a:solidFill>
                <a:latin typeface="Arial" pitchFamily="34" charset="0"/>
                <a:ea typeface="Arial" pitchFamily="34" charset="-122"/>
                <a:cs typeface="Arial" pitchFamily="34" charset="-120"/>
              </a:rPr>
              <a:t>Detailed prompts and instructions for Claude Code. Dictate complex requests instead of typing them.</a:t>
            </a:r>
            <a:endParaRPr lang="en-US" sz="675" dirty="0"/>
          </a:p>
        </p:txBody>
      </p:sp>
      <p:sp>
        <p:nvSpPr>
          <p:cNvPr id="10" name="Text 8"/>
          <p:cNvSpPr/>
          <p:nvPr/>
        </p:nvSpPr>
        <p:spPr>
          <a:xfrm>
            <a:off x="266700" y="2774156"/>
            <a:ext cx="3065264" cy="804863"/>
          </a:xfrm>
          <a:prstGeom prst="rect">
            <a:avLst/>
          </a:prstGeom>
          <a:solidFill>
            <a:srgbClr val="FFFFFF">
              <a:alpha val="5000"/>
            </a:srgbClr>
          </a:solidFill>
          <a:ln/>
        </p:spPr>
        <p:txBody>
          <a:bodyPr wrap="square" rtlCol="0" anchor="ctr"/>
          <a:lstStyle/>
          <a:p>
            <a:pPr indent="0" marL="0">
              <a:buNone/>
            </a:pPr>
            <a:endParaRPr lang="en-US" dirty="0"/>
          </a:p>
        </p:txBody>
      </p:sp>
      <p:sp>
        <p:nvSpPr>
          <p:cNvPr id="11" name="Text 9"/>
          <p:cNvSpPr/>
          <p:nvPr/>
        </p:nvSpPr>
        <p:spPr>
          <a:xfrm>
            <a:off x="381000" y="2888456"/>
            <a:ext cx="2893397" cy="133350"/>
          </a:xfrm>
          <a:prstGeom prst="rect">
            <a:avLst/>
          </a:prstGeom>
          <a:noFill/>
          <a:ln/>
        </p:spPr>
        <p:txBody>
          <a:bodyPr wrap="square" lIns="0" tIns="0" rIns="0" bIns="0" rtlCol="0" anchor="t"/>
          <a:lstStyle/>
          <a:p>
            <a:pPr algn="l" indent="0" marL="0">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CONTEXT SETTINGS</a:t>
            </a:r>
            <a:endParaRPr lang="en-US" sz="750" dirty="0"/>
          </a:p>
        </p:txBody>
      </p:sp>
      <p:sp>
        <p:nvSpPr>
          <p:cNvPr id="12" name="Text 10"/>
          <p:cNvSpPr/>
          <p:nvPr/>
        </p:nvSpPr>
        <p:spPr>
          <a:xfrm>
            <a:off x="381000" y="3078956"/>
            <a:ext cx="2893397" cy="385763"/>
          </a:xfrm>
          <a:prstGeom prst="rect">
            <a:avLst/>
          </a:prstGeom>
          <a:noFill/>
          <a:ln/>
        </p:spPr>
        <p:txBody>
          <a:bodyPr wrap="square" lIns="0" tIns="0" rIns="0" bIns="0" rtlCol="0" anchor="t"/>
          <a:lstStyle/>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Application Context (detect terminal)</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 Selected Text (optional)</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 Clipboard (error messages)</a:t>
            </a:r>
            <a:endParaRPr lang="en-US" sz="675" dirty="0"/>
          </a:p>
        </p:txBody>
      </p:sp>
      <p:sp>
        <p:nvSpPr>
          <p:cNvPr id="13" name="Text 11"/>
          <p:cNvSpPr/>
          <p:nvPr/>
        </p:nvSpPr>
        <p:spPr>
          <a:xfrm>
            <a:off x="266700" y="3845719"/>
            <a:ext cx="3065264" cy="721816"/>
          </a:xfrm>
          <a:prstGeom prst="rect">
            <a:avLst/>
          </a:prstGeom>
          <a:solidFill>
            <a:srgbClr val="FFFFFF">
              <a:alpha val="5000"/>
            </a:srgbClr>
          </a:solidFill>
          <a:ln/>
        </p:spPr>
        <p:txBody>
          <a:bodyPr wrap="square" rtlCol="0" anchor="ctr"/>
          <a:lstStyle/>
          <a:p>
            <a:pPr indent="0" marL="0">
              <a:buNone/>
            </a:pPr>
            <a:endParaRPr lang="en-US" dirty="0"/>
          </a:p>
        </p:txBody>
      </p:sp>
      <p:sp>
        <p:nvSpPr>
          <p:cNvPr id="14" name="Text 12"/>
          <p:cNvSpPr/>
          <p:nvPr/>
        </p:nvSpPr>
        <p:spPr>
          <a:xfrm>
            <a:off x="361950" y="3940969"/>
            <a:ext cx="2932259"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FFFFFF"/>
                </a:solidFill>
                <a:latin typeface="Arial" pitchFamily="34" charset="0"/>
                <a:ea typeface="Arial" pitchFamily="34" charset="-122"/>
                <a:cs typeface="Arial" pitchFamily="34" charset="-120"/>
              </a:rPr>
              <a:t>AUTO-ACTIVATION</a:t>
            </a:r>
            <a:endParaRPr lang="en-US" sz="750" dirty="0"/>
          </a:p>
        </p:txBody>
      </p:sp>
      <p:sp>
        <p:nvSpPr>
          <p:cNvPr id="15" name="Text 13"/>
          <p:cNvSpPr/>
          <p:nvPr/>
        </p:nvSpPr>
        <p:spPr>
          <a:xfrm>
            <a:off x="361950" y="4112419"/>
            <a:ext cx="2932259" cy="359866"/>
          </a:xfrm>
          <a:prstGeom prst="rect">
            <a:avLst/>
          </a:prstGeom>
          <a:noFill/>
          <a:ln/>
        </p:spPr>
        <p:txBody>
          <a:bodyPr wrap="square" lIns="0" tIns="0" rIns="0" bIns="0" rtlCol="0" anchor="t"/>
          <a:lstStyle/>
          <a:p>
            <a:pPr algn="l" indent="0" marL="0">
              <a:lnSpc>
                <a:spcPts val="945"/>
              </a:lnSpc>
              <a:buNone/>
            </a:pPr>
            <a:r>
              <a:rPr lang="en-US" sz="675" dirty="0">
                <a:solidFill>
                  <a:srgbClr val="FFFFFF">
                    <a:alpha val="60000"/>
                  </a:srgbClr>
                </a:solidFill>
                <a:latin typeface="Arial" pitchFamily="34" charset="0"/>
                <a:ea typeface="Arial" pitchFamily="34" charset="-122"/>
                <a:cs typeface="Arial" pitchFamily="34" charset="-120"/>
              </a:rPr>
              <a:t>Terminal.app / iTerm2</a:t>
            </a:r>
            <a:endParaRPr lang="en-US" sz="675" dirty="0"/>
          </a:p>
          <a:p>
            <a:pPr algn="l" indent="0" marL="0">
              <a:lnSpc>
                <a:spcPts val="945"/>
              </a:lnSpc>
              <a:buNone/>
            </a:pPr>
            <a:r>
              <a:rPr lang="en-US" sz="675" dirty="0">
                <a:solidFill>
                  <a:srgbClr val="FFFFFF">
                    <a:alpha val="60000"/>
                  </a:srgbClr>
                </a:solidFill>
                <a:latin typeface="Arial" pitchFamily="34" charset="0"/>
                <a:ea typeface="Arial" pitchFamily="34" charset="-122"/>
                <a:cs typeface="Arial" pitchFamily="34" charset="-120"/>
              </a:rPr>
              <a:t> Windows Terminal</a:t>
            </a:r>
            <a:endParaRPr lang="en-US" sz="675" dirty="0"/>
          </a:p>
          <a:p>
            <a:pPr algn="l" indent="0" marL="0">
              <a:lnSpc>
                <a:spcPts val="945"/>
              </a:lnSpc>
              <a:buNone/>
            </a:pPr>
            <a:r>
              <a:rPr lang="en-US" sz="675" dirty="0">
                <a:solidFill>
                  <a:srgbClr val="FFFFFF">
                    <a:alpha val="60000"/>
                  </a:srgbClr>
                </a:solidFill>
                <a:latin typeface="Arial" pitchFamily="34" charset="0"/>
                <a:ea typeface="Arial" pitchFamily="34" charset="-122"/>
                <a:cs typeface="Arial" pitchFamily="34" charset="-120"/>
              </a:rPr>
              <a:t> Warp</a:t>
            </a:r>
            <a:endParaRPr lang="en-US" sz="675" dirty="0"/>
          </a:p>
        </p:txBody>
      </p:sp>
      <p:sp>
        <p:nvSpPr>
          <p:cNvPr id="16" name="Text 14"/>
          <p:cNvSpPr/>
          <p:nvPr/>
        </p:nvSpPr>
        <p:spPr>
          <a:xfrm>
            <a:off x="266700" y="4719935"/>
            <a:ext cx="3065264" cy="258961"/>
          </a:xfrm>
          <a:prstGeom prst="rect">
            <a:avLst/>
          </a:prstGeom>
          <a:solidFill>
            <a:srgbClr val="DCFCE7"/>
          </a:solidFill>
          <a:ln/>
        </p:spPr>
        <p:txBody>
          <a:bodyPr wrap="square" rtlCol="0" anchor="ctr"/>
          <a:lstStyle/>
          <a:p>
            <a:pPr indent="0" marL="0">
              <a:buNone/>
            </a:pPr>
            <a:endParaRPr lang="en-US" dirty="0"/>
          </a:p>
        </p:txBody>
      </p:sp>
      <p:sp>
        <p:nvSpPr>
          <p:cNvPr id="17" name="Shape 15"/>
          <p:cNvSpPr/>
          <p:nvPr/>
        </p:nvSpPr>
        <p:spPr>
          <a:xfrm>
            <a:off x="280988" y="4719935"/>
            <a:ext cx="0" cy="258961"/>
          </a:xfrm>
          <a:prstGeom prst="line">
            <a:avLst/>
          </a:prstGeom>
          <a:noFill/>
          <a:ln w="28575">
            <a:solidFill>
              <a:srgbClr val="059669"/>
            </a:solidFill>
            <a:prstDash val="solid"/>
          </a:ln>
        </p:spPr>
      </p:sp>
      <p:sp>
        <p:nvSpPr>
          <p:cNvPr id="18" name="Text 16"/>
          <p:cNvSpPr/>
          <p:nvPr/>
        </p:nvSpPr>
        <p:spPr>
          <a:xfrm>
            <a:off x="371475" y="4796135"/>
            <a:ext cx="2941975" cy="106561"/>
          </a:xfrm>
          <a:prstGeom prst="rect">
            <a:avLst/>
          </a:prstGeom>
          <a:noFill/>
          <a:ln/>
        </p:spPr>
        <p:txBody>
          <a:bodyPr wrap="square" lIns="0" tIns="0" rIns="0" bIns="0" rtlCol="0" anchor="t"/>
          <a:lstStyle/>
          <a:p>
            <a:pPr algn="l" indent="0" marL="0">
              <a:lnSpc>
                <a:spcPts val="840"/>
              </a:lnSpc>
              <a:buNone/>
            </a:pPr>
            <a:r>
              <a:rPr lang="en-US" sz="600" b="1" dirty="0">
                <a:solidFill>
                  <a:srgbClr val="166534"/>
                </a:solidFill>
                <a:latin typeface="Arial" pitchFamily="34" charset="0"/>
                <a:ea typeface="Arial" pitchFamily="34" charset="-122"/>
                <a:cs typeface="Arial" pitchFamily="34" charset="-120"/>
              </a:rPr>
              <a:t>Benefit:</a:t>
            </a:r>
            <a:pPr algn="l" indent="0" marL="0">
              <a:lnSpc>
                <a:spcPts val="840"/>
              </a:lnSpc>
              <a:buNone/>
            </a:pPr>
            <a:r>
              <a:rPr lang="en-US" sz="600" dirty="0">
                <a:solidFill>
                  <a:srgbClr val="166534"/>
                </a:solidFill>
                <a:latin typeface="Arial" pitchFamily="34" charset="0"/>
                <a:ea typeface="Arial" pitchFamily="34" charset="-122"/>
                <a:cs typeface="Arial" pitchFamily="34" charset="-120"/>
              </a:rPr>
              <a:t> Voice is perfect for detailed prompts.</a:t>
            </a:r>
            <a:endParaRPr lang="en-US" sz="600" dirty="0"/>
          </a:p>
        </p:txBody>
      </p:sp>
      <p:sp>
        <p:nvSpPr>
          <p:cNvPr id="19" name="Text 17"/>
          <p:cNvSpPr/>
          <p:nvPr/>
        </p:nvSpPr>
        <p:spPr>
          <a:xfrm>
            <a:off x="3751064" y="0"/>
            <a:ext cx="5392936" cy="5143500"/>
          </a:xfrm>
          <a:prstGeom prst="rect">
            <a:avLst/>
          </a:prstGeom>
          <a:solidFill>
            <a:srgbClr val="F7F8FA"/>
          </a:solidFill>
          <a:ln/>
        </p:spPr>
        <p:txBody>
          <a:bodyPr wrap="square" rtlCol="0" anchor="ctr"/>
          <a:lstStyle/>
          <a:p>
            <a:pPr indent="0" marL="0">
              <a:buNone/>
            </a:pPr>
            <a:endParaRPr lang="en-US" dirty="0"/>
          </a:p>
        </p:txBody>
      </p:sp>
      <p:sp>
        <p:nvSpPr>
          <p:cNvPr id="20" name="Text 18"/>
          <p:cNvSpPr/>
          <p:nvPr/>
        </p:nvSpPr>
        <p:spPr>
          <a:xfrm>
            <a:off x="4017764" y="271165"/>
            <a:ext cx="4956727" cy="159990"/>
          </a:xfrm>
          <a:prstGeom prst="rect">
            <a:avLst/>
          </a:prstGeom>
          <a:noFill/>
          <a:ln/>
        </p:spPr>
        <p:txBody>
          <a:bodyPr wrap="square" lIns="0" tIns="0" rIns="0" bIns="0" rtlCol="0" anchor="t"/>
          <a:lstStyle/>
          <a:p>
            <a:pPr algn="l" indent="0" marL="0">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SAMPLE AI INSTRUCTIONS</a:t>
            </a:r>
            <a:endParaRPr lang="en-US" sz="900" dirty="0"/>
          </a:p>
        </p:txBody>
      </p:sp>
      <p:sp>
        <p:nvSpPr>
          <p:cNvPr id="21" name="Text 19"/>
          <p:cNvSpPr/>
          <p:nvPr/>
        </p:nvSpPr>
        <p:spPr>
          <a:xfrm>
            <a:off x="4017764" y="697855"/>
            <a:ext cx="4859536" cy="2536627"/>
          </a:xfrm>
          <a:prstGeom prst="rect">
            <a:avLst/>
          </a:prstGeom>
          <a:solidFill>
            <a:srgbClr val="1A1F2E"/>
          </a:solidFill>
          <a:ln/>
        </p:spPr>
        <p:txBody>
          <a:bodyPr wrap="square" rtlCol="0" anchor="ctr"/>
          <a:lstStyle/>
          <a:p>
            <a:pPr indent="0" marL="0">
              <a:buNone/>
            </a:pPr>
            <a:endParaRPr lang="en-US" dirty="0"/>
          </a:p>
        </p:txBody>
      </p:sp>
      <p:sp>
        <p:nvSpPr>
          <p:cNvPr id="22" name="Text 20"/>
          <p:cNvSpPr/>
          <p:nvPr/>
        </p:nvSpPr>
        <p:spPr>
          <a:xfrm>
            <a:off x="4170164" y="850255"/>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3" name="Text 21"/>
          <p:cNvSpPr/>
          <p:nvPr/>
        </p:nvSpPr>
        <p:spPr>
          <a:xfrm>
            <a:off x="4170164" y="1013966"/>
            <a:ext cx="4645831" cy="106561"/>
          </a:xfrm>
          <a:prstGeom prst="rect">
            <a:avLst/>
          </a:prstGeom>
          <a:noFill/>
          <a:ln/>
        </p:spPr>
        <p:txBody>
          <a:bodyPr wrap="square" lIns="76200" tIns="0" rIns="0" bIns="0" rtlCol="0" anchor="t"/>
          <a:lstStyle/>
          <a:p>
            <a:pPr algn="l" indent="0" marL="0">
              <a:lnSpc>
                <a:spcPts val="84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You format dictation for Claude Code prompts</a:t>
            </a:r>
            <a:endParaRPr lang="en-US" sz="600" dirty="0"/>
          </a:p>
        </p:txBody>
      </p:sp>
      <p:sp>
        <p:nvSpPr>
          <p:cNvPr id="24" name="Text 22"/>
          <p:cNvSpPr/>
          <p:nvPr/>
        </p:nvSpPr>
        <p:spPr>
          <a:xfrm>
            <a:off x="4170164" y="1177677"/>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5" name="Text 23"/>
          <p:cNvSpPr/>
          <p:nvPr/>
        </p:nvSpPr>
        <p:spPr>
          <a:xfrm>
            <a:off x="4170164" y="1341388"/>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6" name="Text 24"/>
          <p:cNvSpPr/>
          <p:nvPr/>
        </p:nvSpPr>
        <p:spPr>
          <a:xfrm>
            <a:off x="4170164" y="1505099"/>
            <a:ext cx="4645831" cy="457200"/>
          </a:xfrm>
          <a:prstGeom prst="rect">
            <a:avLst/>
          </a:prstGeom>
          <a:noFill/>
          <a:ln/>
        </p:spPr>
        <p:txBody>
          <a:bodyPr wrap="square" lIns="76200" tIns="0" rIns="0" bIns="0" rtlCol="0" anchor="t"/>
          <a:lstStyle/>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The User Message is a dictated prompt for</a:t>
            </a:r>
            <a:endParaRPr lang="en-US" sz="600" dirty="0"/>
          </a:p>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Claude Code. Clean it up and format as a</a:t>
            </a:r>
            <a:endParaRPr lang="en-US" sz="600" dirty="0"/>
          </a:p>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clear instruction. Keep technical terms</a:t>
            </a:r>
            <a:endParaRPr lang="en-US" sz="600" dirty="0"/>
          </a:p>
          <a:p>
            <a:pPr algn="l" indent="0" marL="0">
              <a:lnSpc>
                <a:spcPts val="900"/>
              </a:lnSpc>
              <a:spcAft>
                <a:spcPts val="450"/>
              </a:spcAft>
              <a:buNone/>
            </a:pPr>
            <a:r>
              <a:rPr lang="en-US" sz="600" dirty="0">
                <a:solidFill>
                  <a:srgbClr val="FFFFFF">
                    <a:alpha val="85000"/>
                  </a:srgbClr>
                </a:solidFill>
                <a:latin typeface="Arial" pitchFamily="34" charset="0"/>
                <a:ea typeface="Arial" pitchFamily="34" charset="-122"/>
                <a:cs typeface="Arial" pitchFamily="34" charset="-120"/>
              </a:rPr>
              <a:t> exactly as spoken.</a:t>
            </a:r>
            <a:endParaRPr lang="en-US" sz="600" dirty="0"/>
          </a:p>
        </p:txBody>
      </p:sp>
      <p:sp>
        <p:nvSpPr>
          <p:cNvPr id="27" name="Text 25"/>
          <p:cNvSpPr/>
          <p:nvPr/>
        </p:nvSpPr>
        <p:spPr>
          <a:xfrm>
            <a:off x="4170164" y="2019449"/>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8" name="Text 26"/>
          <p:cNvSpPr/>
          <p:nvPr/>
        </p:nvSpPr>
        <p:spPr>
          <a:xfrm>
            <a:off x="4170164" y="2183160"/>
            <a:ext cx="4645831" cy="106561"/>
          </a:xfrm>
          <a:prstGeom prst="rect">
            <a:avLst/>
          </a:prstGeom>
          <a:noFill/>
          <a:ln/>
        </p:spPr>
        <p:txBody>
          <a:bodyPr wrap="square" lIns="0" tIns="0" rIns="0" bIns="0" rtlCol="0" anchor="t"/>
          <a:lstStyle/>
          <a:p>
            <a:pPr algn="l" indent="0" marL="0">
              <a:lnSpc>
                <a:spcPts val="840"/>
              </a:lnSpc>
              <a:spcAft>
                <a:spcPts val="450"/>
              </a:spcAft>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9" name="Text 27"/>
          <p:cNvSpPr/>
          <p:nvPr/>
        </p:nvSpPr>
        <p:spPr>
          <a:xfrm>
            <a:off x="4170164" y="2346871"/>
            <a:ext cx="4645831" cy="571500"/>
          </a:xfrm>
          <a:prstGeom prst="rect">
            <a:avLst/>
          </a:prstGeom>
          <a:noFill/>
          <a:ln/>
        </p:spPr>
        <p:txBody>
          <a:bodyPr wrap="square" lIns="76200" tIns="0" rIns="0" bIns="0" rtlCol="0" anchor="t"/>
          <a:lstStyle/>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Preserve technical accuracy</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Structure into clear steps if needed</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No greeting or pleasantries</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Ready to paste directly to Claude</a:t>
            </a:r>
            <a:endParaRPr lang="en-US" sz="600" dirty="0"/>
          </a:p>
          <a:p>
            <a:pPr algn="l" indent="0" marL="0">
              <a:lnSpc>
                <a:spcPts val="900"/>
              </a:lnSpc>
              <a:buNone/>
            </a:pPr>
            <a:r>
              <a:rPr lang="en-US" sz="600" dirty="0">
                <a:solidFill>
                  <a:srgbClr val="FFFFFF">
                    <a:alpha val="85000"/>
                  </a:srgbClr>
                </a:solidFill>
                <a:latin typeface="Arial" pitchFamily="34" charset="0"/>
                <a:ea typeface="Arial" pitchFamily="34" charset="-122"/>
                <a:cs typeface="Arial" pitchFamily="34" charset="-120"/>
              </a:rPr>
              <a:t> If Clipboard has an error, reference it</a:t>
            </a:r>
            <a:endParaRPr lang="en-US" sz="600" dirty="0"/>
          </a:p>
        </p:txBody>
      </p:sp>
      <p:sp>
        <p:nvSpPr>
          <p:cNvPr id="30" name="Text 28"/>
          <p:cNvSpPr/>
          <p:nvPr/>
        </p:nvSpPr>
        <p:spPr>
          <a:xfrm>
            <a:off x="4170164" y="2975521"/>
            <a:ext cx="4645831" cy="106561"/>
          </a:xfrm>
          <a:prstGeom prst="rect">
            <a:avLst/>
          </a:prstGeom>
          <a:noFill/>
          <a:ln/>
        </p:spPr>
        <p:txBody>
          <a:bodyPr wrap="square" lIns="0" tIns="0" rIns="0" bIns="0" rtlCol="0" anchor="t"/>
          <a:lstStyle/>
          <a:p>
            <a:pPr algn="l" indent="0" marL="0">
              <a:lnSpc>
                <a:spcPts val="840"/>
              </a:lnSpc>
              <a:spcBef>
                <a:spcPts val="450"/>
              </a:spcBef>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31" name="Text 29"/>
          <p:cNvSpPr/>
          <p:nvPr/>
        </p:nvSpPr>
        <p:spPr>
          <a:xfrm>
            <a:off x="4017764" y="3510707"/>
            <a:ext cx="2386905" cy="774799"/>
          </a:xfrm>
          <a:prstGeom prst="rect">
            <a:avLst/>
          </a:prstGeom>
          <a:solidFill>
            <a:srgbClr val="FEF3C7"/>
          </a:solidFill>
          <a:ln/>
        </p:spPr>
        <p:txBody>
          <a:bodyPr wrap="square" rtlCol="0" anchor="ctr"/>
          <a:lstStyle/>
          <a:p>
            <a:pPr indent="0" marL="0">
              <a:buNone/>
            </a:pPr>
            <a:endParaRPr lang="en-US" dirty="0"/>
          </a:p>
        </p:txBody>
      </p:sp>
      <p:sp>
        <p:nvSpPr>
          <p:cNvPr id="32" name="Shape 30"/>
          <p:cNvSpPr/>
          <p:nvPr/>
        </p:nvSpPr>
        <p:spPr>
          <a:xfrm>
            <a:off x="4032052" y="3510707"/>
            <a:ext cx="0" cy="774799"/>
          </a:xfrm>
          <a:prstGeom prst="line">
            <a:avLst/>
          </a:prstGeom>
          <a:noFill/>
          <a:ln w="28575">
            <a:solidFill>
              <a:srgbClr val="F59E0B"/>
            </a:solidFill>
            <a:prstDash val="solid"/>
          </a:ln>
        </p:spPr>
      </p:sp>
      <p:sp>
        <p:nvSpPr>
          <p:cNvPr id="33" name="Text 31"/>
          <p:cNvSpPr/>
          <p:nvPr/>
        </p:nvSpPr>
        <p:spPr>
          <a:xfrm>
            <a:off x="4141589" y="3605957"/>
            <a:ext cx="2211187" cy="119955"/>
          </a:xfrm>
          <a:prstGeom prst="rect">
            <a:avLst/>
          </a:prstGeom>
          <a:noFill/>
          <a:ln/>
        </p:spPr>
        <p:txBody>
          <a:bodyPr wrap="square" lIns="0" tIns="0" rIns="0" bIns="0" rtlCol="0" anchor="t"/>
          <a:lstStyle/>
          <a:p>
            <a:pPr algn="l" indent="0" marL="0">
              <a:lnSpc>
                <a:spcPts val="945"/>
              </a:lnSpc>
              <a:spcAft>
                <a:spcPts val="300"/>
              </a:spcAft>
              <a:buNone/>
            </a:pPr>
            <a:r>
              <a:rPr lang="en-US" sz="675" b="1" dirty="0">
                <a:solidFill>
                  <a:srgbClr val="92400E"/>
                </a:solidFill>
                <a:latin typeface="Arial" pitchFamily="34" charset="0"/>
                <a:ea typeface="Arial" pitchFamily="34" charset="-122"/>
                <a:cs typeface="Arial" pitchFamily="34" charset="-120"/>
              </a:rPr>
              <a:t>EXAMPLE INPUT</a:t>
            </a:r>
            <a:endParaRPr lang="en-US" sz="675" dirty="0"/>
          </a:p>
        </p:txBody>
      </p:sp>
      <p:sp>
        <p:nvSpPr>
          <p:cNvPr id="34" name="Text 32"/>
          <p:cNvSpPr/>
          <p:nvPr/>
        </p:nvSpPr>
        <p:spPr>
          <a:xfrm>
            <a:off x="4141589" y="3764012"/>
            <a:ext cx="2211187" cy="426244"/>
          </a:xfrm>
          <a:prstGeom prst="rect">
            <a:avLst/>
          </a:prstGeom>
          <a:noFill/>
          <a:ln/>
        </p:spPr>
        <p:txBody>
          <a:bodyPr wrap="square" lIns="0" tIns="0" rIns="0" bIns="0" rtlCol="0" anchor="t"/>
          <a:lstStyle/>
          <a:p>
            <a:pPr algn="l" indent="0" marL="0">
              <a:lnSpc>
                <a:spcPts val="840"/>
              </a:lnSpc>
              <a:buNone/>
            </a:pPr>
            <a:r>
              <a:rPr lang="en-US" sz="600" dirty="0">
                <a:solidFill>
                  <a:srgbClr val="92400E"/>
                </a:solidFill>
                <a:latin typeface="Arial" pitchFamily="34" charset="0"/>
                <a:ea typeface="Arial" pitchFamily="34" charset="-122"/>
                <a:cs typeface="Arial" pitchFamily="34" charset="-120"/>
              </a:rPr>
              <a:t>"okay I need you to look at the auth middleware in the source API folder and add rate limiting so that it blocks more than one hundred requests per minute per IP address and also log any blocked attempts"</a:t>
            </a:r>
            <a:endParaRPr lang="en-US" sz="600" dirty="0"/>
          </a:p>
        </p:txBody>
      </p:sp>
      <p:sp>
        <p:nvSpPr>
          <p:cNvPr id="35" name="Text 33"/>
          <p:cNvSpPr/>
          <p:nvPr/>
        </p:nvSpPr>
        <p:spPr>
          <a:xfrm>
            <a:off x="6499920" y="3501182"/>
            <a:ext cx="2377380" cy="793849"/>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36" name="Text 34"/>
          <p:cNvSpPr/>
          <p:nvPr/>
        </p:nvSpPr>
        <p:spPr>
          <a:xfrm>
            <a:off x="6604695" y="3605957"/>
            <a:ext cx="2211187" cy="119955"/>
          </a:xfrm>
          <a:prstGeom prst="rect">
            <a:avLst/>
          </a:prstGeom>
          <a:noFill/>
          <a:ln/>
        </p:spPr>
        <p:txBody>
          <a:bodyPr wrap="square" lIns="0" tIns="0" rIns="0" bIns="0" rtlCol="0" anchor="t"/>
          <a:lstStyle/>
          <a:p>
            <a:pPr algn="l" indent="0" marL="0">
              <a:lnSpc>
                <a:spcPts val="945"/>
              </a:lnSpc>
              <a:spcAft>
                <a:spcPts val="300"/>
              </a:spcAft>
              <a:buNone/>
            </a:pPr>
            <a:r>
              <a:rPr lang="en-US" sz="675" b="1" dirty="0">
                <a:solidFill>
                  <a:srgbClr val="1A1F2E"/>
                </a:solidFill>
                <a:latin typeface="Arial" pitchFamily="34" charset="0"/>
                <a:ea typeface="Arial" pitchFamily="34" charset="-122"/>
                <a:cs typeface="Arial" pitchFamily="34" charset="-120"/>
              </a:rPr>
              <a:t>EXAMPLE OUTPUT</a:t>
            </a:r>
            <a:endParaRPr lang="en-US" sz="675" dirty="0"/>
          </a:p>
        </p:txBody>
      </p:sp>
      <p:sp>
        <p:nvSpPr>
          <p:cNvPr id="37" name="Text 35"/>
          <p:cNvSpPr/>
          <p:nvPr/>
        </p:nvSpPr>
        <p:spPr>
          <a:xfrm>
            <a:off x="6604695" y="3764012"/>
            <a:ext cx="2211187" cy="426244"/>
          </a:xfrm>
          <a:prstGeom prst="rect">
            <a:avLst/>
          </a:prstGeom>
          <a:noFill/>
          <a:ln/>
        </p:spPr>
        <p:txBody>
          <a:bodyPr wrap="square" lIns="0" tIns="0" rIns="0" bIns="0" rtlCol="0" anchor="t"/>
          <a:lstStyle/>
          <a:p>
            <a:pPr algn="l" indent="0" marL="0">
              <a:lnSpc>
                <a:spcPts val="840"/>
              </a:lnSpc>
              <a:buNone/>
            </a:pPr>
            <a:r>
              <a:rPr lang="en-US" sz="600" dirty="0">
                <a:solidFill>
                  <a:srgbClr val="6B7280"/>
                </a:solidFill>
                <a:latin typeface="Arial" pitchFamily="34" charset="0"/>
                <a:ea typeface="Arial" pitchFamily="34" charset="-122"/>
                <a:cs typeface="Arial" pitchFamily="34" charset="-120"/>
              </a:rPr>
              <a:t>In src/api/authMiddleware, add rate limiting:</a:t>
            </a:r>
            <a:endParaRPr lang="en-US" sz="600" dirty="0"/>
          </a:p>
          <a:p>
            <a:pPr algn="l" indent="0" marL="0">
              <a:lnSpc>
                <a:spcPts val="840"/>
              </a:lnSpc>
              <a:buNone/>
            </a:pPr>
            <a:r>
              <a:rPr lang="en-US" sz="600" dirty="0">
                <a:solidFill>
                  <a:srgbClr val="6B7280"/>
                </a:solidFill>
                <a:latin typeface="Arial" pitchFamily="34" charset="0"/>
                <a:ea typeface="Arial" pitchFamily="34" charset="-122"/>
                <a:cs typeface="Arial" pitchFamily="34" charset="-120"/>
              </a:rPr>
              <a:t>- Max 100 requests/min per IP</a:t>
            </a:r>
            <a:endParaRPr lang="en-US" sz="600" dirty="0"/>
          </a:p>
          <a:p>
            <a:pPr algn="l" indent="0" marL="0">
              <a:lnSpc>
                <a:spcPts val="840"/>
              </a:lnSpc>
              <a:buNone/>
            </a:pPr>
            <a:r>
              <a:rPr lang="en-US" sz="600" dirty="0">
                <a:solidFill>
                  <a:srgbClr val="6B7280"/>
                </a:solidFill>
                <a:latin typeface="Arial" pitchFamily="34" charset="0"/>
                <a:ea typeface="Arial" pitchFamily="34" charset="-122"/>
                <a:cs typeface="Arial" pitchFamily="34" charset="-120"/>
              </a:rPr>
              <a:t>- Log all blocked attempts</a:t>
            </a:r>
            <a:endParaRPr lang="en-US" sz="600" dirty="0"/>
          </a:p>
          <a:p>
            <a:pPr algn="l" indent="0" marL="0">
              <a:lnSpc>
                <a:spcPts val="840"/>
              </a:lnSpc>
              <a:buNone/>
            </a:pPr>
            <a:r>
              <a:rPr lang="en-US" sz="600" dirty="0">
                <a:solidFill>
                  <a:srgbClr val="6B7280"/>
                </a:solidFill>
                <a:latin typeface="Arial" pitchFamily="34" charset="0"/>
                <a:ea typeface="Arial" pitchFamily="34" charset="-122"/>
                <a:cs typeface="Arial" pitchFamily="34" charset="-120"/>
              </a:rPr>
              <a:t>- Include timestamp and IP in logs</a:t>
            </a:r>
            <a:endParaRPr lang="en-US" sz="600" dirty="0"/>
          </a:p>
        </p:txBody>
      </p:sp>
      <p:sp>
        <p:nvSpPr>
          <p:cNvPr id="38" name="Text 36"/>
          <p:cNvSpPr/>
          <p:nvPr/>
        </p:nvSpPr>
        <p:spPr>
          <a:xfrm>
            <a:off x="4017764" y="4542681"/>
            <a:ext cx="4859536" cy="329505"/>
          </a:xfrm>
          <a:prstGeom prst="rect">
            <a:avLst/>
          </a:prstGeom>
          <a:solidFill>
            <a:srgbClr val="FFFFFF"/>
          </a:solidFill>
          <a:ln w="9525">
            <a:solidFill>
              <a:srgbClr val="C9A227"/>
            </a:solidFill>
          </a:ln>
        </p:spPr>
        <p:txBody>
          <a:bodyPr wrap="square" rtlCol="0" anchor="ctr"/>
          <a:lstStyle/>
          <a:p>
            <a:pPr indent="0" marL="0">
              <a:buNone/>
            </a:pPr>
            <a:endParaRPr lang="en-US" dirty="0"/>
          </a:p>
        </p:txBody>
      </p:sp>
      <p:sp>
        <p:nvSpPr>
          <p:cNvPr id="39" name="Text 37"/>
          <p:cNvSpPr/>
          <p:nvPr/>
        </p:nvSpPr>
        <p:spPr>
          <a:xfrm>
            <a:off x="4122539" y="4647456"/>
            <a:ext cx="4742986" cy="119955"/>
          </a:xfrm>
          <a:prstGeom prst="rect">
            <a:avLst/>
          </a:prstGeom>
          <a:noFill/>
          <a:ln/>
        </p:spPr>
        <p:txBody>
          <a:bodyPr wrap="square" lIns="0" tIns="0" rIns="0" bIns="0" rtlCol="0" anchor="t"/>
          <a:lstStyle/>
          <a:p>
            <a:pPr algn="l" indent="0" marL="0">
              <a:lnSpc>
                <a:spcPts val="945"/>
              </a:lnSpc>
              <a:buNone/>
            </a:pPr>
            <a:r>
              <a:rPr lang="en-US" sz="675" b="1" dirty="0">
                <a:solidFill>
                  <a:srgbClr val="1A1F2E"/>
                </a:solidFill>
                <a:latin typeface="Arial" pitchFamily="34" charset="0"/>
                <a:ea typeface="Arial" pitchFamily="34" charset="-122"/>
                <a:cs typeface="Arial" pitchFamily="34" charset="-120"/>
              </a:rPr>
              <a:t>Workflow:</a:t>
            </a:r>
            <a:pPr algn="l" indent="0" marL="0">
              <a:lnSpc>
                <a:spcPts val="945"/>
              </a:lnSpc>
              <a:buNone/>
            </a:pPr>
            <a:r>
              <a:rPr lang="en-US" sz="675" dirty="0">
                <a:solidFill>
                  <a:srgbClr val="1A1F2E"/>
                </a:solidFill>
                <a:latin typeface="Arial" pitchFamily="34" charset="0"/>
                <a:ea typeface="Arial" pitchFamily="34" charset="-122"/>
                <a:cs typeface="Arial" pitchFamily="34" charset="-120"/>
              </a:rPr>
              <a:t> Copy error → Dictate "fix this error" → Paste to Claude Code</a:t>
            </a:r>
            <a:endParaRPr lang="en-US" sz="675"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3598664" cy="5143500"/>
          </a:xfrm>
          <a:prstGeom prst="rect">
            <a:avLst/>
          </a:prstGeom>
          <a:solidFill>
            <a:srgbClr val="1A1F2E"/>
          </a:solidFill>
          <a:ln/>
        </p:spPr>
        <p:txBody>
          <a:bodyPr wrap="square" rtlCol="0" anchor="ctr"/>
          <a:lstStyle/>
          <a:p>
            <a:pPr indent="0" marL="0">
              <a:buNone/>
            </a:pPr>
            <a:endParaRPr lang="en-US" dirty="0"/>
          </a:p>
        </p:txBody>
      </p:sp>
      <p:sp>
        <p:nvSpPr>
          <p:cNvPr id="3" name="Text 1"/>
          <p:cNvSpPr/>
          <p:nvPr/>
        </p:nvSpPr>
        <p:spPr>
          <a:xfrm>
            <a:off x="266700" y="222052"/>
            <a:ext cx="1276350" cy="272355"/>
          </a:xfrm>
          <a:prstGeom prst="rect">
            <a:avLst/>
          </a:prstGeom>
          <a:solidFill>
            <a:srgbClr val="8B5CF6"/>
          </a:solidFill>
          <a:ln/>
        </p:spPr>
        <p:txBody>
          <a:bodyPr wrap="square" rtlCol="0" anchor="ctr"/>
          <a:lstStyle/>
          <a:p>
            <a:pPr indent="0" marL="0">
              <a:buNone/>
            </a:pPr>
            <a:endParaRPr lang="en-US" dirty="0"/>
          </a:p>
        </p:txBody>
      </p:sp>
      <p:sp>
        <p:nvSpPr>
          <p:cNvPr id="4" name="Text 2"/>
          <p:cNvSpPr/>
          <p:nvPr/>
        </p:nvSpPr>
        <p:spPr>
          <a:xfrm>
            <a:off x="381000" y="298252"/>
            <a:ext cx="1068705" cy="119955"/>
          </a:xfrm>
          <a:prstGeom prst="rect">
            <a:avLst/>
          </a:prstGeom>
          <a:noFill/>
          <a:ln/>
        </p:spPr>
        <p:txBody>
          <a:bodyPr wrap="square" lIns="0" tIns="0" rIns="0" bIns="0" rtlCol="0" anchor="t"/>
          <a:lstStyle/>
          <a:p>
            <a:pPr algn="l" indent="0" marL="0">
              <a:lnSpc>
                <a:spcPts val="945"/>
              </a:lnSpc>
              <a:buNone/>
            </a:pPr>
            <a:r>
              <a:rPr lang="en-US" sz="675" b="1" dirty="0">
                <a:solidFill>
                  <a:srgbClr val="FFFFFF"/>
                </a:solidFill>
                <a:latin typeface="Arial" pitchFamily="34" charset="0"/>
                <a:ea typeface="Arial" pitchFamily="34" charset="-122"/>
                <a:cs typeface="Arial" pitchFamily="34" charset="-120"/>
              </a:rPr>
              <a:t>ADVANCED PATTERN</a:t>
            </a:r>
            <a:endParaRPr lang="en-US" sz="675" dirty="0"/>
          </a:p>
        </p:txBody>
      </p:sp>
      <p:sp>
        <p:nvSpPr>
          <p:cNvPr id="5" name="Text 3"/>
          <p:cNvSpPr/>
          <p:nvPr/>
        </p:nvSpPr>
        <p:spPr>
          <a:xfrm>
            <a:off x="266700" y="761107"/>
            <a:ext cx="1700213" cy="548580"/>
          </a:xfrm>
          <a:prstGeom prst="rect">
            <a:avLst/>
          </a:prstGeom>
          <a:noFill/>
          <a:ln/>
        </p:spPr>
        <p:txBody>
          <a:bodyPr wrap="square" lIns="0" tIns="0" rIns="0" bIns="0" rtlCol="0" anchor="t"/>
          <a:lstStyle/>
          <a:p>
            <a:pPr algn="l" indent="0" marL="0">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Agentic Handoff</a:t>
            </a:r>
            <a:endParaRPr lang="en-US" sz="1800" dirty="0"/>
          </a:p>
          <a:p>
            <a:pPr algn="l" indent="0" marL="0">
              <a:lnSpc>
                <a:spcPts val="2160"/>
              </a:lnSpc>
              <a:spcAft>
                <a:spcPts val="900"/>
              </a:spcAft>
              <a:buNone/>
            </a:pPr>
            <a:r>
              <a:rPr lang="en-US" sz="1800" dirty="0">
                <a:solidFill>
                  <a:srgbClr val="FFFFFF"/>
                </a:solidFill>
                <a:latin typeface="Georgia" pitchFamily="34" charset="0"/>
                <a:ea typeface="Georgia" pitchFamily="34" charset="-122"/>
                <a:cs typeface="Georgia" pitchFamily="34" charset="-120"/>
              </a:rPr>
              <a:t>Mode</a:t>
            </a:r>
            <a:endParaRPr lang="en-US" sz="1800" dirty="0"/>
          </a:p>
        </p:txBody>
      </p:sp>
      <p:sp>
        <p:nvSpPr>
          <p:cNvPr id="6" name="Text 4"/>
          <p:cNvSpPr/>
          <p:nvPr/>
        </p:nvSpPr>
        <p:spPr>
          <a:xfrm>
            <a:off x="266700" y="1881187"/>
            <a:ext cx="3065264" cy="639961"/>
          </a:xfrm>
          <a:prstGeom prst="rect">
            <a:avLst/>
          </a:prstGeom>
          <a:solidFill>
            <a:srgbClr val="C9A227">
              <a:alpha val="15000"/>
            </a:srgbClr>
          </a:solidFill>
          <a:ln/>
        </p:spPr>
        <p:txBody>
          <a:bodyPr wrap="square" rtlCol="0" anchor="ctr"/>
          <a:lstStyle/>
          <a:p>
            <a:pPr indent="0" marL="0">
              <a:buNone/>
            </a:pPr>
            <a:endParaRPr lang="en-US" dirty="0"/>
          </a:p>
        </p:txBody>
      </p:sp>
      <p:sp>
        <p:nvSpPr>
          <p:cNvPr id="7" name="Shape 5"/>
          <p:cNvSpPr/>
          <p:nvPr/>
        </p:nvSpPr>
        <p:spPr>
          <a:xfrm>
            <a:off x="280988" y="1881187"/>
            <a:ext cx="0" cy="639961"/>
          </a:xfrm>
          <a:prstGeom prst="line">
            <a:avLst/>
          </a:prstGeom>
          <a:noFill/>
          <a:ln w="28575">
            <a:solidFill>
              <a:srgbClr val="C9A227"/>
            </a:solidFill>
            <a:prstDash val="solid"/>
          </a:ln>
        </p:spPr>
      </p:sp>
      <p:sp>
        <p:nvSpPr>
          <p:cNvPr id="8" name="Text 6"/>
          <p:cNvSpPr/>
          <p:nvPr/>
        </p:nvSpPr>
        <p:spPr>
          <a:xfrm>
            <a:off x="409575" y="1995487"/>
            <a:ext cx="2864251"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C9A227"/>
                </a:solidFill>
                <a:latin typeface="Arial" pitchFamily="34" charset="0"/>
                <a:ea typeface="Arial" pitchFamily="34" charset="-122"/>
                <a:cs typeface="Arial" pitchFamily="34" charset="-120"/>
              </a:rPr>
              <a:t>USE CASE</a:t>
            </a:r>
            <a:endParaRPr lang="en-US" sz="750" dirty="0"/>
          </a:p>
        </p:txBody>
      </p:sp>
      <p:sp>
        <p:nvSpPr>
          <p:cNvPr id="9" name="Text 7"/>
          <p:cNvSpPr/>
          <p:nvPr/>
        </p:nvSpPr>
        <p:spPr>
          <a:xfrm>
            <a:off x="409575" y="2166938"/>
            <a:ext cx="2864251" cy="239911"/>
          </a:xfrm>
          <a:prstGeom prst="rect">
            <a:avLst/>
          </a:prstGeom>
          <a:noFill/>
          <a:ln/>
        </p:spPr>
        <p:txBody>
          <a:bodyPr wrap="square" lIns="0" tIns="0" rIns="0" bIns="0" rtlCol="0" anchor="t"/>
          <a:lstStyle/>
          <a:p>
            <a:pPr algn="l" indent="0" marL="0">
              <a:lnSpc>
                <a:spcPts val="945"/>
              </a:lnSpc>
              <a:buNone/>
            </a:pPr>
            <a:r>
              <a:rPr lang="en-US" sz="675" dirty="0">
                <a:solidFill>
                  <a:srgbClr val="FFFFFF">
                    <a:alpha val="70000"/>
                  </a:srgbClr>
                </a:solidFill>
                <a:latin typeface="Arial" pitchFamily="34" charset="0"/>
                <a:ea typeface="Arial" pitchFamily="34" charset="-122"/>
                <a:cs typeface="Arial" pitchFamily="34" charset="-120"/>
              </a:rPr>
              <a:t>Prepare structured task handoffs for autonomous AI coding agents like Claude Code, Aider, or Cursor Agent.</a:t>
            </a:r>
            <a:endParaRPr lang="en-US" sz="675" dirty="0"/>
          </a:p>
        </p:txBody>
      </p:sp>
      <p:sp>
        <p:nvSpPr>
          <p:cNvPr id="10" name="Text 8"/>
          <p:cNvSpPr/>
          <p:nvPr/>
        </p:nvSpPr>
        <p:spPr>
          <a:xfrm>
            <a:off x="266700" y="2787848"/>
            <a:ext cx="3065264" cy="1062038"/>
          </a:xfrm>
          <a:prstGeom prst="rect">
            <a:avLst/>
          </a:prstGeom>
          <a:solidFill>
            <a:srgbClr val="FFFFFF">
              <a:alpha val="5000"/>
            </a:srgbClr>
          </a:solidFill>
          <a:ln/>
        </p:spPr>
        <p:txBody>
          <a:bodyPr wrap="square" rtlCol="0" anchor="ctr"/>
          <a:lstStyle/>
          <a:p>
            <a:pPr indent="0" marL="0">
              <a:buNone/>
            </a:pPr>
            <a:endParaRPr lang="en-US" dirty="0"/>
          </a:p>
        </p:txBody>
      </p:sp>
      <p:sp>
        <p:nvSpPr>
          <p:cNvPr id="11" name="Text 9"/>
          <p:cNvSpPr/>
          <p:nvPr/>
        </p:nvSpPr>
        <p:spPr>
          <a:xfrm>
            <a:off x="381000" y="2902148"/>
            <a:ext cx="2893397" cy="133350"/>
          </a:xfrm>
          <a:prstGeom prst="rect">
            <a:avLst/>
          </a:prstGeom>
          <a:noFill/>
          <a:ln/>
        </p:spPr>
        <p:txBody>
          <a:bodyPr wrap="square" lIns="0" tIns="0" rIns="0" bIns="0" rtlCol="0" anchor="t"/>
          <a:lstStyle/>
          <a:p>
            <a:pPr algn="l" indent="0" marL="0">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THE PATTERN</a:t>
            </a:r>
            <a:endParaRPr lang="en-US" sz="750" dirty="0"/>
          </a:p>
        </p:txBody>
      </p:sp>
      <p:sp>
        <p:nvSpPr>
          <p:cNvPr id="12" name="Text 10"/>
          <p:cNvSpPr/>
          <p:nvPr/>
        </p:nvSpPr>
        <p:spPr>
          <a:xfrm>
            <a:off x="381000" y="3092648"/>
            <a:ext cx="2893397" cy="642938"/>
          </a:xfrm>
          <a:prstGeom prst="rect">
            <a:avLst/>
          </a:prstGeom>
          <a:noFill/>
          <a:ln/>
        </p:spPr>
        <p:txBody>
          <a:bodyPr wrap="square" lIns="0" tIns="0" rIns="0" bIns="0" rtlCol="0" anchor="t"/>
          <a:lstStyle/>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Raw speech describing a task</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Structured task specification</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AI agent executes autonomously</a:t>
            </a:r>
            <a:endParaRPr lang="en-US" sz="675" dirty="0"/>
          </a:p>
        </p:txBody>
      </p:sp>
      <p:sp>
        <p:nvSpPr>
          <p:cNvPr id="13" name="Text 11"/>
          <p:cNvSpPr/>
          <p:nvPr/>
        </p:nvSpPr>
        <p:spPr>
          <a:xfrm>
            <a:off x="266700" y="4116586"/>
            <a:ext cx="3065264" cy="804863"/>
          </a:xfrm>
          <a:prstGeom prst="rect">
            <a:avLst/>
          </a:prstGeom>
          <a:solidFill>
            <a:srgbClr val="FFFFFF">
              <a:alpha val="5000"/>
            </a:srgbClr>
          </a:solidFill>
          <a:ln/>
        </p:spPr>
        <p:txBody>
          <a:bodyPr wrap="square" rtlCol="0" anchor="ctr"/>
          <a:lstStyle/>
          <a:p>
            <a:pPr indent="0" marL="0">
              <a:buNone/>
            </a:pPr>
            <a:endParaRPr lang="en-US" dirty="0"/>
          </a:p>
        </p:txBody>
      </p:sp>
      <p:sp>
        <p:nvSpPr>
          <p:cNvPr id="14" name="Text 12"/>
          <p:cNvSpPr/>
          <p:nvPr/>
        </p:nvSpPr>
        <p:spPr>
          <a:xfrm>
            <a:off x="381000" y="4230886"/>
            <a:ext cx="2893397" cy="133350"/>
          </a:xfrm>
          <a:prstGeom prst="rect">
            <a:avLst/>
          </a:prstGeom>
          <a:noFill/>
          <a:ln/>
        </p:spPr>
        <p:txBody>
          <a:bodyPr wrap="square" lIns="0" tIns="0" rIns="0" bIns="0" rtlCol="0" anchor="t"/>
          <a:lstStyle/>
          <a:p>
            <a:pPr algn="l" indent="0" marL="0">
              <a:lnSpc>
                <a:spcPts val="1050"/>
              </a:lnSpc>
              <a:spcAft>
                <a:spcPts val="450"/>
              </a:spcAft>
              <a:buNone/>
            </a:pPr>
            <a:r>
              <a:rPr lang="en-US" sz="750" b="1" dirty="0">
                <a:solidFill>
                  <a:srgbClr val="FFFFFF"/>
                </a:solidFill>
                <a:latin typeface="Arial" pitchFamily="34" charset="0"/>
                <a:ea typeface="Arial" pitchFamily="34" charset="-122"/>
                <a:cs typeface="Arial" pitchFamily="34" charset="-120"/>
              </a:rPr>
              <a:t>CONTEXT SETTINGS</a:t>
            </a:r>
            <a:endParaRPr lang="en-US" sz="750" dirty="0"/>
          </a:p>
        </p:txBody>
      </p:sp>
      <p:sp>
        <p:nvSpPr>
          <p:cNvPr id="15" name="Text 13"/>
          <p:cNvSpPr/>
          <p:nvPr/>
        </p:nvSpPr>
        <p:spPr>
          <a:xfrm>
            <a:off x="381000" y="4421386"/>
            <a:ext cx="2893397" cy="385763"/>
          </a:xfrm>
          <a:prstGeom prst="rect">
            <a:avLst/>
          </a:prstGeom>
          <a:noFill/>
          <a:ln/>
        </p:spPr>
        <p:txBody>
          <a:bodyPr wrap="square" lIns="0" tIns="0" rIns="0" bIns="0" rtlCol="0" anchor="t"/>
          <a:lstStyle/>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Application Context</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 Selected Text (file/code context)</a:t>
            </a:r>
            <a:endParaRPr lang="en-US" sz="675" dirty="0"/>
          </a:p>
          <a:p>
            <a:pPr algn="l" indent="0" marL="0">
              <a:lnSpc>
                <a:spcPts val="1013"/>
              </a:lnSpc>
              <a:buNone/>
            </a:pPr>
            <a:r>
              <a:rPr lang="en-US" sz="675" dirty="0">
                <a:solidFill>
                  <a:srgbClr val="FFFFFF">
                    <a:alpha val="60000"/>
                  </a:srgbClr>
                </a:solidFill>
                <a:latin typeface="Arial" pitchFamily="34" charset="0"/>
                <a:ea typeface="Arial" pitchFamily="34" charset="-122"/>
                <a:cs typeface="Arial" pitchFamily="34" charset="-120"/>
              </a:rPr>
              <a:t> ✓ Clipboard (errors, references)</a:t>
            </a:r>
            <a:endParaRPr lang="en-US" sz="675" dirty="0"/>
          </a:p>
        </p:txBody>
      </p:sp>
      <p:sp>
        <p:nvSpPr>
          <p:cNvPr id="16" name="Text 14"/>
          <p:cNvSpPr/>
          <p:nvPr/>
        </p:nvSpPr>
        <p:spPr>
          <a:xfrm>
            <a:off x="3751064" y="0"/>
            <a:ext cx="5392936" cy="5143500"/>
          </a:xfrm>
          <a:prstGeom prst="rect">
            <a:avLst/>
          </a:prstGeom>
          <a:solidFill>
            <a:srgbClr val="F7F8FA"/>
          </a:solidFill>
          <a:ln/>
        </p:spPr>
        <p:txBody>
          <a:bodyPr wrap="square" rtlCol="0" anchor="ctr"/>
          <a:lstStyle/>
          <a:p>
            <a:pPr indent="0" marL="0">
              <a:buNone/>
            </a:pPr>
            <a:endParaRPr lang="en-US" dirty="0"/>
          </a:p>
        </p:txBody>
      </p:sp>
      <p:sp>
        <p:nvSpPr>
          <p:cNvPr id="17" name="Text 15"/>
          <p:cNvSpPr/>
          <p:nvPr/>
        </p:nvSpPr>
        <p:spPr>
          <a:xfrm>
            <a:off x="4017764" y="491579"/>
            <a:ext cx="4956727" cy="159990"/>
          </a:xfrm>
          <a:prstGeom prst="rect">
            <a:avLst/>
          </a:prstGeom>
          <a:noFill/>
          <a:ln/>
        </p:spPr>
        <p:txBody>
          <a:bodyPr wrap="square" lIns="0" tIns="0" rIns="0" bIns="0" rtlCol="0" anchor="t"/>
          <a:lstStyle/>
          <a:p>
            <a:pPr algn="l" indent="0" marL="0">
              <a:lnSpc>
                <a:spcPts val="1260"/>
              </a:lnSpc>
              <a:spcAft>
                <a:spcPts val="900"/>
              </a:spcAft>
              <a:buNone/>
            </a:pPr>
            <a:r>
              <a:rPr lang="en-US" sz="900" b="1" dirty="0">
                <a:solidFill>
                  <a:srgbClr val="1A1F2E"/>
                </a:solidFill>
                <a:latin typeface="Arial" pitchFamily="34" charset="0"/>
                <a:ea typeface="Arial" pitchFamily="34" charset="-122"/>
                <a:cs typeface="Arial" pitchFamily="34" charset="-120"/>
              </a:rPr>
              <a:t>SAMPLE AI INSTRUCTIONS</a:t>
            </a:r>
            <a:endParaRPr lang="en-US" sz="900" dirty="0"/>
          </a:p>
        </p:txBody>
      </p:sp>
      <p:sp>
        <p:nvSpPr>
          <p:cNvPr id="18" name="Text 16"/>
          <p:cNvSpPr/>
          <p:nvPr/>
        </p:nvSpPr>
        <p:spPr>
          <a:xfrm>
            <a:off x="4017764" y="918270"/>
            <a:ext cx="4859536" cy="1956792"/>
          </a:xfrm>
          <a:prstGeom prst="rect">
            <a:avLst/>
          </a:prstGeom>
          <a:solidFill>
            <a:srgbClr val="1A1F2E"/>
          </a:solidFill>
          <a:ln/>
        </p:spPr>
        <p:txBody>
          <a:bodyPr wrap="square" rtlCol="0" anchor="ctr"/>
          <a:lstStyle/>
          <a:p>
            <a:pPr indent="0" marL="0">
              <a:buNone/>
            </a:pPr>
            <a:endParaRPr lang="en-US" dirty="0"/>
          </a:p>
        </p:txBody>
      </p:sp>
      <p:sp>
        <p:nvSpPr>
          <p:cNvPr id="19" name="Text 17"/>
          <p:cNvSpPr/>
          <p:nvPr/>
        </p:nvSpPr>
        <p:spPr>
          <a:xfrm>
            <a:off x="4151114" y="1051620"/>
            <a:ext cx="4684693" cy="106561"/>
          </a:xfrm>
          <a:prstGeom prst="rect">
            <a:avLst/>
          </a:prstGeom>
          <a:noFill/>
          <a:ln/>
        </p:spPr>
        <p:txBody>
          <a:bodyPr wrap="square" lIns="0" tIns="0" rIns="0" bIns="0" rtlCol="0" anchor="t"/>
          <a:lstStyle/>
          <a:p>
            <a:pPr algn="l" indent="0" marL="0">
              <a:lnSpc>
                <a:spcPts val="840"/>
              </a:lnSpc>
              <a:spcAft>
                <a:spcPts val="30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0" name="Text 18"/>
          <p:cNvSpPr/>
          <p:nvPr/>
        </p:nvSpPr>
        <p:spPr>
          <a:xfrm>
            <a:off x="4151114" y="1196280"/>
            <a:ext cx="4684693" cy="106561"/>
          </a:xfrm>
          <a:prstGeom prst="rect">
            <a:avLst/>
          </a:prstGeom>
          <a:noFill/>
          <a:ln/>
        </p:spPr>
        <p:txBody>
          <a:bodyPr wrap="square" lIns="76200" tIns="0" rIns="0" bIns="0" rtlCol="0" anchor="t"/>
          <a:lstStyle/>
          <a:p>
            <a:pPr algn="l" indent="0" marL="0">
              <a:lnSpc>
                <a:spcPts val="840"/>
              </a:lnSpc>
              <a:spcAft>
                <a:spcPts val="300"/>
              </a:spcAft>
              <a:buNone/>
            </a:pPr>
            <a:r>
              <a:rPr lang="en-US" sz="600" dirty="0">
                <a:solidFill>
                  <a:srgbClr val="FFFFFF">
                    <a:alpha val="85000"/>
                  </a:srgbClr>
                </a:solidFill>
                <a:latin typeface="Arial" pitchFamily="34" charset="0"/>
                <a:ea typeface="Arial" pitchFamily="34" charset="-122"/>
                <a:cs typeface="Arial" pitchFamily="34" charset="-120"/>
              </a:rPr>
              <a:t>You prepare task specifications for AI coding agents</a:t>
            </a:r>
            <a:endParaRPr lang="en-US" sz="600" dirty="0"/>
          </a:p>
        </p:txBody>
      </p:sp>
      <p:sp>
        <p:nvSpPr>
          <p:cNvPr id="21" name="Text 19"/>
          <p:cNvSpPr/>
          <p:nvPr/>
        </p:nvSpPr>
        <p:spPr>
          <a:xfrm>
            <a:off x="4151114" y="1340941"/>
            <a:ext cx="4684693" cy="106561"/>
          </a:xfrm>
          <a:prstGeom prst="rect">
            <a:avLst/>
          </a:prstGeom>
          <a:noFill/>
          <a:ln/>
        </p:spPr>
        <p:txBody>
          <a:bodyPr wrap="square" lIns="0" tIns="0" rIns="0" bIns="0" rtlCol="0" anchor="t"/>
          <a:lstStyle/>
          <a:p>
            <a:pPr algn="l" indent="0" marL="0">
              <a:lnSpc>
                <a:spcPts val="840"/>
              </a:lnSpc>
              <a:spcAft>
                <a:spcPts val="300"/>
              </a:spcAft>
              <a:buNone/>
            </a:pPr>
            <a:r>
              <a:rPr lang="en-US" sz="600" dirty="0">
                <a:solidFill>
                  <a:srgbClr val="C9A227"/>
                </a:solidFill>
                <a:latin typeface="Arial" pitchFamily="34" charset="0"/>
                <a:ea typeface="Arial" pitchFamily="34" charset="-122"/>
                <a:cs typeface="Arial" pitchFamily="34" charset="-120"/>
              </a:rPr>
              <a:t>&lt;/role&gt;</a:t>
            </a:r>
            <a:endParaRPr lang="en-US" sz="600" dirty="0"/>
          </a:p>
        </p:txBody>
      </p:sp>
      <p:sp>
        <p:nvSpPr>
          <p:cNvPr id="22" name="Text 20"/>
          <p:cNvSpPr/>
          <p:nvPr/>
        </p:nvSpPr>
        <p:spPr>
          <a:xfrm>
            <a:off x="4151114" y="1485602"/>
            <a:ext cx="4684693" cy="106561"/>
          </a:xfrm>
          <a:prstGeom prst="rect">
            <a:avLst/>
          </a:prstGeom>
          <a:noFill/>
          <a:ln/>
        </p:spPr>
        <p:txBody>
          <a:bodyPr wrap="square" lIns="0" tIns="0" rIns="0" bIns="0" rtlCol="0" anchor="t"/>
          <a:lstStyle/>
          <a:p>
            <a:pPr algn="l" indent="0" marL="0">
              <a:lnSpc>
                <a:spcPts val="840"/>
              </a:lnSpc>
              <a:spcAft>
                <a:spcPts val="30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3" name="Text 21"/>
          <p:cNvSpPr/>
          <p:nvPr/>
        </p:nvSpPr>
        <p:spPr>
          <a:xfrm>
            <a:off x="4151114" y="1630263"/>
            <a:ext cx="4684693" cy="213122"/>
          </a:xfrm>
          <a:prstGeom prst="rect">
            <a:avLst/>
          </a:prstGeom>
          <a:noFill/>
          <a:ln/>
        </p:spPr>
        <p:txBody>
          <a:bodyPr wrap="square" lIns="76200" tIns="0" rIns="0" bIns="0" rtlCol="0" anchor="t"/>
          <a:lstStyle/>
          <a:p>
            <a:pPr algn="l" indent="0" marL="0">
              <a:lnSpc>
                <a:spcPts val="840"/>
              </a:lnSpc>
              <a:spcAft>
                <a:spcPts val="300"/>
              </a:spcAft>
              <a:buNone/>
            </a:pPr>
            <a:r>
              <a:rPr lang="en-US" sz="600" dirty="0">
                <a:solidFill>
                  <a:srgbClr val="FFFFFF">
                    <a:alpha val="85000"/>
                  </a:srgbClr>
                </a:solidFill>
                <a:latin typeface="Arial" pitchFamily="34" charset="0"/>
                <a:ea typeface="Arial" pitchFamily="34" charset="-122"/>
                <a:cs typeface="Arial" pitchFamily="34" charset="-120"/>
              </a:rPr>
              <a:t>Convert the User Message into a structured task.</a:t>
            </a:r>
            <a:endParaRPr lang="en-US" sz="600" dirty="0"/>
          </a:p>
          <a:p>
            <a:pPr algn="l" indent="0" marL="0">
              <a:lnSpc>
                <a:spcPts val="840"/>
              </a:lnSpc>
              <a:spcAft>
                <a:spcPts val="300"/>
              </a:spcAft>
              <a:buNone/>
            </a:pPr>
            <a:r>
              <a:rPr lang="en-US" sz="600" dirty="0">
                <a:solidFill>
                  <a:srgbClr val="FFFFFF">
                    <a:alpha val="85000"/>
                  </a:srgbClr>
                </a:solidFill>
                <a:latin typeface="Arial" pitchFamily="34" charset="0"/>
                <a:ea typeface="Arial" pitchFamily="34" charset="-122"/>
                <a:cs typeface="Arial" pitchFamily="34" charset="-120"/>
              </a:rPr>
              <a:t> Include: objective, scope, constraints, success criteria.</a:t>
            </a:r>
            <a:endParaRPr lang="en-US" sz="600" dirty="0"/>
          </a:p>
        </p:txBody>
      </p:sp>
      <p:sp>
        <p:nvSpPr>
          <p:cNvPr id="24" name="Text 22"/>
          <p:cNvSpPr/>
          <p:nvPr/>
        </p:nvSpPr>
        <p:spPr>
          <a:xfrm>
            <a:off x="4151114" y="1881485"/>
            <a:ext cx="4684693" cy="106561"/>
          </a:xfrm>
          <a:prstGeom prst="rect">
            <a:avLst/>
          </a:prstGeom>
          <a:noFill/>
          <a:ln/>
        </p:spPr>
        <p:txBody>
          <a:bodyPr wrap="square" lIns="0" tIns="0" rIns="0" bIns="0" rtlCol="0" anchor="t"/>
          <a:lstStyle/>
          <a:p>
            <a:pPr algn="l" indent="0" marL="0">
              <a:lnSpc>
                <a:spcPts val="840"/>
              </a:lnSpc>
              <a:spcAft>
                <a:spcPts val="300"/>
              </a:spcAft>
              <a:buNone/>
            </a:pPr>
            <a:r>
              <a:rPr lang="en-US" sz="600" dirty="0">
                <a:solidFill>
                  <a:srgbClr val="C9A227"/>
                </a:solidFill>
                <a:latin typeface="Arial" pitchFamily="34" charset="0"/>
                <a:ea typeface="Arial" pitchFamily="34" charset="-122"/>
                <a:cs typeface="Arial" pitchFamily="34" charset="-120"/>
              </a:rPr>
              <a:t>&lt;/instructions&gt;</a:t>
            </a:r>
            <a:endParaRPr lang="en-US" sz="600" dirty="0"/>
          </a:p>
        </p:txBody>
      </p:sp>
      <p:sp>
        <p:nvSpPr>
          <p:cNvPr id="25" name="Text 23"/>
          <p:cNvSpPr/>
          <p:nvPr/>
        </p:nvSpPr>
        <p:spPr>
          <a:xfrm>
            <a:off x="4151114" y="2026146"/>
            <a:ext cx="4684693" cy="106561"/>
          </a:xfrm>
          <a:prstGeom prst="rect">
            <a:avLst/>
          </a:prstGeom>
          <a:noFill/>
          <a:ln/>
        </p:spPr>
        <p:txBody>
          <a:bodyPr wrap="square" lIns="0" tIns="0" rIns="0" bIns="0" rtlCol="0" anchor="t"/>
          <a:lstStyle/>
          <a:p>
            <a:pPr algn="l" indent="0" marL="0">
              <a:lnSpc>
                <a:spcPts val="840"/>
              </a:lnSpc>
              <a:spcAft>
                <a:spcPts val="300"/>
              </a:spcAft>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6" name="Text 24"/>
          <p:cNvSpPr/>
          <p:nvPr/>
        </p:nvSpPr>
        <p:spPr>
          <a:xfrm>
            <a:off x="4151114" y="2170807"/>
            <a:ext cx="4684693" cy="426244"/>
          </a:xfrm>
          <a:prstGeom prst="rect">
            <a:avLst/>
          </a:prstGeom>
          <a:noFill/>
          <a:ln/>
        </p:spPr>
        <p:txBody>
          <a:bodyPr wrap="square" lIns="76200" tIns="0" rIns="0" bIns="0" rtlCol="0" anchor="t"/>
          <a:lstStyle/>
          <a:p>
            <a:pPr algn="l" indent="0" marL="0">
              <a:lnSpc>
                <a:spcPts val="840"/>
              </a:lnSpc>
              <a:buNone/>
            </a:pPr>
            <a:r>
              <a:rPr lang="en-US" sz="600" dirty="0">
                <a:solidFill>
                  <a:srgbClr val="FFFFFF">
                    <a:alpha val="85000"/>
                  </a:srgbClr>
                </a:solidFill>
                <a:latin typeface="Arial" pitchFamily="34" charset="0"/>
                <a:ea typeface="Arial" pitchFamily="34" charset="-122"/>
                <a:cs typeface="Arial" pitchFamily="34" charset="-120"/>
              </a:rPr>
              <a:t>Clear, actionable objective</a:t>
            </a:r>
            <a:endParaRPr lang="en-US" sz="600" dirty="0"/>
          </a:p>
          <a:p>
            <a:pPr algn="l" indent="0" marL="0">
              <a:lnSpc>
                <a:spcPts val="840"/>
              </a:lnSpc>
              <a:buNone/>
            </a:pPr>
            <a:r>
              <a:rPr lang="en-US" sz="600" dirty="0">
                <a:solidFill>
                  <a:srgbClr val="FFFFFF">
                    <a:alpha val="85000"/>
                  </a:srgbClr>
                </a:solidFill>
                <a:latin typeface="Arial" pitchFamily="34" charset="0"/>
                <a:ea typeface="Arial" pitchFamily="34" charset="-122"/>
                <a:cs typeface="Arial" pitchFamily="34" charset="-120"/>
              </a:rPr>
              <a:t> Reference files from Selected Text if provided</a:t>
            </a:r>
            <a:endParaRPr lang="en-US" sz="600" dirty="0"/>
          </a:p>
          <a:p>
            <a:pPr algn="l" indent="0" marL="0">
              <a:lnSpc>
                <a:spcPts val="840"/>
              </a:lnSpc>
              <a:buNone/>
            </a:pPr>
            <a:r>
              <a:rPr lang="en-US" sz="600" dirty="0">
                <a:solidFill>
                  <a:srgbClr val="FFFFFF">
                    <a:alpha val="85000"/>
                  </a:srgbClr>
                </a:solidFill>
                <a:latin typeface="Arial" pitchFamily="34" charset="0"/>
                <a:ea typeface="Arial" pitchFamily="34" charset="-122"/>
                <a:cs typeface="Arial" pitchFamily="34" charset="-120"/>
              </a:rPr>
              <a:t> Include Clipboard context if relevant</a:t>
            </a:r>
            <a:endParaRPr lang="en-US" sz="600" dirty="0"/>
          </a:p>
          <a:p>
            <a:pPr algn="l" indent="0" marL="0">
              <a:lnSpc>
                <a:spcPts val="840"/>
              </a:lnSpc>
              <a:buNone/>
            </a:pPr>
            <a:r>
              <a:rPr lang="en-US" sz="600" dirty="0">
                <a:solidFill>
                  <a:srgbClr val="FFFFFF">
                    <a:alpha val="85000"/>
                  </a:srgbClr>
                </a:solidFill>
                <a:latin typeface="Arial" pitchFamily="34" charset="0"/>
                <a:ea typeface="Arial" pitchFamily="34" charset="-122"/>
                <a:cs typeface="Arial" pitchFamily="34" charset="-120"/>
              </a:rPr>
              <a:t> Specify what NOT to change if mentioned</a:t>
            </a:r>
            <a:endParaRPr lang="en-US" sz="600" dirty="0"/>
          </a:p>
        </p:txBody>
      </p:sp>
      <p:sp>
        <p:nvSpPr>
          <p:cNvPr id="27" name="Text 25"/>
          <p:cNvSpPr/>
          <p:nvPr/>
        </p:nvSpPr>
        <p:spPr>
          <a:xfrm>
            <a:off x="4151114" y="2635151"/>
            <a:ext cx="4684693" cy="106561"/>
          </a:xfrm>
          <a:prstGeom prst="rect">
            <a:avLst/>
          </a:prstGeom>
          <a:noFill/>
          <a:ln/>
        </p:spPr>
        <p:txBody>
          <a:bodyPr wrap="square" lIns="0" tIns="0" rIns="0" bIns="0" rtlCol="0" anchor="t"/>
          <a:lstStyle/>
          <a:p>
            <a:pPr algn="l" indent="0" marL="0">
              <a:lnSpc>
                <a:spcPts val="840"/>
              </a:lnSpc>
              <a:spcBef>
                <a:spcPts val="300"/>
              </a:spcBef>
              <a:buNone/>
            </a:pPr>
            <a:r>
              <a:rPr lang="en-US" sz="600" dirty="0">
                <a:solidFill>
                  <a:srgbClr val="C9A227"/>
                </a:solidFill>
                <a:latin typeface="Arial" pitchFamily="34" charset="0"/>
                <a:ea typeface="Arial" pitchFamily="34" charset="-122"/>
                <a:cs typeface="Arial" pitchFamily="34" charset="-120"/>
              </a:rPr>
              <a:t>&lt;/requirements&gt;</a:t>
            </a:r>
            <a:endParaRPr lang="en-US" sz="600" dirty="0"/>
          </a:p>
        </p:txBody>
      </p:sp>
      <p:sp>
        <p:nvSpPr>
          <p:cNvPr id="28" name="Text 26"/>
          <p:cNvSpPr/>
          <p:nvPr/>
        </p:nvSpPr>
        <p:spPr>
          <a:xfrm>
            <a:off x="4017764" y="3225552"/>
            <a:ext cx="2396430" cy="590401"/>
          </a:xfrm>
          <a:prstGeom prst="rect">
            <a:avLst/>
          </a:prstGeom>
          <a:solidFill>
            <a:srgbClr val="EDE9FE"/>
          </a:solidFill>
          <a:ln/>
        </p:spPr>
        <p:txBody>
          <a:bodyPr wrap="square" rtlCol="0" anchor="ctr"/>
          <a:lstStyle/>
          <a:p>
            <a:pPr indent="0" marL="0">
              <a:buNone/>
            </a:pPr>
            <a:endParaRPr lang="en-US" dirty="0"/>
          </a:p>
        </p:txBody>
      </p:sp>
      <p:sp>
        <p:nvSpPr>
          <p:cNvPr id="29" name="Shape 27"/>
          <p:cNvSpPr/>
          <p:nvPr/>
        </p:nvSpPr>
        <p:spPr>
          <a:xfrm>
            <a:off x="4032052" y="3225552"/>
            <a:ext cx="0" cy="590401"/>
          </a:xfrm>
          <a:prstGeom prst="line">
            <a:avLst/>
          </a:prstGeom>
          <a:noFill/>
          <a:ln w="28575">
            <a:solidFill>
              <a:srgbClr val="8B5CF6"/>
            </a:solidFill>
            <a:prstDash val="solid"/>
          </a:ln>
        </p:spPr>
      </p:sp>
      <p:sp>
        <p:nvSpPr>
          <p:cNvPr id="30" name="Text 28"/>
          <p:cNvSpPr/>
          <p:nvPr/>
        </p:nvSpPr>
        <p:spPr>
          <a:xfrm>
            <a:off x="4122539" y="3301752"/>
            <a:ext cx="2259765" cy="119955"/>
          </a:xfrm>
          <a:prstGeom prst="rect">
            <a:avLst/>
          </a:prstGeom>
          <a:noFill/>
          <a:ln/>
        </p:spPr>
        <p:txBody>
          <a:bodyPr wrap="square" lIns="0" tIns="0" rIns="0" bIns="0" rtlCol="0" anchor="t"/>
          <a:lstStyle/>
          <a:p>
            <a:pPr algn="l" indent="0" marL="0">
              <a:lnSpc>
                <a:spcPts val="945"/>
              </a:lnSpc>
              <a:spcAft>
                <a:spcPts val="300"/>
              </a:spcAft>
              <a:buNone/>
            </a:pPr>
            <a:r>
              <a:rPr lang="en-US" sz="675" b="1" dirty="0">
                <a:solidFill>
                  <a:srgbClr val="5B21B6"/>
                </a:solidFill>
                <a:latin typeface="Arial" pitchFamily="34" charset="0"/>
                <a:ea typeface="Arial" pitchFamily="34" charset="-122"/>
                <a:cs typeface="Arial" pitchFamily="34" charset="-120"/>
              </a:rPr>
              <a:t>RAW SPEECH</a:t>
            </a:r>
            <a:endParaRPr lang="en-US" sz="675" dirty="0"/>
          </a:p>
        </p:txBody>
      </p:sp>
      <p:sp>
        <p:nvSpPr>
          <p:cNvPr id="31" name="Text 29"/>
          <p:cNvSpPr/>
          <p:nvPr/>
        </p:nvSpPr>
        <p:spPr>
          <a:xfrm>
            <a:off x="4122539" y="3459807"/>
            <a:ext cx="2259765" cy="279946"/>
          </a:xfrm>
          <a:prstGeom prst="rect">
            <a:avLst/>
          </a:prstGeom>
          <a:noFill/>
          <a:ln/>
        </p:spPr>
        <p:txBody>
          <a:bodyPr wrap="square" lIns="0" tIns="0" rIns="0" bIns="0" rtlCol="0" anchor="t"/>
          <a:lstStyle/>
          <a:p>
            <a:pPr algn="l" indent="0" marL="0">
              <a:lnSpc>
                <a:spcPts val="735"/>
              </a:lnSpc>
              <a:buNone/>
            </a:pPr>
            <a:r>
              <a:rPr lang="en-US" sz="525" dirty="0">
                <a:solidFill>
                  <a:srgbClr val="5B21B6"/>
                </a:solidFill>
                <a:latin typeface="Arial" pitchFamily="34" charset="0"/>
                <a:ea typeface="Arial" pitchFamily="34" charset="-122"/>
                <a:cs typeface="Arial" pitchFamily="34" charset="-120"/>
              </a:rPr>
              <a:t>"okay so there's a bug in the user dashboard where the charts aren't loading and I think it's something to do with the API call timing and we need to fix it but don't touch the CSS because design just approved that"</a:t>
            </a:r>
            <a:endParaRPr lang="en-US" sz="525" dirty="0"/>
          </a:p>
        </p:txBody>
      </p:sp>
      <p:sp>
        <p:nvSpPr>
          <p:cNvPr id="32" name="Text 30"/>
          <p:cNvSpPr/>
          <p:nvPr/>
        </p:nvSpPr>
        <p:spPr>
          <a:xfrm>
            <a:off x="6490395" y="3122712"/>
            <a:ext cx="2386905" cy="796082"/>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33" name="Text 31"/>
          <p:cNvSpPr/>
          <p:nvPr/>
        </p:nvSpPr>
        <p:spPr>
          <a:xfrm>
            <a:off x="6576120" y="3208437"/>
            <a:ext cx="2259765" cy="119955"/>
          </a:xfrm>
          <a:prstGeom prst="rect">
            <a:avLst/>
          </a:prstGeom>
          <a:noFill/>
          <a:ln/>
        </p:spPr>
        <p:txBody>
          <a:bodyPr wrap="square" lIns="0" tIns="0" rIns="0" bIns="0" rtlCol="0" anchor="t"/>
          <a:lstStyle/>
          <a:p>
            <a:pPr algn="l" indent="0" marL="0">
              <a:lnSpc>
                <a:spcPts val="945"/>
              </a:lnSpc>
              <a:spcAft>
                <a:spcPts val="300"/>
              </a:spcAft>
              <a:buNone/>
            </a:pPr>
            <a:r>
              <a:rPr lang="en-US" sz="675" b="1" dirty="0">
                <a:solidFill>
                  <a:srgbClr val="1A1F2E"/>
                </a:solidFill>
                <a:latin typeface="Arial" pitchFamily="34" charset="0"/>
                <a:ea typeface="Arial" pitchFamily="34" charset="-122"/>
                <a:cs typeface="Arial" pitchFamily="34" charset="-120"/>
              </a:rPr>
              <a:t>STRUCTURED HANDOFF</a:t>
            </a:r>
            <a:endParaRPr lang="en-US" sz="675" dirty="0"/>
          </a:p>
        </p:txBody>
      </p:sp>
      <p:sp>
        <p:nvSpPr>
          <p:cNvPr id="34" name="Text 32"/>
          <p:cNvSpPr/>
          <p:nvPr/>
        </p:nvSpPr>
        <p:spPr>
          <a:xfrm>
            <a:off x="6576120" y="3366492"/>
            <a:ext cx="2259765" cy="466576"/>
          </a:xfrm>
          <a:prstGeom prst="rect">
            <a:avLst/>
          </a:prstGeom>
          <a:noFill/>
          <a:ln/>
        </p:spPr>
        <p:txBody>
          <a:bodyPr wrap="square" lIns="0" tIns="0" rIns="0" bIns="0" rtlCol="0" anchor="t"/>
          <a:lstStyle/>
          <a:p>
            <a:pPr algn="l" indent="0" marL="0">
              <a:lnSpc>
                <a:spcPts val="735"/>
              </a:lnSpc>
              <a:buNone/>
            </a:pPr>
            <a:r>
              <a:rPr lang="en-US" sz="525" b="1" dirty="0">
                <a:solidFill>
                  <a:srgbClr val="6B7280"/>
                </a:solidFill>
                <a:latin typeface="Arial" pitchFamily="34" charset="0"/>
                <a:ea typeface="Arial" pitchFamily="34" charset="-122"/>
                <a:cs typeface="Arial" pitchFamily="34" charset="-120"/>
              </a:rPr>
              <a:t>Objective:</a:t>
            </a:r>
            <a:pPr algn="l" indent="0" marL="0">
              <a:lnSpc>
                <a:spcPts val="735"/>
              </a:lnSpc>
              <a:buNone/>
            </a:pPr>
            <a:r>
              <a:rPr lang="en-US" sz="525" dirty="0">
                <a:solidFill>
                  <a:srgbClr val="6B7280"/>
                </a:solidFill>
                <a:latin typeface="Arial" pitchFamily="34" charset="0"/>
                <a:ea typeface="Arial" pitchFamily="34" charset="-122"/>
                <a:cs typeface="Arial" pitchFamily="34" charset="-120"/>
              </a:rPr>
              <a:t> Fix chart loading bug in user dashboard
</a:t>
            </a:r>
            <a:pPr algn="l" indent="0" marL="0">
              <a:lnSpc>
                <a:spcPts val="735"/>
              </a:lnSpc>
              <a:buNone/>
            </a:pPr>
            <a:r>
              <a:rPr lang="en-US" sz="525" b="1" dirty="0">
                <a:solidFill>
                  <a:srgbClr val="6B7280"/>
                </a:solidFill>
                <a:latin typeface="Arial" pitchFamily="34" charset="0"/>
                <a:ea typeface="Arial" pitchFamily="34" charset="-122"/>
                <a:cs typeface="Arial" pitchFamily="34" charset="-120"/>
              </a:rPr>
              <a:t>Likely cause:</a:t>
            </a:r>
            <a:pPr algn="l" indent="0" marL="0">
              <a:lnSpc>
                <a:spcPts val="735"/>
              </a:lnSpc>
              <a:buNone/>
            </a:pPr>
            <a:r>
              <a:rPr lang="en-US" sz="525" dirty="0">
                <a:solidFill>
                  <a:srgbClr val="6B7280"/>
                </a:solidFill>
                <a:latin typeface="Arial" pitchFamily="34" charset="0"/>
                <a:ea typeface="Arial" pitchFamily="34" charset="-122"/>
                <a:cs typeface="Arial" pitchFamily="34" charset="-120"/>
              </a:rPr>
              <a:t> API call timing issue
</a:t>
            </a:r>
            <a:pPr algn="l" indent="0" marL="0">
              <a:lnSpc>
                <a:spcPts val="735"/>
              </a:lnSpc>
              <a:buNone/>
            </a:pPr>
            <a:r>
              <a:rPr lang="en-US" sz="525" b="1" dirty="0">
                <a:solidFill>
                  <a:srgbClr val="6B7280"/>
                </a:solidFill>
                <a:latin typeface="Arial" pitchFamily="34" charset="0"/>
                <a:ea typeface="Arial" pitchFamily="34" charset="-122"/>
                <a:cs typeface="Arial" pitchFamily="34" charset="-120"/>
              </a:rPr>
              <a:t>Scope:</a:t>
            </a:r>
            <a:pPr algn="l" indent="0" marL="0">
              <a:lnSpc>
                <a:spcPts val="735"/>
              </a:lnSpc>
              <a:buNone/>
            </a:pPr>
            <a:r>
              <a:rPr lang="en-US" sz="525" dirty="0">
                <a:solidFill>
                  <a:srgbClr val="6B7280"/>
                </a:solidFill>
                <a:latin typeface="Arial" pitchFamily="34" charset="0"/>
                <a:ea typeface="Arial" pitchFamily="34" charset="-122"/>
                <a:cs typeface="Arial" pitchFamily="34" charset="-120"/>
              </a:rPr>
              <a:t> JS/API logic only
</a:t>
            </a:r>
            <a:pPr algn="l" indent="0" marL="0">
              <a:lnSpc>
                <a:spcPts val="735"/>
              </a:lnSpc>
              <a:buNone/>
            </a:pPr>
            <a:r>
              <a:rPr lang="en-US" sz="525" b="1" dirty="0">
                <a:solidFill>
                  <a:srgbClr val="6B7280"/>
                </a:solidFill>
                <a:latin typeface="Arial" pitchFamily="34" charset="0"/>
                <a:ea typeface="Arial" pitchFamily="34" charset="-122"/>
                <a:cs typeface="Arial" pitchFamily="34" charset="-120"/>
              </a:rPr>
              <a:t>Constraint:</a:t>
            </a:r>
            <a:pPr algn="l" indent="0" marL="0">
              <a:lnSpc>
                <a:spcPts val="735"/>
              </a:lnSpc>
              <a:buNone/>
            </a:pPr>
            <a:r>
              <a:rPr lang="en-US" sz="525" dirty="0">
                <a:solidFill>
                  <a:srgbClr val="6B7280"/>
                </a:solidFill>
                <a:latin typeface="Arial" pitchFamily="34" charset="0"/>
                <a:ea typeface="Arial" pitchFamily="34" charset="-122"/>
                <a:cs typeface="Arial" pitchFamily="34" charset="-120"/>
              </a:rPr>
              <a:t> Do NOT modify CSS
</a:t>
            </a:r>
            <a:pPr algn="l" indent="0" marL="0">
              <a:lnSpc>
                <a:spcPts val="735"/>
              </a:lnSpc>
              <a:buNone/>
            </a:pPr>
            <a:r>
              <a:rPr lang="en-US" sz="525" b="1" dirty="0">
                <a:solidFill>
                  <a:srgbClr val="6B7280"/>
                </a:solidFill>
                <a:latin typeface="Arial" pitchFamily="34" charset="0"/>
                <a:ea typeface="Arial" pitchFamily="34" charset="-122"/>
                <a:cs typeface="Arial" pitchFamily="34" charset="-120"/>
              </a:rPr>
              <a:t>Success:</a:t>
            </a:r>
            <a:pPr algn="l" indent="0" marL="0">
              <a:lnSpc>
                <a:spcPts val="735"/>
              </a:lnSpc>
              <a:buNone/>
            </a:pPr>
            <a:r>
              <a:rPr lang="en-US" sz="525" dirty="0">
                <a:solidFill>
                  <a:srgbClr val="6B7280"/>
                </a:solidFill>
                <a:latin typeface="Arial" pitchFamily="34" charset="0"/>
                <a:ea typeface="Arial" pitchFamily="34" charset="-122"/>
                <a:cs typeface="Arial" pitchFamily="34" charset="-120"/>
              </a:rPr>
              <a:t> Charts load correctly</a:t>
            </a:r>
            <a:endParaRPr lang="en-US" sz="525" dirty="0"/>
          </a:p>
        </p:txBody>
      </p:sp>
      <p:sp>
        <p:nvSpPr>
          <p:cNvPr id="35" name="Text 33"/>
          <p:cNvSpPr/>
          <p:nvPr/>
        </p:nvSpPr>
        <p:spPr>
          <a:xfrm>
            <a:off x="4017764" y="4147393"/>
            <a:ext cx="2391668" cy="504527"/>
          </a:xfrm>
          <a:prstGeom prst="rect">
            <a:avLst/>
          </a:prstGeom>
          <a:solidFill>
            <a:srgbClr val="DCFCE7"/>
          </a:solidFill>
          <a:ln/>
        </p:spPr>
        <p:txBody>
          <a:bodyPr wrap="square" rtlCol="0" anchor="ctr"/>
          <a:lstStyle/>
          <a:p>
            <a:pPr indent="0" marL="0">
              <a:buNone/>
            </a:pPr>
            <a:endParaRPr lang="en-US" dirty="0"/>
          </a:p>
        </p:txBody>
      </p:sp>
      <p:sp>
        <p:nvSpPr>
          <p:cNvPr id="36" name="Shape 34"/>
          <p:cNvSpPr/>
          <p:nvPr/>
        </p:nvSpPr>
        <p:spPr>
          <a:xfrm>
            <a:off x="4032052" y="4147393"/>
            <a:ext cx="0" cy="504527"/>
          </a:xfrm>
          <a:prstGeom prst="line">
            <a:avLst/>
          </a:prstGeom>
          <a:noFill/>
          <a:ln w="28575">
            <a:solidFill>
              <a:srgbClr val="059669"/>
            </a:solidFill>
            <a:prstDash val="solid"/>
          </a:ln>
        </p:spPr>
      </p:sp>
      <p:sp>
        <p:nvSpPr>
          <p:cNvPr id="37" name="Text 35"/>
          <p:cNvSpPr/>
          <p:nvPr/>
        </p:nvSpPr>
        <p:spPr>
          <a:xfrm>
            <a:off x="4122539" y="4223593"/>
            <a:ext cx="2254907" cy="119955"/>
          </a:xfrm>
          <a:prstGeom prst="rect">
            <a:avLst/>
          </a:prstGeom>
          <a:noFill/>
          <a:ln/>
        </p:spPr>
        <p:txBody>
          <a:bodyPr wrap="square" lIns="0" tIns="0" rIns="0" bIns="0" rtlCol="0" anchor="t"/>
          <a:lstStyle/>
          <a:p>
            <a:pPr algn="l" indent="0" marL="0">
              <a:lnSpc>
                <a:spcPts val="945"/>
              </a:lnSpc>
              <a:spcAft>
                <a:spcPts val="150"/>
              </a:spcAft>
              <a:buNone/>
            </a:pPr>
            <a:r>
              <a:rPr lang="en-US" sz="675" b="1" dirty="0">
                <a:solidFill>
                  <a:srgbClr val="166534"/>
                </a:solidFill>
                <a:latin typeface="Arial" pitchFamily="34" charset="0"/>
                <a:ea typeface="Arial" pitchFamily="34" charset="-122"/>
                <a:cs typeface="Arial" pitchFamily="34" charset="-120"/>
              </a:rPr>
              <a:t>WHY THIS MATTERS</a:t>
            </a:r>
            <a:endParaRPr lang="en-US" sz="675" dirty="0"/>
          </a:p>
        </p:txBody>
      </p:sp>
      <p:sp>
        <p:nvSpPr>
          <p:cNvPr id="38" name="Text 36"/>
          <p:cNvSpPr/>
          <p:nvPr/>
        </p:nvSpPr>
        <p:spPr>
          <a:xfrm>
            <a:off x="4122539" y="4362599"/>
            <a:ext cx="2254907" cy="213122"/>
          </a:xfrm>
          <a:prstGeom prst="rect">
            <a:avLst/>
          </a:prstGeom>
          <a:noFill/>
          <a:ln/>
        </p:spPr>
        <p:txBody>
          <a:bodyPr wrap="square" lIns="0" tIns="0" rIns="0" bIns="0" rtlCol="0" anchor="t"/>
          <a:lstStyle/>
          <a:p>
            <a:pPr algn="l" indent="0" marL="0">
              <a:lnSpc>
                <a:spcPts val="840"/>
              </a:lnSpc>
              <a:buNone/>
            </a:pPr>
            <a:r>
              <a:rPr lang="en-US" sz="600" dirty="0">
                <a:solidFill>
                  <a:srgbClr val="166534"/>
                </a:solidFill>
                <a:latin typeface="Arial" pitchFamily="34" charset="0"/>
                <a:ea typeface="Arial" pitchFamily="34" charset="-122"/>
                <a:cs typeface="Arial" pitchFamily="34" charset="-120"/>
              </a:rPr>
              <a:t>AI agents work better with structured tasks than rambling instructions.</a:t>
            </a:r>
            <a:endParaRPr lang="en-US" sz="600" dirty="0"/>
          </a:p>
        </p:txBody>
      </p:sp>
      <p:sp>
        <p:nvSpPr>
          <p:cNvPr id="39" name="Text 37"/>
          <p:cNvSpPr/>
          <p:nvPr/>
        </p:nvSpPr>
        <p:spPr>
          <a:xfrm>
            <a:off x="6485632" y="4147393"/>
            <a:ext cx="2391668" cy="504527"/>
          </a:xfrm>
          <a:prstGeom prst="rect">
            <a:avLst/>
          </a:prstGeom>
          <a:solidFill>
            <a:srgbClr val="FEF3C7"/>
          </a:solidFill>
          <a:ln/>
        </p:spPr>
        <p:txBody>
          <a:bodyPr wrap="square" rtlCol="0" anchor="ctr"/>
          <a:lstStyle/>
          <a:p>
            <a:pPr indent="0" marL="0">
              <a:buNone/>
            </a:pPr>
            <a:endParaRPr lang="en-US" dirty="0"/>
          </a:p>
        </p:txBody>
      </p:sp>
      <p:sp>
        <p:nvSpPr>
          <p:cNvPr id="40" name="Shape 38"/>
          <p:cNvSpPr/>
          <p:nvPr/>
        </p:nvSpPr>
        <p:spPr>
          <a:xfrm>
            <a:off x="6499920" y="4147393"/>
            <a:ext cx="0" cy="504527"/>
          </a:xfrm>
          <a:prstGeom prst="line">
            <a:avLst/>
          </a:prstGeom>
          <a:noFill/>
          <a:ln w="28575">
            <a:solidFill>
              <a:srgbClr val="F59E0B"/>
            </a:solidFill>
            <a:prstDash val="solid"/>
          </a:ln>
        </p:spPr>
      </p:sp>
      <p:sp>
        <p:nvSpPr>
          <p:cNvPr id="41" name="Text 39"/>
          <p:cNvSpPr/>
          <p:nvPr/>
        </p:nvSpPr>
        <p:spPr>
          <a:xfrm>
            <a:off x="6590407" y="4223593"/>
            <a:ext cx="2254907" cy="119955"/>
          </a:xfrm>
          <a:prstGeom prst="rect">
            <a:avLst/>
          </a:prstGeom>
          <a:noFill/>
          <a:ln/>
        </p:spPr>
        <p:txBody>
          <a:bodyPr wrap="square" lIns="0" tIns="0" rIns="0" bIns="0" rtlCol="0" anchor="t"/>
          <a:lstStyle/>
          <a:p>
            <a:pPr algn="l" indent="0" marL="0">
              <a:lnSpc>
                <a:spcPts val="945"/>
              </a:lnSpc>
              <a:spcAft>
                <a:spcPts val="150"/>
              </a:spcAft>
              <a:buNone/>
            </a:pPr>
            <a:r>
              <a:rPr lang="en-US" sz="675" b="1" dirty="0">
                <a:solidFill>
                  <a:srgbClr val="92400E"/>
                </a:solidFill>
                <a:latin typeface="Arial" pitchFamily="34" charset="0"/>
                <a:ea typeface="Arial" pitchFamily="34" charset="-122"/>
                <a:cs typeface="Arial" pitchFamily="34" charset="-120"/>
              </a:rPr>
              <a:t>WORKFLOW</a:t>
            </a:r>
            <a:endParaRPr lang="en-US" sz="675" dirty="0"/>
          </a:p>
        </p:txBody>
      </p:sp>
      <p:sp>
        <p:nvSpPr>
          <p:cNvPr id="42" name="Text 40"/>
          <p:cNvSpPr/>
          <p:nvPr/>
        </p:nvSpPr>
        <p:spPr>
          <a:xfrm>
            <a:off x="6590407" y="4362599"/>
            <a:ext cx="2254907" cy="213122"/>
          </a:xfrm>
          <a:prstGeom prst="rect">
            <a:avLst/>
          </a:prstGeom>
          <a:noFill/>
          <a:ln/>
        </p:spPr>
        <p:txBody>
          <a:bodyPr wrap="square" lIns="0" tIns="0" rIns="0" bIns="0" rtlCol="0" anchor="t"/>
          <a:lstStyle/>
          <a:p>
            <a:pPr algn="l" indent="0" marL="0">
              <a:lnSpc>
                <a:spcPts val="840"/>
              </a:lnSpc>
              <a:buNone/>
            </a:pPr>
            <a:r>
              <a:rPr lang="en-US" sz="600" dirty="0">
                <a:solidFill>
                  <a:srgbClr val="92400E"/>
                </a:solidFill>
                <a:latin typeface="Arial" pitchFamily="34" charset="0"/>
                <a:ea typeface="Arial" pitchFamily="34" charset="-122"/>
                <a:cs typeface="Arial" pitchFamily="34" charset="-120"/>
              </a:rPr>
              <a:t>Select relevant code → Dictate task → Paste to Claude Code → Agent executes</a:t>
            </a:r>
            <a:endParaRPr lang="en-US" sz="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381000" y="228600"/>
            <a:ext cx="8549640" cy="133350"/>
          </a:xfrm>
          <a:prstGeom prst="rect">
            <a:avLst/>
          </a:prstGeom>
          <a:noFill/>
          <a:ln/>
        </p:spPr>
        <p:txBody>
          <a:bodyPr wrap="square" lIns="0" tIns="0" rIns="0" bIns="0" rtlCol="0" anchor="t"/>
          <a:lstStyle/>
          <a:p>
            <a:pPr algn="l" indent="0" marL="0">
              <a:lnSpc>
                <a:spcPts val="1050"/>
              </a:lnSpc>
              <a:spcAft>
                <a:spcPts val="450"/>
              </a:spcAft>
              <a:buNone/>
            </a:pPr>
            <a:r>
              <a:rPr lang="en-US" sz="750" dirty="0">
                <a:solidFill>
                  <a:srgbClr val="C9A227"/>
                </a:solidFill>
                <a:latin typeface="Arial" pitchFamily="34" charset="0"/>
                <a:ea typeface="Arial" pitchFamily="34" charset="-122"/>
                <a:cs typeface="Arial" pitchFamily="34" charset="-120"/>
              </a:rPr>
              <a:t>LIVE DEMO</a:t>
            </a:r>
            <a:endParaRPr lang="en-US" sz="750" dirty="0"/>
          </a:p>
        </p:txBody>
      </p:sp>
      <p:sp>
        <p:nvSpPr>
          <p:cNvPr id="3" name="Text 1"/>
          <p:cNvSpPr/>
          <p:nvPr/>
        </p:nvSpPr>
        <p:spPr>
          <a:xfrm>
            <a:off x="381000" y="419100"/>
            <a:ext cx="4284536" cy="247650"/>
          </a:xfrm>
          <a:prstGeom prst="rect">
            <a:avLst/>
          </a:prstGeom>
          <a:noFill/>
          <a:ln/>
        </p:spPr>
        <p:txBody>
          <a:bodyPr wrap="square" lIns="0" tIns="0" rIns="0" bIns="0" rtlCol="0" anchor="t"/>
          <a:lstStyle/>
          <a:p>
            <a:pPr algn="l" indent="0" marL="0">
              <a:lnSpc>
                <a:spcPts val="1950"/>
              </a:lnSpc>
              <a:buNone/>
            </a:pPr>
            <a:r>
              <a:rPr lang="en-US" sz="1950" dirty="0">
                <a:solidFill>
                  <a:srgbClr val="1A1F2E"/>
                </a:solidFill>
                <a:latin typeface="Georgia" pitchFamily="34" charset="0"/>
                <a:ea typeface="Georgia" pitchFamily="34" charset="-122"/>
                <a:cs typeface="Georgia" pitchFamily="34" charset="-120"/>
              </a:rPr>
              <a:t>Context Switching in Action</a:t>
            </a:r>
            <a:endParaRPr lang="en-US" sz="1950" dirty="0"/>
          </a:p>
        </p:txBody>
      </p:sp>
      <p:sp>
        <p:nvSpPr>
          <p:cNvPr id="4" name="Text 2"/>
          <p:cNvSpPr/>
          <p:nvPr/>
        </p:nvSpPr>
        <p:spPr>
          <a:xfrm>
            <a:off x="381000" y="1644253"/>
            <a:ext cx="5036576"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DEMONSTRATION FLOW</a:t>
            </a:r>
            <a:endParaRPr lang="en-US" sz="900" dirty="0"/>
          </a:p>
        </p:txBody>
      </p:sp>
      <p:sp>
        <p:nvSpPr>
          <p:cNvPr id="5" name="Text 3"/>
          <p:cNvSpPr/>
          <p:nvPr/>
        </p:nvSpPr>
        <p:spPr>
          <a:xfrm>
            <a:off x="381000" y="1918543"/>
            <a:ext cx="4937820" cy="514201"/>
          </a:xfrm>
          <a:prstGeom prst="rect">
            <a:avLst/>
          </a:prstGeom>
          <a:solidFill>
            <a:srgbClr val="1A1F2E"/>
          </a:solidFill>
          <a:ln/>
        </p:spPr>
        <p:txBody>
          <a:bodyPr wrap="square" rtlCol="0" anchor="ctr"/>
          <a:lstStyle/>
          <a:p>
            <a:pPr indent="0" marL="0">
              <a:buNone/>
            </a:pPr>
            <a:endParaRPr lang="en-US" dirty="0"/>
          </a:p>
        </p:txBody>
      </p:sp>
      <p:sp>
        <p:nvSpPr>
          <p:cNvPr id="6" name="Text 4"/>
          <p:cNvSpPr/>
          <p:nvPr/>
        </p:nvSpPr>
        <p:spPr>
          <a:xfrm>
            <a:off x="495300" y="2061270"/>
            <a:ext cx="228600" cy="228600"/>
          </a:xfrm>
          <a:prstGeom prst="rect">
            <a:avLst/>
          </a:prstGeom>
          <a:solidFill>
            <a:srgbClr val="C9A227"/>
          </a:solidFill>
          <a:ln/>
        </p:spPr>
        <p:txBody>
          <a:bodyPr wrap="square" rtlCol="0" anchor="ctr"/>
          <a:lstStyle/>
          <a:p>
            <a:pPr indent="0" marL="0">
              <a:buNone/>
            </a:pPr>
            <a:endParaRPr lang="en-US" dirty="0"/>
          </a:p>
        </p:txBody>
      </p:sp>
      <p:sp>
        <p:nvSpPr>
          <p:cNvPr id="7" name="Text 5"/>
          <p:cNvSpPr/>
          <p:nvPr/>
        </p:nvSpPr>
        <p:spPr>
          <a:xfrm>
            <a:off x="580430" y="2102197"/>
            <a:ext cx="59507" cy="146596"/>
          </a:xfrm>
          <a:prstGeom prst="rect">
            <a:avLst/>
          </a:prstGeom>
          <a:noFill/>
          <a:ln/>
        </p:spPr>
        <p:txBody>
          <a:bodyPr wrap="square" lIns="0" tIns="0" rIns="0" bIns="0" rtlCol="0" anchor="t"/>
          <a:lstStyle/>
          <a:p>
            <a:pPr algn="l" indent="0" marL="0">
              <a:lnSpc>
                <a:spcPts val="1155"/>
              </a:lnSpc>
              <a:buNone/>
            </a:pPr>
            <a:r>
              <a:rPr lang="en-US" sz="825" b="1" dirty="0">
                <a:solidFill>
                  <a:srgbClr val="1A1F2E"/>
                </a:solidFill>
                <a:latin typeface="Arial" pitchFamily="34" charset="0"/>
                <a:ea typeface="Arial" pitchFamily="34" charset="-122"/>
                <a:cs typeface="Arial" pitchFamily="34" charset="-120"/>
              </a:rPr>
              <a:t>1</a:t>
            </a:r>
            <a:endParaRPr lang="en-US" sz="825" dirty="0"/>
          </a:p>
        </p:txBody>
      </p:sp>
      <p:sp>
        <p:nvSpPr>
          <p:cNvPr id="8" name="Text 6"/>
          <p:cNvSpPr/>
          <p:nvPr/>
        </p:nvSpPr>
        <p:spPr>
          <a:xfrm>
            <a:off x="971550" y="2032843"/>
            <a:ext cx="2072438" cy="146596"/>
          </a:xfrm>
          <a:prstGeom prst="rect">
            <a:avLst/>
          </a:prstGeom>
          <a:noFill/>
          <a:ln/>
        </p:spPr>
        <p:txBody>
          <a:bodyPr wrap="square" lIns="0" tIns="0" rIns="0" bIns="0" rtlCol="0" anchor="t"/>
          <a:lstStyle/>
          <a:p>
            <a:pPr algn="l" indent="0" marL="0">
              <a:lnSpc>
                <a:spcPts val="1155"/>
              </a:lnSpc>
              <a:buNone/>
            </a:pPr>
            <a:r>
              <a:rPr lang="en-US" sz="825" b="1" dirty="0">
                <a:solidFill>
                  <a:srgbClr val="FFFFFF"/>
                </a:solidFill>
                <a:latin typeface="Arial" pitchFamily="34" charset="0"/>
                <a:ea typeface="Arial" pitchFamily="34" charset="-122"/>
                <a:cs typeface="Arial" pitchFamily="34" charset="-120"/>
              </a:rPr>
              <a:t>Open VS Code → Coding Mode activates</a:t>
            </a:r>
            <a:endParaRPr lang="en-US" sz="825" dirty="0"/>
          </a:p>
        </p:txBody>
      </p:sp>
      <p:sp>
        <p:nvSpPr>
          <p:cNvPr id="9" name="Text 7"/>
          <p:cNvSpPr/>
          <p:nvPr/>
        </p:nvSpPr>
        <p:spPr>
          <a:xfrm>
            <a:off x="971550" y="2198489"/>
            <a:ext cx="2072438" cy="119955"/>
          </a:xfrm>
          <a:prstGeom prst="rect">
            <a:avLst/>
          </a:prstGeom>
          <a:noFill/>
          <a:ln/>
        </p:spPr>
        <p:txBody>
          <a:bodyPr wrap="square" lIns="0" tIns="0" rIns="0" bIns="0" rtlCol="0" anchor="t"/>
          <a:lstStyle/>
          <a:p>
            <a:pPr algn="l" indent="0" marL="0">
              <a:lnSpc>
                <a:spcPts val="945"/>
              </a:lnSpc>
              <a:spcBef>
                <a:spcPts val="150"/>
              </a:spcBef>
              <a:buNone/>
            </a:pPr>
            <a:r>
              <a:rPr lang="en-US" sz="675" dirty="0">
                <a:solidFill>
                  <a:srgbClr val="FFFFFF">
                    <a:alpha val="60000"/>
                  </a:srgbClr>
                </a:solidFill>
                <a:latin typeface="Arial" pitchFamily="34" charset="0"/>
                <a:ea typeface="Arial" pitchFamily="34" charset="-122"/>
                <a:cs typeface="Arial" pitchFamily="34" charset="-120"/>
              </a:rPr>
              <a:t>Dictate: "Create a function to validate email"</a:t>
            </a:r>
            <a:endParaRPr lang="en-US" sz="675" dirty="0"/>
          </a:p>
        </p:txBody>
      </p:sp>
      <p:sp>
        <p:nvSpPr>
          <p:cNvPr id="10" name="Text 8"/>
          <p:cNvSpPr/>
          <p:nvPr/>
        </p:nvSpPr>
        <p:spPr>
          <a:xfrm>
            <a:off x="381000" y="2508945"/>
            <a:ext cx="4937820" cy="514201"/>
          </a:xfrm>
          <a:prstGeom prst="rect">
            <a:avLst/>
          </a:prstGeom>
          <a:solidFill>
            <a:srgbClr val="1A1F2E"/>
          </a:solidFill>
          <a:ln/>
        </p:spPr>
        <p:txBody>
          <a:bodyPr wrap="square" rtlCol="0" anchor="ctr"/>
          <a:lstStyle/>
          <a:p>
            <a:pPr indent="0" marL="0">
              <a:buNone/>
            </a:pPr>
            <a:endParaRPr lang="en-US" dirty="0"/>
          </a:p>
        </p:txBody>
      </p:sp>
      <p:sp>
        <p:nvSpPr>
          <p:cNvPr id="11" name="Text 9"/>
          <p:cNvSpPr/>
          <p:nvPr/>
        </p:nvSpPr>
        <p:spPr>
          <a:xfrm>
            <a:off x="495300" y="2651671"/>
            <a:ext cx="228600" cy="228600"/>
          </a:xfrm>
          <a:prstGeom prst="rect">
            <a:avLst/>
          </a:prstGeom>
          <a:solidFill>
            <a:srgbClr val="C9A227"/>
          </a:solidFill>
          <a:ln/>
        </p:spPr>
        <p:txBody>
          <a:bodyPr wrap="square" rtlCol="0" anchor="ctr"/>
          <a:lstStyle/>
          <a:p>
            <a:pPr indent="0" marL="0">
              <a:buNone/>
            </a:pPr>
            <a:endParaRPr lang="en-US" dirty="0"/>
          </a:p>
        </p:txBody>
      </p:sp>
      <p:sp>
        <p:nvSpPr>
          <p:cNvPr id="12" name="Text 10"/>
          <p:cNvSpPr/>
          <p:nvPr/>
        </p:nvSpPr>
        <p:spPr>
          <a:xfrm>
            <a:off x="580430" y="2692598"/>
            <a:ext cx="59507" cy="146596"/>
          </a:xfrm>
          <a:prstGeom prst="rect">
            <a:avLst/>
          </a:prstGeom>
          <a:noFill/>
          <a:ln/>
        </p:spPr>
        <p:txBody>
          <a:bodyPr wrap="square" lIns="0" tIns="0" rIns="0" bIns="0" rtlCol="0" anchor="t"/>
          <a:lstStyle/>
          <a:p>
            <a:pPr algn="l" indent="0" marL="0">
              <a:lnSpc>
                <a:spcPts val="1155"/>
              </a:lnSpc>
              <a:buNone/>
            </a:pPr>
            <a:r>
              <a:rPr lang="en-US" sz="825" b="1" dirty="0">
                <a:solidFill>
                  <a:srgbClr val="1A1F2E"/>
                </a:solidFill>
                <a:latin typeface="Arial" pitchFamily="34" charset="0"/>
                <a:ea typeface="Arial" pitchFamily="34" charset="-122"/>
                <a:cs typeface="Arial" pitchFamily="34" charset="-120"/>
              </a:rPr>
              <a:t>2</a:t>
            </a:r>
            <a:endParaRPr lang="en-US" sz="825" dirty="0"/>
          </a:p>
        </p:txBody>
      </p:sp>
      <p:sp>
        <p:nvSpPr>
          <p:cNvPr id="13" name="Text 11"/>
          <p:cNvSpPr/>
          <p:nvPr/>
        </p:nvSpPr>
        <p:spPr>
          <a:xfrm>
            <a:off x="971550" y="2623245"/>
            <a:ext cx="2035094" cy="146596"/>
          </a:xfrm>
          <a:prstGeom prst="rect">
            <a:avLst/>
          </a:prstGeom>
          <a:noFill/>
          <a:ln/>
        </p:spPr>
        <p:txBody>
          <a:bodyPr wrap="square" lIns="0" tIns="0" rIns="0" bIns="0" rtlCol="0" anchor="t"/>
          <a:lstStyle/>
          <a:p>
            <a:pPr algn="l" indent="0" marL="0">
              <a:lnSpc>
                <a:spcPts val="1155"/>
              </a:lnSpc>
              <a:buNone/>
            </a:pPr>
            <a:r>
              <a:rPr lang="en-US" sz="825" b="1" dirty="0">
                <a:solidFill>
                  <a:srgbClr val="FFFFFF"/>
                </a:solidFill>
                <a:latin typeface="Arial" pitchFamily="34" charset="0"/>
                <a:ea typeface="Arial" pitchFamily="34" charset="-122"/>
                <a:cs typeface="Arial" pitchFamily="34" charset="-120"/>
              </a:rPr>
              <a:t>Switch to Teams → Chat Mode activates</a:t>
            </a:r>
            <a:endParaRPr lang="en-US" sz="825" dirty="0"/>
          </a:p>
        </p:txBody>
      </p:sp>
      <p:sp>
        <p:nvSpPr>
          <p:cNvPr id="14" name="Text 12"/>
          <p:cNvSpPr/>
          <p:nvPr/>
        </p:nvSpPr>
        <p:spPr>
          <a:xfrm>
            <a:off x="971550" y="2788890"/>
            <a:ext cx="2035094" cy="119955"/>
          </a:xfrm>
          <a:prstGeom prst="rect">
            <a:avLst/>
          </a:prstGeom>
          <a:noFill/>
          <a:ln/>
        </p:spPr>
        <p:txBody>
          <a:bodyPr wrap="square" lIns="0" tIns="0" rIns="0" bIns="0" rtlCol="0" anchor="t"/>
          <a:lstStyle/>
          <a:p>
            <a:pPr algn="l" indent="0" marL="0">
              <a:lnSpc>
                <a:spcPts val="945"/>
              </a:lnSpc>
              <a:spcBef>
                <a:spcPts val="150"/>
              </a:spcBef>
              <a:buNone/>
            </a:pPr>
            <a:r>
              <a:rPr lang="en-US" sz="675" dirty="0">
                <a:solidFill>
                  <a:srgbClr val="FFFFFF">
                    <a:alpha val="60000"/>
                  </a:srgbClr>
                </a:solidFill>
                <a:latin typeface="Arial" pitchFamily="34" charset="0"/>
                <a:ea typeface="Arial" pitchFamily="34" charset="-122"/>
                <a:cs typeface="Arial" pitchFamily="34" charset="-120"/>
              </a:rPr>
              <a:t>Dictate: "Hey team the feature is ready for review"</a:t>
            </a:r>
            <a:endParaRPr lang="en-US" sz="675" dirty="0"/>
          </a:p>
        </p:txBody>
      </p:sp>
      <p:sp>
        <p:nvSpPr>
          <p:cNvPr id="15" name="Text 13"/>
          <p:cNvSpPr/>
          <p:nvPr/>
        </p:nvSpPr>
        <p:spPr>
          <a:xfrm>
            <a:off x="381000" y="3099346"/>
            <a:ext cx="4937820" cy="514201"/>
          </a:xfrm>
          <a:prstGeom prst="rect">
            <a:avLst/>
          </a:prstGeom>
          <a:solidFill>
            <a:srgbClr val="1A1F2E"/>
          </a:solidFill>
          <a:ln/>
        </p:spPr>
        <p:txBody>
          <a:bodyPr wrap="square" rtlCol="0" anchor="ctr"/>
          <a:lstStyle/>
          <a:p>
            <a:pPr indent="0" marL="0">
              <a:buNone/>
            </a:pPr>
            <a:endParaRPr lang="en-US" dirty="0"/>
          </a:p>
        </p:txBody>
      </p:sp>
      <p:sp>
        <p:nvSpPr>
          <p:cNvPr id="16" name="Text 14"/>
          <p:cNvSpPr/>
          <p:nvPr/>
        </p:nvSpPr>
        <p:spPr>
          <a:xfrm>
            <a:off x="495300" y="3242072"/>
            <a:ext cx="228600" cy="228600"/>
          </a:xfrm>
          <a:prstGeom prst="rect">
            <a:avLst/>
          </a:prstGeom>
          <a:solidFill>
            <a:srgbClr val="C9A227"/>
          </a:solidFill>
          <a:ln/>
        </p:spPr>
        <p:txBody>
          <a:bodyPr wrap="square" rtlCol="0" anchor="ctr"/>
          <a:lstStyle/>
          <a:p>
            <a:pPr indent="0" marL="0">
              <a:buNone/>
            </a:pPr>
            <a:endParaRPr lang="en-US" dirty="0"/>
          </a:p>
        </p:txBody>
      </p:sp>
      <p:sp>
        <p:nvSpPr>
          <p:cNvPr id="17" name="Text 15"/>
          <p:cNvSpPr/>
          <p:nvPr/>
        </p:nvSpPr>
        <p:spPr>
          <a:xfrm>
            <a:off x="580430" y="3283000"/>
            <a:ext cx="59507" cy="146596"/>
          </a:xfrm>
          <a:prstGeom prst="rect">
            <a:avLst/>
          </a:prstGeom>
          <a:noFill/>
          <a:ln/>
        </p:spPr>
        <p:txBody>
          <a:bodyPr wrap="square" lIns="0" tIns="0" rIns="0" bIns="0" rtlCol="0" anchor="t"/>
          <a:lstStyle/>
          <a:p>
            <a:pPr algn="l" indent="0" marL="0">
              <a:lnSpc>
                <a:spcPts val="1155"/>
              </a:lnSpc>
              <a:buNone/>
            </a:pPr>
            <a:r>
              <a:rPr lang="en-US" sz="825" b="1" dirty="0">
                <a:solidFill>
                  <a:srgbClr val="1A1F2E"/>
                </a:solidFill>
                <a:latin typeface="Arial" pitchFamily="34" charset="0"/>
                <a:ea typeface="Arial" pitchFamily="34" charset="-122"/>
                <a:cs typeface="Arial" pitchFamily="34" charset="-120"/>
              </a:rPr>
              <a:t>3</a:t>
            </a:r>
            <a:endParaRPr lang="en-US" sz="825" dirty="0"/>
          </a:p>
        </p:txBody>
      </p:sp>
      <p:sp>
        <p:nvSpPr>
          <p:cNvPr id="18" name="Text 16"/>
          <p:cNvSpPr/>
          <p:nvPr/>
        </p:nvSpPr>
        <p:spPr>
          <a:xfrm>
            <a:off x="971550" y="3213646"/>
            <a:ext cx="2040407" cy="146596"/>
          </a:xfrm>
          <a:prstGeom prst="rect">
            <a:avLst/>
          </a:prstGeom>
          <a:noFill/>
          <a:ln/>
        </p:spPr>
        <p:txBody>
          <a:bodyPr wrap="square" lIns="0" tIns="0" rIns="0" bIns="0" rtlCol="0" anchor="t"/>
          <a:lstStyle/>
          <a:p>
            <a:pPr algn="l" indent="0" marL="0">
              <a:lnSpc>
                <a:spcPts val="1155"/>
              </a:lnSpc>
              <a:buNone/>
            </a:pPr>
            <a:r>
              <a:rPr lang="en-US" sz="825" b="1" dirty="0">
                <a:solidFill>
                  <a:srgbClr val="FFFFFF"/>
                </a:solidFill>
                <a:latin typeface="Arial" pitchFamily="34" charset="0"/>
                <a:ea typeface="Arial" pitchFamily="34" charset="-122"/>
                <a:cs typeface="Arial" pitchFamily="34" charset="-120"/>
              </a:rPr>
              <a:t>Open Outlook → Email Mode activates</a:t>
            </a:r>
            <a:endParaRPr lang="en-US" sz="825" dirty="0"/>
          </a:p>
        </p:txBody>
      </p:sp>
      <p:sp>
        <p:nvSpPr>
          <p:cNvPr id="19" name="Text 17"/>
          <p:cNvSpPr/>
          <p:nvPr/>
        </p:nvSpPr>
        <p:spPr>
          <a:xfrm>
            <a:off x="971550" y="3379291"/>
            <a:ext cx="2040407" cy="119955"/>
          </a:xfrm>
          <a:prstGeom prst="rect">
            <a:avLst/>
          </a:prstGeom>
          <a:noFill/>
          <a:ln/>
        </p:spPr>
        <p:txBody>
          <a:bodyPr wrap="square" lIns="0" tIns="0" rIns="0" bIns="0" rtlCol="0" anchor="t"/>
          <a:lstStyle/>
          <a:p>
            <a:pPr algn="l" indent="0" marL="0">
              <a:lnSpc>
                <a:spcPts val="945"/>
              </a:lnSpc>
              <a:spcBef>
                <a:spcPts val="150"/>
              </a:spcBef>
              <a:buNone/>
            </a:pPr>
            <a:r>
              <a:rPr lang="en-US" sz="675" dirty="0">
                <a:solidFill>
                  <a:srgbClr val="FFFFFF">
                    <a:alpha val="60000"/>
                  </a:srgbClr>
                </a:solidFill>
                <a:latin typeface="Arial" pitchFamily="34" charset="0"/>
                <a:ea typeface="Arial" pitchFamily="34" charset="-122"/>
                <a:cs typeface="Arial" pitchFamily="34" charset="-120"/>
              </a:rPr>
              <a:t>Dictate: "Follow up on our meeting about the project"</a:t>
            </a:r>
            <a:endParaRPr lang="en-US" sz="675" dirty="0"/>
          </a:p>
        </p:txBody>
      </p:sp>
      <p:sp>
        <p:nvSpPr>
          <p:cNvPr id="20" name="Text 18"/>
          <p:cNvSpPr/>
          <p:nvPr/>
        </p:nvSpPr>
        <p:spPr>
          <a:xfrm>
            <a:off x="381000" y="3689747"/>
            <a:ext cx="4937820" cy="514201"/>
          </a:xfrm>
          <a:prstGeom prst="rect">
            <a:avLst/>
          </a:prstGeom>
          <a:solidFill>
            <a:srgbClr val="1A1F2E"/>
          </a:solidFill>
          <a:ln/>
        </p:spPr>
        <p:txBody>
          <a:bodyPr wrap="square" rtlCol="0" anchor="ctr"/>
          <a:lstStyle/>
          <a:p>
            <a:pPr indent="0" marL="0">
              <a:buNone/>
            </a:pPr>
            <a:endParaRPr lang="en-US" dirty="0"/>
          </a:p>
        </p:txBody>
      </p:sp>
      <p:sp>
        <p:nvSpPr>
          <p:cNvPr id="21" name="Text 19"/>
          <p:cNvSpPr/>
          <p:nvPr/>
        </p:nvSpPr>
        <p:spPr>
          <a:xfrm>
            <a:off x="495300" y="3832473"/>
            <a:ext cx="228600" cy="228600"/>
          </a:xfrm>
          <a:prstGeom prst="rect">
            <a:avLst/>
          </a:prstGeom>
          <a:solidFill>
            <a:srgbClr val="C9A227"/>
          </a:solidFill>
          <a:ln/>
        </p:spPr>
        <p:txBody>
          <a:bodyPr wrap="square" rtlCol="0" anchor="ctr"/>
          <a:lstStyle/>
          <a:p>
            <a:pPr indent="0" marL="0">
              <a:buNone/>
            </a:pPr>
            <a:endParaRPr lang="en-US" dirty="0"/>
          </a:p>
        </p:txBody>
      </p:sp>
      <p:sp>
        <p:nvSpPr>
          <p:cNvPr id="22" name="Text 20"/>
          <p:cNvSpPr/>
          <p:nvPr/>
        </p:nvSpPr>
        <p:spPr>
          <a:xfrm>
            <a:off x="580430" y="3873401"/>
            <a:ext cx="59507" cy="146596"/>
          </a:xfrm>
          <a:prstGeom prst="rect">
            <a:avLst/>
          </a:prstGeom>
          <a:noFill/>
          <a:ln/>
        </p:spPr>
        <p:txBody>
          <a:bodyPr wrap="square" lIns="0" tIns="0" rIns="0" bIns="0" rtlCol="0" anchor="t"/>
          <a:lstStyle/>
          <a:p>
            <a:pPr algn="l" indent="0" marL="0">
              <a:lnSpc>
                <a:spcPts val="1155"/>
              </a:lnSpc>
              <a:buNone/>
            </a:pPr>
            <a:r>
              <a:rPr lang="en-US" sz="825" b="1" dirty="0">
                <a:solidFill>
                  <a:srgbClr val="1A1F2E"/>
                </a:solidFill>
                <a:latin typeface="Arial" pitchFamily="34" charset="0"/>
                <a:ea typeface="Arial" pitchFamily="34" charset="-122"/>
                <a:cs typeface="Arial" pitchFamily="34" charset="-120"/>
              </a:rPr>
              <a:t>4</a:t>
            </a:r>
            <a:endParaRPr lang="en-US" sz="825" dirty="0"/>
          </a:p>
        </p:txBody>
      </p:sp>
      <p:sp>
        <p:nvSpPr>
          <p:cNvPr id="23" name="Text 21"/>
          <p:cNvSpPr/>
          <p:nvPr/>
        </p:nvSpPr>
        <p:spPr>
          <a:xfrm>
            <a:off x="971550" y="3804047"/>
            <a:ext cx="2355705" cy="146596"/>
          </a:xfrm>
          <a:prstGeom prst="rect">
            <a:avLst/>
          </a:prstGeom>
          <a:noFill/>
          <a:ln/>
        </p:spPr>
        <p:txBody>
          <a:bodyPr wrap="square" lIns="0" tIns="0" rIns="0" bIns="0" rtlCol="0" anchor="t"/>
          <a:lstStyle/>
          <a:p>
            <a:pPr algn="l" indent="0" marL="0">
              <a:lnSpc>
                <a:spcPts val="1155"/>
              </a:lnSpc>
              <a:buNone/>
            </a:pPr>
            <a:r>
              <a:rPr lang="en-US" sz="825" b="1" dirty="0">
                <a:solidFill>
                  <a:srgbClr val="FFFFFF"/>
                </a:solidFill>
                <a:latin typeface="Arial" pitchFamily="34" charset="0"/>
                <a:ea typeface="Arial" pitchFamily="34" charset="-122"/>
                <a:cs typeface="Arial" pitchFamily="34" charset="-120"/>
              </a:rPr>
              <a:t>Open Terminal → Claude Code Mode activates</a:t>
            </a:r>
            <a:endParaRPr lang="en-US" sz="825" dirty="0"/>
          </a:p>
        </p:txBody>
      </p:sp>
      <p:sp>
        <p:nvSpPr>
          <p:cNvPr id="24" name="Text 22"/>
          <p:cNvSpPr/>
          <p:nvPr/>
        </p:nvSpPr>
        <p:spPr>
          <a:xfrm>
            <a:off x="971550" y="3969693"/>
            <a:ext cx="2355705" cy="119955"/>
          </a:xfrm>
          <a:prstGeom prst="rect">
            <a:avLst/>
          </a:prstGeom>
          <a:noFill/>
          <a:ln/>
        </p:spPr>
        <p:txBody>
          <a:bodyPr wrap="square" lIns="0" tIns="0" rIns="0" bIns="0" rtlCol="0" anchor="t"/>
          <a:lstStyle/>
          <a:p>
            <a:pPr algn="l" indent="0" marL="0">
              <a:lnSpc>
                <a:spcPts val="945"/>
              </a:lnSpc>
              <a:spcBef>
                <a:spcPts val="150"/>
              </a:spcBef>
              <a:buNone/>
            </a:pPr>
            <a:r>
              <a:rPr lang="en-US" sz="675" dirty="0">
                <a:solidFill>
                  <a:srgbClr val="FFFFFF">
                    <a:alpha val="60000"/>
                  </a:srgbClr>
                </a:solidFill>
                <a:latin typeface="Arial" pitchFamily="34" charset="0"/>
                <a:ea typeface="Arial" pitchFamily="34" charset="-122"/>
                <a:cs typeface="Arial" pitchFamily="34" charset="-120"/>
              </a:rPr>
              <a:t>Dictate: "Add error handling to the auth module"</a:t>
            </a:r>
            <a:endParaRPr lang="en-US" sz="675" dirty="0"/>
          </a:p>
        </p:txBody>
      </p:sp>
      <p:sp>
        <p:nvSpPr>
          <p:cNvPr id="25" name="Text 23"/>
          <p:cNvSpPr/>
          <p:nvPr/>
        </p:nvSpPr>
        <p:spPr>
          <a:xfrm>
            <a:off x="5471220" y="1325017"/>
            <a:ext cx="3357616"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WHAT TO WATCH FOR</a:t>
            </a:r>
            <a:endParaRPr lang="en-US" sz="900" dirty="0"/>
          </a:p>
        </p:txBody>
      </p:sp>
      <p:sp>
        <p:nvSpPr>
          <p:cNvPr id="26" name="Text 24"/>
          <p:cNvSpPr/>
          <p:nvPr/>
        </p:nvSpPr>
        <p:spPr>
          <a:xfrm>
            <a:off x="5471220" y="1599307"/>
            <a:ext cx="3291780" cy="520005"/>
          </a:xfrm>
          <a:prstGeom prst="rect">
            <a:avLst/>
          </a:prstGeom>
          <a:solidFill>
            <a:srgbClr val="DCFCE7"/>
          </a:solidFill>
          <a:ln/>
        </p:spPr>
        <p:txBody>
          <a:bodyPr wrap="square" rtlCol="0" anchor="ctr"/>
          <a:lstStyle/>
          <a:p>
            <a:pPr indent="0" marL="0">
              <a:buNone/>
            </a:pPr>
            <a:endParaRPr lang="en-US" dirty="0"/>
          </a:p>
        </p:txBody>
      </p:sp>
      <p:sp>
        <p:nvSpPr>
          <p:cNvPr id="27" name="Shape 25"/>
          <p:cNvSpPr/>
          <p:nvPr/>
        </p:nvSpPr>
        <p:spPr>
          <a:xfrm>
            <a:off x="5490270" y="1599307"/>
            <a:ext cx="0" cy="520005"/>
          </a:xfrm>
          <a:prstGeom prst="line">
            <a:avLst/>
          </a:prstGeom>
          <a:noFill/>
          <a:ln w="38100">
            <a:solidFill>
              <a:srgbClr val="059669"/>
            </a:solidFill>
            <a:prstDash val="solid"/>
          </a:ln>
        </p:spPr>
      </p:sp>
      <p:sp>
        <p:nvSpPr>
          <p:cNvPr id="28" name="Text 26"/>
          <p:cNvSpPr/>
          <p:nvPr/>
        </p:nvSpPr>
        <p:spPr>
          <a:xfrm>
            <a:off x="5623620" y="1713607"/>
            <a:ext cx="3085582"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166534"/>
                </a:solidFill>
                <a:latin typeface="Arial" pitchFamily="34" charset="0"/>
                <a:ea typeface="Arial" pitchFamily="34" charset="-122"/>
                <a:cs typeface="Arial" pitchFamily="34" charset="-120"/>
              </a:rPr>
              <a:t>MODE INDICATOR</a:t>
            </a:r>
            <a:endParaRPr lang="en-US" sz="750" dirty="0"/>
          </a:p>
        </p:txBody>
      </p:sp>
      <p:sp>
        <p:nvSpPr>
          <p:cNvPr id="29" name="Text 27"/>
          <p:cNvSpPr/>
          <p:nvPr/>
        </p:nvSpPr>
        <p:spPr>
          <a:xfrm>
            <a:off x="5623620" y="1885057"/>
            <a:ext cx="3085582" cy="119955"/>
          </a:xfrm>
          <a:prstGeom prst="rect">
            <a:avLst/>
          </a:prstGeom>
          <a:noFill/>
          <a:ln/>
        </p:spPr>
        <p:txBody>
          <a:bodyPr wrap="square" lIns="0" tIns="0" rIns="0" bIns="0" rtlCol="0" anchor="t"/>
          <a:lstStyle/>
          <a:p>
            <a:pPr algn="l" indent="0" marL="0">
              <a:lnSpc>
                <a:spcPts val="945"/>
              </a:lnSpc>
              <a:buNone/>
            </a:pPr>
            <a:r>
              <a:rPr lang="en-US" sz="675" dirty="0">
                <a:solidFill>
                  <a:srgbClr val="166534"/>
                </a:solidFill>
                <a:latin typeface="Arial" pitchFamily="34" charset="0"/>
                <a:ea typeface="Arial" pitchFamily="34" charset="-122"/>
                <a:cs typeface="Arial" pitchFamily="34" charset="-120"/>
              </a:rPr>
              <a:t>Watch the menu bar - mode name changes automatically when switching apps.</a:t>
            </a:r>
            <a:endParaRPr lang="en-US" sz="675" dirty="0"/>
          </a:p>
        </p:txBody>
      </p:sp>
      <p:sp>
        <p:nvSpPr>
          <p:cNvPr id="30" name="Text 28"/>
          <p:cNvSpPr/>
          <p:nvPr/>
        </p:nvSpPr>
        <p:spPr>
          <a:xfrm>
            <a:off x="5471220" y="2195513"/>
            <a:ext cx="3291780" cy="520005"/>
          </a:xfrm>
          <a:prstGeom prst="rect">
            <a:avLst/>
          </a:prstGeom>
          <a:solidFill>
            <a:srgbClr val="DBEAFE"/>
          </a:solidFill>
          <a:ln/>
        </p:spPr>
        <p:txBody>
          <a:bodyPr wrap="square" rtlCol="0" anchor="ctr"/>
          <a:lstStyle/>
          <a:p>
            <a:pPr indent="0" marL="0">
              <a:buNone/>
            </a:pPr>
            <a:endParaRPr lang="en-US" dirty="0"/>
          </a:p>
        </p:txBody>
      </p:sp>
      <p:sp>
        <p:nvSpPr>
          <p:cNvPr id="31" name="Shape 29"/>
          <p:cNvSpPr/>
          <p:nvPr/>
        </p:nvSpPr>
        <p:spPr>
          <a:xfrm>
            <a:off x="5490270" y="2195513"/>
            <a:ext cx="0" cy="520005"/>
          </a:xfrm>
          <a:prstGeom prst="line">
            <a:avLst/>
          </a:prstGeom>
          <a:noFill/>
          <a:ln w="38100">
            <a:solidFill>
              <a:srgbClr val="3B82F6"/>
            </a:solidFill>
            <a:prstDash val="solid"/>
          </a:ln>
        </p:spPr>
      </p:sp>
      <p:sp>
        <p:nvSpPr>
          <p:cNvPr id="32" name="Text 30"/>
          <p:cNvSpPr/>
          <p:nvPr/>
        </p:nvSpPr>
        <p:spPr>
          <a:xfrm>
            <a:off x="5623620" y="2309813"/>
            <a:ext cx="3085582"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1E40AF"/>
                </a:solidFill>
                <a:latin typeface="Arial" pitchFamily="34" charset="0"/>
                <a:ea typeface="Arial" pitchFamily="34" charset="-122"/>
                <a:cs typeface="Arial" pitchFamily="34" charset="-120"/>
              </a:rPr>
              <a:t>OUTPUT FORMAT</a:t>
            </a:r>
            <a:endParaRPr lang="en-US" sz="750" dirty="0"/>
          </a:p>
        </p:txBody>
      </p:sp>
      <p:sp>
        <p:nvSpPr>
          <p:cNvPr id="33" name="Text 31"/>
          <p:cNvSpPr/>
          <p:nvPr/>
        </p:nvSpPr>
        <p:spPr>
          <a:xfrm>
            <a:off x="5623620" y="2481263"/>
            <a:ext cx="3085582" cy="119955"/>
          </a:xfrm>
          <a:prstGeom prst="rect">
            <a:avLst/>
          </a:prstGeom>
          <a:noFill/>
          <a:ln/>
        </p:spPr>
        <p:txBody>
          <a:bodyPr wrap="square" lIns="0" tIns="0" rIns="0" bIns="0" rtlCol="0" anchor="t"/>
          <a:lstStyle/>
          <a:p>
            <a:pPr algn="l" indent="0" marL="0">
              <a:lnSpc>
                <a:spcPts val="945"/>
              </a:lnSpc>
              <a:buNone/>
            </a:pPr>
            <a:r>
              <a:rPr lang="en-US" sz="675" dirty="0">
                <a:solidFill>
                  <a:srgbClr val="1E40AF"/>
                </a:solidFill>
                <a:latin typeface="Arial" pitchFamily="34" charset="0"/>
                <a:ea typeface="Arial" pitchFamily="34" charset="-122"/>
                <a:cs typeface="Arial" pitchFamily="34" charset="-120"/>
              </a:rPr>
              <a:t>Same spoken input produces different formatted output based on context.</a:t>
            </a:r>
            <a:endParaRPr lang="en-US" sz="675" dirty="0"/>
          </a:p>
        </p:txBody>
      </p:sp>
      <p:sp>
        <p:nvSpPr>
          <p:cNvPr id="34" name="Text 32"/>
          <p:cNvSpPr/>
          <p:nvPr/>
        </p:nvSpPr>
        <p:spPr>
          <a:xfrm>
            <a:off x="5471220" y="2791718"/>
            <a:ext cx="3291780" cy="520005"/>
          </a:xfrm>
          <a:prstGeom prst="rect">
            <a:avLst/>
          </a:prstGeom>
          <a:solidFill>
            <a:srgbClr val="FEF3C7"/>
          </a:solidFill>
          <a:ln/>
        </p:spPr>
        <p:txBody>
          <a:bodyPr wrap="square" rtlCol="0" anchor="ctr"/>
          <a:lstStyle/>
          <a:p>
            <a:pPr indent="0" marL="0">
              <a:buNone/>
            </a:pPr>
            <a:endParaRPr lang="en-US" dirty="0"/>
          </a:p>
        </p:txBody>
      </p:sp>
      <p:sp>
        <p:nvSpPr>
          <p:cNvPr id="35" name="Shape 33"/>
          <p:cNvSpPr/>
          <p:nvPr/>
        </p:nvSpPr>
        <p:spPr>
          <a:xfrm>
            <a:off x="5490270" y="2791718"/>
            <a:ext cx="0" cy="520005"/>
          </a:xfrm>
          <a:prstGeom prst="line">
            <a:avLst/>
          </a:prstGeom>
          <a:noFill/>
          <a:ln w="38100">
            <a:solidFill>
              <a:srgbClr val="F59E0B"/>
            </a:solidFill>
            <a:prstDash val="solid"/>
          </a:ln>
        </p:spPr>
      </p:sp>
      <p:sp>
        <p:nvSpPr>
          <p:cNvPr id="36" name="Text 34"/>
          <p:cNvSpPr/>
          <p:nvPr/>
        </p:nvSpPr>
        <p:spPr>
          <a:xfrm>
            <a:off x="5623620" y="2906018"/>
            <a:ext cx="3085582"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92400E"/>
                </a:solidFill>
                <a:latin typeface="Arial" pitchFamily="34" charset="0"/>
                <a:ea typeface="Arial" pitchFamily="34" charset="-122"/>
                <a:cs typeface="Arial" pitchFamily="34" charset="-120"/>
              </a:rPr>
              <a:t>PROCESSING SPEED</a:t>
            </a:r>
            <a:endParaRPr lang="en-US" sz="750" dirty="0"/>
          </a:p>
        </p:txBody>
      </p:sp>
      <p:sp>
        <p:nvSpPr>
          <p:cNvPr id="37" name="Text 35"/>
          <p:cNvSpPr/>
          <p:nvPr/>
        </p:nvSpPr>
        <p:spPr>
          <a:xfrm>
            <a:off x="5623620" y="3077468"/>
            <a:ext cx="3085582" cy="119955"/>
          </a:xfrm>
          <a:prstGeom prst="rect">
            <a:avLst/>
          </a:prstGeom>
          <a:noFill/>
          <a:ln/>
        </p:spPr>
        <p:txBody>
          <a:bodyPr wrap="square" lIns="0" tIns="0" rIns="0" bIns="0" rtlCol="0" anchor="t"/>
          <a:lstStyle/>
          <a:p>
            <a:pPr algn="l" indent="0" marL="0">
              <a:lnSpc>
                <a:spcPts val="945"/>
              </a:lnSpc>
              <a:buNone/>
            </a:pPr>
            <a:r>
              <a:rPr lang="en-US" sz="675" dirty="0">
                <a:solidFill>
                  <a:srgbClr val="92400E"/>
                </a:solidFill>
                <a:latin typeface="Arial" pitchFamily="34" charset="0"/>
                <a:ea typeface="Arial" pitchFamily="34" charset="-122"/>
                <a:cs typeface="Arial" pitchFamily="34" charset="-120"/>
              </a:rPr>
              <a:t>Local models: instant processing. No network delay.</a:t>
            </a:r>
            <a:endParaRPr lang="en-US" sz="675" dirty="0"/>
          </a:p>
        </p:txBody>
      </p:sp>
      <p:sp>
        <p:nvSpPr>
          <p:cNvPr id="38" name="Text 36"/>
          <p:cNvSpPr/>
          <p:nvPr/>
        </p:nvSpPr>
        <p:spPr>
          <a:xfrm>
            <a:off x="5471220" y="3387923"/>
            <a:ext cx="3291780" cy="520005"/>
          </a:xfrm>
          <a:prstGeom prst="rect">
            <a:avLst/>
          </a:prstGeom>
          <a:solidFill>
            <a:srgbClr val="EDE9FE"/>
          </a:solidFill>
          <a:ln/>
        </p:spPr>
        <p:txBody>
          <a:bodyPr wrap="square" rtlCol="0" anchor="ctr"/>
          <a:lstStyle/>
          <a:p>
            <a:pPr indent="0" marL="0">
              <a:buNone/>
            </a:pPr>
            <a:endParaRPr lang="en-US" dirty="0"/>
          </a:p>
        </p:txBody>
      </p:sp>
      <p:sp>
        <p:nvSpPr>
          <p:cNvPr id="39" name="Shape 37"/>
          <p:cNvSpPr/>
          <p:nvPr/>
        </p:nvSpPr>
        <p:spPr>
          <a:xfrm>
            <a:off x="5490270" y="3387923"/>
            <a:ext cx="0" cy="520005"/>
          </a:xfrm>
          <a:prstGeom prst="line">
            <a:avLst/>
          </a:prstGeom>
          <a:noFill/>
          <a:ln w="38100">
            <a:solidFill>
              <a:srgbClr val="8B5CF6"/>
            </a:solidFill>
            <a:prstDash val="solid"/>
          </a:ln>
        </p:spPr>
      </p:sp>
      <p:sp>
        <p:nvSpPr>
          <p:cNvPr id="40" name="Text 38"/>
          <p:cNvSpPr/>
          <p:nvPr/>
        </p:nvSpPr>
        <p:spPr>
          <a:xfrm>
            <a:off x="5623620" y="3502223"/>
            <a:ext cx="3085582"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5B21B6"/>
                </a:solidFill>
                <a:latin typeface="Arial" pitchFamily="34" charset="0"/>
                <a:ea typeface="Arial" pitchFamily="34" charset="-122"/>
                <a:cs typeface="Arial" pitchFamily="34" charset="-120"/>
              </a:rPr>
              <a:t>NATURAL SPEECH</a:t>
            </a:r>
            <a:endParaRPr lang="en-US" sz="750" dirty="0"/>
          </a:p>
        </p:txBody>
      </p:sp>
      <p:sp>
        <p:nvSpPr>
          <p:cNvPr id="41" name="Text 39"/>
          <p:cNvSpPr/>
          <p:nvPr/>
        </p:nvSpPr>
        <p:spPr>
          <a:xfrm>
            <a:off x="5623620" y="3673673"/>
            <a:ext cx="3085582" cy="119955"/>
          </a:xfrm>
          <a:prstGeom prst="rect">
            <a:avLst/>
          </a:prstGeom>
          <a:noFill/>
          <a:ln/>
        </p:spPr>
        <p:txBody>
          <a:bodyPr wrap="square" lIns="0" tIns="0" rIns="0" bIns="0" rtlCol="0" anchor="t"/>
          <a:lstStyle/>
          <a:p>
            <a:pPr algn="l" indent="0" marL="0">
              <a:lnSpc>
                <a:spcPts val="945"/>
              </a:lnSpc>
              <a:buNone/>
            </a:pPr>
            <a:r>
              <a:rPr lang="en-US" sz="675" dirty="0">
                <a:solidFill>
                  <a:srgbClr val="5B21B6"/>
                </a:solidFill>
                <a:latin typeface="Arial" pitchFamily="34" charset="0"/>
                <a:ea typeface="Arial" pitchFamily="34" charset="-122"/>
                <a:cs typeface="Arial" pitchFamily="34" charset="-120"/>
              </a:rPr>
              <a:t>No special commands needed - just speak naturally.</a:t>
            </a:r>
            <a:endParaRPr lang="en-US" sz="675" dirty="0"/>
          </a:p>
        </p:txBody>
      </p:sp>
      <p:sp>
        <p:nvSpPr>
          <p:cNvPr id="42" name="Text 40"/>
          <p:cNvSpPr/>
          <p:nvPr/>
        </p:nvSpPr>
        <p:spPr>
          <a:xfrm>
            <a:off x="5471220" y="3984129"/>
            <a:ext cx="3291780" cy="539055"/>
          </a:xfrm>
          <a:prstGeom prst="rect">
            <a:avLst/>
          </a:prstGeom>
          <a:solidFill>
            <a:srgbClr val="FFFFFF"/>
          </a:solidFill>
          <a:ln w="9525">
            <a:solidFill>
              <a:srgbClr val="C9A227"/>
            </a:solidFill>
          </a:ln>
        </p:spPr>
        <p:txBody>
          <a:bodyPr wrap="square" rtlCol="0" anchor="ctr"/>
          <a:lstStyle/>
          <a:p>
            <a:pPr indent="0" marL="0">
              <a:buNone/>
            </a:pPr>
            <a:endParaRPr lang="en-US" dirty="0"/>
          </a:p>
        </p:txBody>
      </p:sp>
      <p:sp>
        <p:nvSpPr>
          <p:cNvPr id="43" name="Text 41"/>
          <p:cNvSpPr/>
          <p:nvPr/>
        </p:nvSpPr>
        <p:spPr>
          <a:xfrm>
            <a:off x="5595045" y="4107954"/>
            <a:ext cx="3105013" cy="133350"/>
          </a:xfrm>
          <a:prstGeom prst="rect">
            <a:avLst/>
          </a:prstGeom>
          <a:noFill/>
          <a:ln/>
        </p:spPr>
        <p:txBody>
          <a:bodyPr wrap="square" lIns="0" tIns="0" rIns="0" bIns="0" rtlCol="0" anchor="t"/>
          <a:lstStyle/>
          <a:p>
            <a:pPr algn="l" indent="0" marL="0">
              <a:lnSpc>
                <a:spcPts val="1050"/>
              </a:lnSpc>
              <a:spcAft>
                <a:spcPts val="300"/>
              </a:spcAft>
              <a:buNone/>
            </a:pPr>
            <a:r>
              <a:rPr lang="en-US" sz="750" b="1" dirty="0">
                <a:solidFill>
                  <a:srgbClr val="1A1F2E"/>
                </a:solidFill>
                <a:latin typeface="Arial" pitchFamily="34" charset="0"/>
                <a:ea typeface="Arial" pitchFamily="34" charset="-122"/>
                <a:cs typeface="Arial" pitchFamily="34" charset="-120"/>
              </a:rPr>
              <a:t>QUESTIONS?</a:t>
            </a:r>
            <a:endParaRPr lang="en-US" sz="750" dirty="0"/>
          </a:p>
        </p:txBody>
      </p:sp>
      <p:sp>
        <p:nvSpPr>
          <p:cNvPr id="44" name="Text 42"/>
          <p:cNvSpPr/>
          <p:nvPr/>
        </p:nvSpPr>
        <p:spPr>
          <a:xfrm>
            <a:off x="5595045" y="4279404"/>
            <a:ext cx="3105013" cy="119955"/>
          </a:xfrm>
          <a:prstGeom prst="rect">
            <a:avLst/>
          </a:prstGeom>
          <a:noFill/>
          <a:ln/>
        </p:spPr>
        <p:txBody>
          <a:bodyPr wrap="square" lIns="0" tIns="0" rIns="0" bIns="0" rtlCol="0" anchor="t"/>
          <a:lstStyle/>
          <a:p>
            <a:pPr algn="l" indent="0" marL="0">
              <a:lnSpc>
                <a:spcPts val="945"/>
              </a:lnSpc>
              <a:buNone/>
            </a:pPr>
            <a:r>
              <a:rPr lang="en-US" sz="675" dirty="0">
                <a:solidFill>
                  <a:srgbClr val="6B7280"/>
                </a:solidFill>
                <a:latin typeface="Arial" pitchFamily="34" charset="0"/>
                <a:ea typeface="Arial" pitchFamily="34" charset="-122"/>
                <a:cs typeface="Arial" pitchFamily="34" charset="-120"/>
              </a:rPr>
              <a:t>Stop me anytime during the demo if you want to see something specific.</a:t>
            </a:r>
            <a:endParaRPr lang="en-US" sz="675"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038103" y="1041202"/>
            <a:ext cx="1067794" cy="186630"/>
          </a:xfrm>
          <a:prstGeom prst="rect">
            <a:avLst/>
          </a:prstGeom>
          <a:noFill/>
          <a:ln/>
        </p:spPr>
        <p:txBody>
          <a:bodyPr wrap="square" lIns="0" tIns="0" rIns="0" bIns="0" rtlCol="0" anchor="t"/>
          <a:lstStyle/>
          <a:p>
            <a:pPr algn="ctr" indent="0" marL="0">
              <a:lnSpc>
                <a:spcPts val="1470"/>
              </a:lnSpc>
              <a:spcAft>
                <a:spcPts val="1500"/>
              </a:spcAft>
              <a:buNone/>
            </a:pPr>
            <a:r>
              <a:rPr lang="en-US" sz="1050" dirty="0">
                <a:solidFill>
                  <a:srgbClr val="C9A227"/>
                </a:solidFill>
                <a:latin typeface="Arial" pitchFamily="34" charset="0"/>
                <a:ea typeface="Arial" pitchFamily="34" charset="-122"/>
                <a:cs typeface="Arial" pitchFamily="34" charset="-120"/>
              </a:rPr>
              <a:t>SECTION 9</a:t>
            </a:r>
            <a:endParaRPr lang="en-US" sz="1050" dirty="0"/>
          </a:p>
        </p:txBody>
      </p:sp>
      <p:sp>
        <p:nvSpPr>
          <p:cNvPr id="3" name="Text 1"/>
          <p:cNvSpPr/>
          <p:nvPr/>
        </p:nvSpPr>
        <p:spPr>
          <a:xfrm>
            <a:off x="3375931" y="1570732"/>
            <a:ext cx="2392138" cy="495300"/>
          </a:xfrm>
          <a:prstGeom prst="rect">
            <a:avLst/>
          </a:prstGeom>
          <a:noFill/>
          <a:ln/>
        </p:spPr>
        <p:txBody>
          <a:bodyPr wrap="square" lIns="0" tIns="0" rIns="0" bIns="0" rtlCol="0" anchor="t"/>
          <a:lstStyle/>
          <a:p>
            <a:pPr algn="ctr" indent="0" marL="0">
              <a:lnSpc>
                <a:spcPts val="3900"/>
              </a:lnSpc>
              <a:spcAft>
                <a:spcPts val="1500"/>
              </a:spcAft>
              <a:buNone/>
            </a:pPr>
            <a:r>
              <a:rPr lang="en-US" sz="3900" dirty="0">
                <a:solidFill>
                  <a:srgbClr val="FFFFFF"/>
                </a:solidFill>
                <a:latin typeface="Georgia" pitchFamily="34" charset="0"/>
                <a:ea typeface="Georgia" pitchFamily="34" charset="-122"/>
                <a:cs typeface="Georgia" pitchFamily="34" charset="-120"/>
              </a:rPr>
              <a:t>Next Steps</a:t>
            </a:r>
            <a:endParaRPr lang="en-US" sz="3900" dirty="0"/>
          </a:p>
        </p:txBody>
      </p:sp>
      <p:sp>
        <p:nvSpPr>
          <p:cNvPr id="4" name="Text 2"/>
          <p:cNvSpPr/>
          <p:nvPr/>
        </p:nvSpPr>
        <p:spPr>
          <a:xfrm>
            <a:off x="4191000" y="2408932"/>
            <a:ext cx="762000" cy="28575"/>
          </a:xfrm>
          <a:prstGeom prst="rect">
            <a:avLst/>
          </a:prstGeom>
          <a:solidFill>
            <a:srgbClr val="C9A227"/>
          </a:solidFill>
          <a:ln/>
        </p:spPr>
        <p:txBody>
          <a:bodyPr wrap="square" rtlCol="0" anchor="ctr"/>
          <a:lstStyle/>
          <a:p>
            <a:pPr indent="0" marL="0">
              <a:buNone/>
            </a:pPr>
            <a:endParaRPr lang="en-US" dirty="0"/>
          </a:p>
        </p:txBody>
      </p:sp>
      <p:sp>
        <p:nvSpPr>
          <p:cNvPr id="5" name="Text 3"/>
          <p:cNvSpPr/>
          <p:nvPr/>
        </p:nvSpPr>
        <p:spPr>
          <a:xfrm>
            <a:off x="3808879" y="2818507"/>
            <a:ext cx="1526093" cy="239911"/>
          </a:xfrm>
          <a:prstGeom prst="rect">
            <a:avLst/>
          </a:prstGeom>
          <a:noFill/>
          <a:ln/>
        </p:spPr>
        <p:txBody>
          <a:bodyPr wrap="square" lIns="0" tIns="0" rIns="0" bIns="0" rtlCol="0" anchor="t"/>
          <a:lstStyle/>
          <a:p>
            <a:pPr algn="ctr" indent="0" marL="0">
              <a:lnSpc>
                <a:spcPts val="1890"/>
              </a:lnSpc>
              <a:buNone/>
            </a:pPr>
            <a:r>
              <a:rPr lang="en-US" sz="1350" dirty="0">
                <a:solidFill>
                  <a:srgbClr val="FFFFFF">
                    <a:alpha val="70000"/>
                  </a:srgbClr>
                </a:solidFill>
                <a:latin typeface="Arial" pitchFamily="34" charset="0"/>
                <a:ea typeface="Arial" pitchFamily="34" charset="-122"/>
                <a:cs typeface="Arial" pitchFamily="34" charset="-120"/>
              </a:rPr>
              <a:t>Preparing for Part 2</a:t>
            </a:r>
            <a:endParaRPr lang="en-US" sz="1350" dirty="0"/>
          </a:p>
        </p:txBody>
      </p:sp>
      <p:sp>
        <p:nvSpPr>
          <p:cNvPr id="6" name="Text 4"/>
          <p:cNvSpPr/>
          <p:nvPr/>
        </p:nvSpPr>
        <p:spPr>
          <a:xfrm>
            <a:off x="3968502" y="3591818"/>
            <a:ext cx="1206847" cy="510480"/>
          </a:xfrm>
          <a:prstGeom prst="rect">
            <a:avLst/>
          </a:prstGeom>
          <a:solidFill>
            <a:srgbClr val="C9A227">
              <a:alpha val="15000"/>
            </a:srgbClr>
          </a:solidFill>
          <a:ln w="9525">
            <a:solidFill>
              <a:srgbClr val="C9A227"/>
            </a:solidFill>
          </a:ln>
        </p:spPr>
        <p:txBody>
          <a:bodyPr wrap="square" rtlCol="0" anchor="ctr"/>
          <a:lstStyle/>
          <a:p>
            <a:pPr indent="0" marL="0">
              <a:buNone/>
            </a:pPr>
            <a:endParaRPr lang="en-US" dirty="0"/>
          </a:p>
        </p:txBody>
      </p:sp>
      <p:sp>
        <p:nvSpPr>
          <p:cNvPr id="7" name="Text 5"/>
          <p:cNvSpPr/>
          <p:nvPr/>
        </p:nvSpPr>
        <p:spPr>
          <a:xfrm>
            <a:off x="4277045" y="3753743"/>
            <a:ext cx="589761" cy="186630"/>
          </a:xfrm>
          <a:prstGeom prst="rect">
            <a:avLst/>
          </a:prstGeom>
          <a:noFill/>
          <a:ln/>
        </p:spPr>
        <p:txBody>
          <a:bodyPr wrap="square" lIns="0" tIns="0" rIns="0" bIns="0" rtlCol="0" anchor="t"/>
          <a:lstStyle/>
          <a:p>
            <a:pPr algn="ctr" indent="0" marL="0">
              <a:lnSpc>
                <a:spcPts val="1470"/>
              </a:lnSpc>
              <a:buNone/>
            </a:pPr>
            <a:r>
              <a:rPr lang="en-US" sz="1050" dirty="0">
                <a:solidFill>
                  <a:srgbClr val="C9A227"/>
                </a:solidFill>
                <a:latin typeface="Arial" pitchFamily="34" charset="0"/>
                <a:ea typeface="Arial" pitchFamily="34" charset="-122"/>
                <a:cs typeface="Arial" pitchFamily="34" charset="-120"/>
              </a:rPr>
              <a:t>5 minutes</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3599706" cy="5143500"/>
          </a:xfrm>
          <a:prstGeom prst="rect">
            <a:avLst/>
          </a:prstGeom>
          <a:solidFill>
            <a:srgbClr val="C9A227"/>
          </a:solidFill>
          <a:ln/>
        </p:spPr>
        <p:txBody>
          <a:bodyPr wrap="square" rtlCol="0" anchor="ctr"/>
          <a:lstStyle/>
          <a:p>
            <a:pPr indent="0" marL="0">
              <a:buNone/>
            </a:pPr>
            <a:endParaRPr lang="en-US" dirty="0"/>
          </a:p>
        </p:txBody>
      </p:sp>
      <p:sp>
        <p:nvSpPr>
          <p:cNvPr id="3" name="Text 1"/>
          <p:cNvSpPr/>
          <p:nvPr/>
        </p:nvSpPr>
        <p:spPr>
          <a:xfrm>
            <a:off x="381000" y="1384102"/>
            <a:ext cx="2894460" cy="146596"/>
          </a:xfrm>
          <a:prstGeom prst="rect">
            <a:avLst/>
          </a:prstGeom>
          <a:noFill/>
          <a:ln/>
        </p:spPr>
        <p:txBody>
          <a:bodyPr wrap="square" lIns="0" tIns="0" rIns="0" bIns="0" rtlCol="0" anchor="t"/>
          <a:lstStyle/>
          <a:p>
            <a:pPr algn="l" indent="0" marL="0">
              <a:lnSpc>
                <a:spcPts val="1155"/>
              </a:lnSpc>
              <a:spcAft>
                <a:spcPts val="1200"/>
              </a:spcAft>
              <a:buNone/>
            </a:pPr>
            <a:r>
              <a:rPr lang="en-US" sz="825" dirty="0">
                <a:solidFill>
                  <a:srgbClr val="1A1F2E"/>
                </a:solidFill>
                <a:latin typeface="Arial" pitchFamily="34" charset="0"/>
                <a:ea typeface="Arial" pitchFamily="34" charset="-122"/>
                <a:cs typeface="Arial" pitchFamily="34" charset="-120"/>
              </a:rPr>
              <a:t>HOMEWORK</a:t>
            </a:r>
            <a:endParaRPr lang="en-US" sz="825" dirty="0"/>
          </a:p>
        </p:txBody>
      </p:sp>
      <p:sp>
        <p:nvSpPr>
          <p:cNvPr id="4" name="Text 2"/>
          <p:cNvSpPr/>
          <p:nvPr/>
        </p:nvSpPr>
        <p:spPr>
          <a:xfrm>
            <a:off x="381000" y="1835497"/>
            <a:ext cx="1525334" cy="822722"/>
          </a:xfrm>
          <a:prstGeom prst="rect">
            <a:avLst/>
          </a:prstGeom>
          <a:noFill/>
          <a:ln/>
        </p:spPr>
        <p:txBody>
          <a:bodyPr wrap="square" lIns="0" tIns="0" rIns="0" bIns="0" rtlCol="0" anchor="t"/>
          <a:lstStyle/>
          <a:p>
            <a:pPr algn="l" indent="0" marL="0">
              <a:lnSpc>
                <a:spcPts val="3240"/>
              </a:lnSpc>
              <a:buNone/>
            </a:pPr>
            <a:r>
              <a:rPr lang="en-US" sz="2700" dirty="0">
                <a:solidFill>
                  <a:srgbClr val="1A1F2E"/>
                </a:solidFill>
                <a:latin typeface="Georgia" pitchFamily="34" charset="0"/>
                <a:ea typeface="Georgia" pitchFamily="34" charset="-122"/>
                <a:cs typeface="Georgia" pitchFamily="34" charset="-120"/>
              </a:rPr>
              <a:t>Pre-Work</a:t>
            </a:r>
            <a:endParaRPr lang="en-US" sz="2700" dirty="0"/>
          </a:p>
          <a:p>
            <a:pPr algn="l" indent="0" marL="0">
              <a:lnSpc>
                <a:spcPts val="3240"/>
              </a:lnSpc>
              <a:buNone/>
            </a:pPr>
            <a:r>
              <a:rPr lang="en-US" sz="2700" dirty="0">
                <a:solidFill>
                  <a:srgbClr val="1A1F2E"/>
                </a:solidFill>
                <a:latin typeface="Georgia" pitchFamily="34" charset="0"/>
                <a:ea typeface="Georgia" pitchFamily="34" charset="-122"/>
                <a:cs typeface="Georgia" pitchFamily="34" charset="-120"/>
              </a:rPr>
              <a:t>for Part 2</a:t>
            </a:r>
            <a:endParaRPr lang="en-US" sz="2700" dirty="0"/>
          </a:p>
        </p:txBody>
      </p:sp>
      <p:sp>
        <p:nvSpPr>
          <p:cNvPr id="5" name="Text 3"/>
          <p:cNvSpPr/>
          <p:nvPr/>
        </p:nvSpPr>
        <p:spPr>
          <a:xfrm>
            <a:off x="381000" y="3001119"/>
            <a:ext cx="457200" cy="19050"/>
          </a:xfrm>
          <a:prstGeom prst="rect">
            <a:avLst/>
          </a:prstGeom>
          <a:solidFill>
            <a:srgbClr val="1A1F2E"/>
          </a:solidFill>
          <a:ln/>
        </p:spPr>
        <p:txBody>
          <a:bodyPr wrap="square" rtlCol="0" anchor="ctr"/>
          <a:lstStyle/>
          <a:p>
            <a:pPr indent="0" marL="0">
              <a:buNone/>
            </a:pPr>
            <a:endParaRPr lang="en-US" dirty="0"/>
          </a:p>
        </p:txBody>
      </p:sp>
      <p:sp>
        <p:nvSpPr>
          <p:cNvPr id="6" name="Text 4"/>
          <p:cNvSpPr/>
          <p:nvPr/>
        </p:nvSpPr>
        <p:spPr>
          <a:xfrm>
            <a:off x="381000" y="3363069"/>
            <a:ext cx="2894460" cy="396180"/>
          </a:xfrm>
          <a:prstGeom prst="rect">
            <a:avLst/>
          </a:prstGeom>
          <a:noFill/>
          <a:ln/>
        </p:spPr>
        <p:txBody>
          <a:bodyPr wrap="square" lIns="0" tIns="0" rIns="0" bIns="0" rtlCol="0" anchor="t"/>
          <a:lstStyle/>
          <a:p>
            <a:pPr algn="l" indent="0" marL="0">
              <a:lnSpc>
                <a:spcPts val="1560"/>
              </a:lnSpc>
              <a:buNone/>
            </a:pPr>
            <a:r>
              <a:rPr lang="en-US" sz="975" dirty="0">
                <a:solidFill>
                  <a:srgbClr val="1A1F2E">
                    <a:alpha val="70000"/>
                  </a:srgbClr>
                </a:solidFill>
                <a:latin typeface="Arial" pitchFamily="34" charset="0"/>
                <a:ea typeface="Arial" pitchFamily="34" charset="-122"/>
                <a:cs typeface="Arial" pitchFamily="34" charset="-120"/>
              </a:rPr>
              <a:t>Complete these before our next session for the best hands-on experience.</a:t>
            </a:r>
            <a:endParaRPr lang="en-US" sz="975" dirty="0"/>
          </a:p>
        </p:txBody>
      </p:sp>
      <p:sp>
        <p:nvSpPr>
          <p:cNvPr id="7" name="Text 5"/>
          <p:cNvSpPr/>
          <p:nvPr/>
        </p:nvSpPr>
        <p:spPr>
          <a:xfrm>
            <a:off x="3752106" y="0"/>
            <a:ext cx="5391894" cy="5143500"/>
          </a:xfrm>
          <a:prstGeom prst="rect">
            <a:avLst/>
          </a:prstGeom>
          <a:solidFill>
            <a:srgbClr val="F7F8FA"/>
          </a:solidFill>
          <a:ln/>
        </p:spPr>
        <p:txBody>
          <a:bodyPr wrap="square" rtlCol="0" anchor="ctr"/>
          <a:lstStyle/>
          <a:p>
            <a:pPr indent="0" marL="0">
              <a:buNone/>
            </a:pPr>
            <a:endParaRPr lang="en-US" dirty="0"/>
          </a:p>
        </p:txBody>
      </p:sp>
      <p:sp>
        <p:nvSpPr>
          <p:cNvPr id="8" name="Text 6"/>
          <p:cNvSpPr/>
          <p:nvPr/>
        </p:nvSpPr>
        <p:spPr>
          <a:xfrm>
            <a:off x="4133106" y="805309"/>
            <a:ext cx="4629894" cy="634157"/>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9" name="Text 7"/>
          <p:cNvSpPr/>
          <p:nvPr/>
        </p:nvSpPr>
        <p:spPr>
          <a:xfrm>
            <a:off x="4314081" y="988963"/>
            <a:ext cx="266700" cy="266700"/>
          </a:xfrm>
          <a:prstGeom prst="rect">
            <a:avLst/>
          </a:prstGeom>
          <a:solidFill>
            <a:srgbClr val="1A1F2E"/>
          </a:solidFill>
          <a:ln/>
        </p:spPr>
        <p:txBody>
          <a:bodyPr wrap="square" rtlCol="0" anchor="ctr"/>
          <a:lstStyle/>
          <a:p>
            <a:pPr indent="0" marL="0">
              <a:buNone/>
            </a:pPr>
            <a:endParaRPr lang="en-US" dirty="0"/>
          </a:p>
        </p:txBody>
      </p:sp>
      <p:sp>
        <p:nvSpPr>
          <p:cNvPr id="10" name="Text 8"/>
          <p:cNvSpPr/>
          <p:nvPr/>
        </p:nvSpPr>
        <p:spPr>
          <a:xfrm>
            <a:off x="4415582" y="1042243"/>
            <a:ext cx="64972" cy="159990"/>
          </a:xfrm>
          <a:prstGeom prst="rect">
            <a:avLst/>
          </a:prstGeom>
          <a:noFill/>
          <a:ln/>
        </p:spPr>
        <p:txBody>
          <a:bodyPr wrap="square" lIns="0" tIns="0" rIns="0" bIns="0" rtlCol="0" anchor="t"/>
          <a:lstStyle/>
          <a:p>
            <a:pPr algn="l" indent="0" marL="0">
              <a:lnSpc>
                <a:spcPts val="1260"/>
              </a:lnSpc>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11" name="Text 9"/>
          <p:cNvSpPr/>
          <p:nvPr/>
        </p:nvSpPr>
        <p:spPr>
          <a:xfrm>
            <a:off x="4866531" y="948184"/>
            <a:ext cx="2571571" cy="173236"/>
          </a:xfrm>
          <a:prstGeom prst="rect">
            <a:avLst/>
          </a:prstGeom>
          <a:noFill/>
          <a:ln/>
        </p:spPr>
        <p:txBody>
          <a:bodyPr wrap="square" lIns="0" tIns="0" rIns="0" bIns="0" rtlCol="0" anchor="t"/>
          <a:lstStyle/>
          <a:p>
            <a:pPr algn="l" indent="0" marL="0">
              <a:lnSpc>
                <a:spcPts val="1365"/>
              </a:lnSpc>
              <a:buNone/>
            </a:pPr>
            <a:r>
              <a:rPr lang="en-US" sz="975" b="1" dirty="0">
                <a:solidFill>
                  <a:srgbClr val="1A1F2E"/>
                </a:solidFill>
                <a:latin typeface="Arial" pitchFamily="34" charset="0"/>
                <a:ea typeface="Arial" pitchFamily="34" charset="-122"/>
                <a:cs typeface="Arial" pitchFamily="34" charset="-120"/>
              </a:rPr>
              <a:t>Install your voice tool</a:t>
            </a:r>
            <a:endParaRPr lang="en-US" sz="975" dirty="0"/>
          </a:p>
        </p:txBody>
      </p:sp>
      <p:sp>
        <p:nvSpPr>
          <p:cNvPr id="12" name="Text 10"/>
          <p:cNvSpPr/>
          <p:nvPr/>
        </p:nvSpPr>
        <p:spPr>
          <a:xfrm>
            <a:off x="4866531" y="1149995"/>
            <a:ext cx="2571571" cy="146596"/>
          </a:xfrm>
          <a:prstGeom prst="rect">
            <a:avLst/>
          </a:prstGeom>
          <a:noFill/>
          <a:ln/>
        </p:spPr>
        <p:txBody>
          <a:bodyPr wrap="square" lIns="0" tIns="0" rIns="0" bIns="0" rtlCol="0" anchor="t"/>
          <a:lstStyle/>
          <a:p>
            <a:pPr algn="l" indent="0" marL="0">
              <a:lnSpc>
                <a:spcPts val="1155"/>
              </a:lnSpc>
              <a:spcBef>
                <a:spcPts val="225"/>
              </a:spcBef>
              <a:buNone/>
            </a:pPr>
            <a:r>
              <a:rPr lang="en-US" sz="825" dirty="0">
                <a:solidFill>
                  <a:srgbClr val="6B7280"/>
                </a:solidFill>
                <a:latin typeface="Arial" pitchFamily="34" charset="0"/>
                <a:ea typeface="Arial" pitchFamily="34" charset="-122"/>
                <a:cs typeface="Arial" pitchFamily="34" charset="-120"/>
              </a:rPr>
              <a:t>SuperWhisper (Mac) or WhisperFlow (Windows/Linux)</a:t>
            </a:r>
            <a:endParaRPr lang="en-US" sz="825" dirty="0"/>
          </a:p>
        </p:txBody>
      </p:sp>
      <p:sp>
        <p:nvSpPr>
          <p:cNvPr id="13" name="Text 11"/>
          <p:cNvSpPr/>
          <p:nvPr/>
        </p:nvSpPr>
        <p:spPr>
          <a:xfrm>
            <a:off x="4133106" y="1534716"/>
            <a:ext cx="4629894" cy="634157"/>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4" name="Text 12"/>
          <p:cNvSpPr/>
          <p:nvPr/>
        </p:nvSpPr>
        <p:spPr>
          <a:xfrm>
            <a:off x="4314081" y="1718370"/>
            <a:ext cx="266700" cy="266700"/>
          </a:xfrm>
          <a:prstGeom prst="rect">
            <a:avLst/>
          </a:prstGeom>
          <a:solidFill>
            <a:srgbClr val="1A1F2E"/>
          </a:solidFill>
          <a:ln/>
        </p:spPr>
        <p:txBody>
          <a:bodyPr wrap="square" rtlCol="0" anchor="ctr"/>
          <a:lstStyle/>
          <a:p>
            <a:pPr indent="0" marL="0">
              <a:buNone/>
            </a:pPr>
            <a:endParaRPr lang="en-US" dirty="0"/>
          </a:p>
        </p:txBody>
      </p:sp>
      <p:sp>
        <p:nvSpPr>
          <p:cNvPr id="15" name="Text 13"/>
          <p:cNvSpPr/>
          <p:nvPr/>
        </p:nvSpPr>
        <p:spPr>
          <a:xfrm>
            <a:off x="4415582" y="1771650"/>
            <a:ext cx="64972" cy="159990"/>
          </a:xfrm>
          <a:prstGeom prst="rect">
            <a:avLst/>
          </a:prstGeom>
          <a:noFill/>
          <a:ln/>
        </p:spPr>
        <p:txBody>
          <a:bodyPr wrap="square" lIns="0" tIns="0" rIns="0" bIns="0" rtlCol="0" anchor="t"/>
          <a:lstStyle/>
          <a:p>
            <a:pPr algn="l" indent="0" marL="0">
              <a:lnSpc>
                <a:spcPts val="1260"/>
              </a:lnSpc>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16" name="Text 14"/>
          <p:cNvSpPr/>
          <p:nvPr/>
        </p:nvSpPr>
        <p:spPr>
          <a:xfrm>
            <a:off x="4866531" y="1677591"/>
            <a:ext cx="1944163" cy="173236"/>
          </a:xfrm>
          <a:prstGeom prst="rect">
            <a:avLst/>
          </a:prstGeom>
          <a:noFill/>
          <a:ln/>
        </p:spPr>
        <p:txBody>
          <a:bodyPr wrap="square" lIns="0" tIns="0" rIns="0" bIns="0" rtlCol="0" anchor="t"/>
          <a:lstStyle/>
          <a:p>
            <a:pPr algn="l" indent="0" marL="0">
              <a:lnSpc>
                <a:spcPts val="1365"/>
              </a:lnSpc>
              <a:buNone/>
            </a:pPr>
            <a:r>
              <a:rPr lang="en-US" sz="975" b="1" dirty="0">
                <a:solidFill>
                  <a:srgbClr val="1A1F2E"/>
                </a:solidFill>
                <a:latin typeface="Arial" pitchFamily="34" charset="0"/>
                <a:ea typeface="Arial" pitchFamily="34" charset="-122"/>
                <a:cs typeface="Arial" pitchFamily="34" charset="-120"/>
              </a:rPr>
              <a:t>Install Claude Code</a:t>
            </a:r>
            <a:endParaRPr lang="en-US" sz="975" dirty="0"/>
          </a:p>
        </p:txBody>
      </p:sp>
      <p:sp>
        <p:nvSpPr>
          <p:cNvPr id="17" name="Text 15"/>
          <p:cNvSpPr/>
          <p:nvPr/>
        </p:nvSpPr>
        <p:spPr>
          <a:xfrm>
            <a:off x="4866531" y="1879402"/>
            <a:ext cx="1944163" cy="146596"/>
          </a:xfrm>
          <a:prstGeom prst="rect">
            <a:avLst/>
          </a:prstGeom>
          <a:noFill/>
          <a:ln/>
        </p:spPr>
        <p:txBody>
          <a:bodyPr wrap="square" lIns="0" tIns="0" rIns="0" bIns="0" rtlCol="0" anchor="t"/>
          <a:lstStyle/>
          <a:p>
            <a:pPr algn="l" indent="0" marL="0">
              <a:lnSpc>
                <a:spcPts val="1155"/>
              </a:lnSpc>
              <a:spcBef>
                <a:spcPts val="225"/>
              </a:spcBef>
              <a:buNone/>
            </a:pPr>
            <a:r>
              <a:rPr lang="en-US" sz="825" dirty="0">
                <a:solidFill>
                  <a:srgbClr val="6B7280"/>
                </a:solidFill>
                <a:latin typeface="Arial" pitchFamily="34" charset="0"/>
                <a:ea typeface="Arial" pitchFamily="34" charset="-122"/>
                <a:cs typeface="Arial" pitchFamily="34" charset="-120"/>
              </a:rPr>
              <a:t>npm install -g @anthropic-ai/claude-code</a:t>
            </a:r>
            <a:endParaRPr lang="en-US" sz="825" dirty="0"/>
          </a:p>
        </p:txBody>
      </p:sp>
      <p:sp>
        <p:nvSpPr>
          <p:cNvPr id="18" name="Text 16"/>
          <p:cNvSpPr/>
          <p:nvPr/>
        </p:nvSpPr>
        <p:spPr>
          <a:xfrm>
            <a:off x="4133106" y="2264122"/>
            <a:ext cx="4629894" cy="634157"/>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19" name="Text 17"/>
          <p:cNvSpPr/>
          <p:nvPr/>
        </p:nvSpPr>
        <p:spPr>
          <a:xfrm>
            <a:off x="4314081" y="2447776"/>
            <a:ext cx="266700" cy="266700"/>
          </a:xfrm>
          <a:prstGeom prst="rect">
            <a:avLst/>
          </a:prstGeom>
          <a:solidFill>
            <a:srgbClr val="1A1F2E"/>
          </a:solidFill>
          <a:ln/>
        </p:spPr>
        <p:txBody>
          <a:bodyPr wrap="square" rtlCol="0" anchor="ctr"/>
          <a:lstStyle/>
          <a:p>
            <a:pPr indent="0" marL="0">
              <a:buNone/>
            </a:pPr>
            <a:endParaRPr lang="en-US" dirty="0"/>
          </a:p>
        </p:txBody>
      </p:sp>
      <p:sp>
        <p:nvSpPr>
          <p:cNvPr id="20" name="Text 18"/>
          <p:cNvSpPr/>
          <p:nvPr/>
        </p:nvSpPr>
        <p:spPr>
          <a:xfrm>
            <a:off x="4415582" y="2501057"/>
            <a:ext cx="64972" cy="159990"/>
          </a:xfrm>
          <a:prstGeom prst="rect">
            <a:avLst/>
          </a:prstGeom>
          <a:noFill/>
          <a:ln/>
        </p:spPr>
        <p:txBody>
          <a:bodyPr wrap="square" lIns="0" tIns="0" rIns="0" bIns="0" rtlCol="0" anchor="t"/>
          <a:lstStyle/>
          <a:p>
            <a:pPr algn="l" indent="0" marL="0">
              <a:lnSpc>
                <a:spcPts val="1260"/>
              </a:lnSpc>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21" name="Text 19"/>
          <p:cNvSpPr/>
          <p:nvPr/>
        </p:nvSpPr>
        <p:spPr>
          <a:xfrm>
            <a:off x="4866531" y="2406997"/>
            <a:ext cx="2352669" cy="173236"/>
          </a:xfrm>
          <a:prstGeom prst="rect">
            <a:avLst/>
          </a:prstGeom>
          <a:noFill/>
          <a:ln/>
        </p:spPr>
        <p:txBody>
          <a:bodyPr wrap="square" lIns="0" tIns="0" rIns="0" bIns="0" rtlCol="0" anchor="t"/>
          <a:lstStyle/>
          <a:p>
            <a:pPr algn="l" indent="0" marL="0">
              <a:lnSpc>
                <a:spcPts val="1365"/>
              </a:lnSpc>
              <a:buNone/>
            </a:pPr>
            <a:r>
              <a:rPr lang="en-US" sz="975" b="1" dirty="0">
                <a:solidFill>
                  <a:srgbClr val="1A1F2E"/>
                </a:solidFill>
                <a:latin typeface="Arial" pitchFamily="34" charset="0"/>
                <a:ea typeface="Arial" pitchFamily="34" charset="-122"/>
                <a:cs typeface="Arial" pitchFamily="34" charset="-120"/>
              </a:rPr>
              <a:t>Set up authentication</a:t>
            </a:r>
            <a:endParaRPr lang="en-US" sz="975" dirty="0"/>
          </a:p>
        </p:txBody>
      </p:sp>
      <p:sp>
        <p:nvSpPr>
          <p:cNvPr id="22" name="Text 20"/>
          <p:cNvSpPr/>
          <p:nvPr/>
        </p:nvSpPr>
        <p:spPr>
          <a:xfrm>
            <a:off x="4866531" y="2608808"/>
            <a:ext cx="2352669" cy="146596"/>
          </a:xfrm>
          <a:prstGeom prst="rect">
            <a:avLst/>
          </a:prstGeom>
          <a:noFill/>
          <a:ln/>
        </p:spPr>
        <p:txBody>
          <a:bodyPr wrap="square" lIns="0" tIns="0" rIns="0" bIns="0" rtlCol="0" anchor="t"/>
          <a:lstStyle/>
          <a:p>
            <a:pPr algn="l" indent="0" marL="0">
              <a:lnSpc>
                <a:spcPts val="1155"/>
              </a:lnSpc>
              <a:spcBef>
                <a:spcPts val="225"/>
              </a:spcBef>
              <a:buNone/>
            </a:pPr>
            <a:r>
              <a:rPr lang="en-US" sz="825" dirty="0">
                <a:solidFill>
                  <a:srgbClr val="6B7280"/>
                </a:solidFill>
                <a:latin typeface="Arial" pitchFamily="34" charset="0"/>
                <a:ea typeface="Arial" pitchFamily="34" charset="-122"/>
                <a:cs typeface="Arial" pitchFamily="34" charset="-120"/>
              </a:rPr>
              <a:t>Run claude and complete OAuth or API key setup</a:t>
            </a:r>
            <a:endParaRPr lang="en-US" sz="825" dirty="0"/>
          </a:p>
        </p:txBody>
      </p:sp>
      <p:sp>
        <p:nvSpPr>
          <p:cNvPr id="23" name="Text 21"/>
          <p:cNvSpPr/>
          <p:nvPr/>
        </p:nvSpPr>
        <p:spPr>
          <a:xfrm>
            <a:off x="4133106" y="2993529"/>
            <a:ext cx="4629894" cy="634157"/>
          </a:xfrm>
          <a:prstGeom prst="rect">
            <a:avLst/>
          </a:prstGeom>
          <a:solidFill>
            <a:srgbClr val="FFFFFF"/>
          </a:solidFill>
          <a:ln w="9525">
            <a:solidFill>
              <a:srgbClr val="E4E7ED"/>
            </a:solidFill>
          </a:ln>
        </p:spPr>
        <p:txBody>
          <a:bodyPr wrap="square" rtlCol="0" anchor="ctr"/>
          <a:lstStyle/>
          <a:p>
            <a:pPr indent="0" marL="0">
              <a:buNone/>
            </a:pPr>
            <a:endParaRPr lang="en-US" dirty="0"/>
          </a:p>
        </p:txBody>
      </p:sp>
      <p:sp>
        <p:nvSpPr>
          <p:cNvPr id="24" name="Text 22"/>
          <p:cNvSpPr/>
          <p:nvPr/>
        </p:nvSpPr>
        <p:spPr>
          <a:xfrm>
            <a:off x="4314081" y="3177183"/>
            <a:ext cx="266700" cy="266700"/>
          </a:xfrm>
          <a:prstGeom prst="rect">
            <a:avLst/>
          </a:prstGeom>
          <a:solidFill>
            <a:srgbClr val="1A1F2E"/>
          </a:solidFill>
          <a:ln/>
        </p:spPr>
        <p:txBody>
          <a:bodyPr wrap="square" rtlCol="0" anchor="ctr"/>
          <a:lstStyle/>
          <a:p>
            <a:pPr indent="0" marL="0">
              <a:buNone/>
            </a:pPr>
            <a:endParaRPr lang="en-US" dirty="0"/>
          </a:p>
        </p:txBody>
      </p:sp>
      <p:sp>
        <p:nvSpPr>
          <p:cNvPr id="25" name="Text 23"/>
          <p:cNvSpPr/>
          <p:nvPr/>
        </p:nvSpPr>
        <p:spPr>
          <a:xfrm>
            <a:off x="4415582" y="3230463"/>
            <a:ext cx="64972" cy="159990"/>
          </a:xfrm>
          <a:prstGeom prst="rect">
            <a:avLst/>
          </a:prstGeom>
          <a:noFill/>
          <a:ln/>
        </p:spPr>
        <p:txBody>
          <a:bodyPr wrap="square" lIns="0" tIns="0" rIns="0" bIns="0" rtlCol="0" anchor="t"/>
          <a:lstStyle/>
          <a:p>
            <a:pPr algn="l" indent="0" marL="0">
              <a:lnSpc>
                <a:spcPts val="1260"/>
              </a:lnSpc>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26" name="Text 24"/>
          <p:cNvSpPr/>
          <p:nvPr/>
        </p:nvSpPr>
        <p:spPr>
          <a:xfrm>
            <a:off x="4866531" y="3136404"/>
            <a:ext cx="2031754" cy="173236"/>
          </a:xfrm>
          <a:prstGeom prst="rect">
            <a:avLst/>
          </a:prstGeom>
          <a:noFill/>
          <a:ln/>
        </p:spPr>
        <p:txBody>
          <a:bodyPr wrap="square" lIns="0" tIns="0" rIns="0" bIns="0" rtlCol="0" anchor="t"/>
          <a:lstStyle/>
          <a:p>
            <a:pPr algn="l" indent="0" marL="0">
              <a:lnSpc>
                <a:spcPts val="1365"/>
              </a:lnSpc>
              <a:buNone/>
            </a:pPr>
            <a:r>
              <a:rPr lang="en-US" sz="975" b="1" dirty="0">
                <a:solidFill>
                  <a:srgbClr val="1A1F2E"/>
                </a:solidFill>
                <a:latin typeface="Arial" pitchFamily="34" charset="0"/>
                <a:ea typeface="Arial" pitchFamily="34" charset="-122"/>
                <a:cs typeface="Arial" pitchFamily="34" charset="-120"/>
              </a:rPr>
              <a:t>Have a project ready</a:t>
            </a:r>
            <a:endParaRPr lang="en-US" sz="975" dirty="0"/>
          </a:p>
        </p:txBody>
      </p:sp>
      <p:sp>
        <p:nvSpPr>
          <p:cNvPr id="27" name="Text 25"/>
          <p:cNvSpPr/>
          <p:nvPr/>
        </p:nvSpPr>
        <p:spPr>
          <a:xfrm>
            <a:off x="4866531" y="3338215"/>
            <a:ext cx="2031754" cy="146596"/>
          </a:xfrm>
          <a:prstGeom prst="rect">
            <a:avLst/>
          </a:prstGeom>
          <a:noFill/>
          <a:ln/>
        </p:spPr>
        <p:txBody>
          <a:bodyPr wrap="square" lIns="0" tIns="0" rIns="0" bIns="0" rtlCol="0" anchor="t"/>
          <a:lstStyle/>
          <a:p>
            <a:pPr algn="l" indent="0" marL="0">
              <a:lnSpc>
                <a:spcPts val="1155"/>
              </a:lnSpc>
              <a:spcBef>
                <a:spcPts val="225"/>
              </a:spcBef>
              <a:buNone/>
            </a:pPr>
            <a:r>
              <a:rPr lang="en-US" sz="825" dirty="0">
                <a:solidFill>
                  <a:srgbClr val="6B7280"/>
                </a:solidFill>
                <a:latin typeface="Arial" pitchFamily="34" charset="0"/>
                <a:ea typeface="Arial" pitchFamily="34" charset="-122"/>
                <a:cs typeface="Arial" pitchFamily="34" charset="-120"/>
              </a:rPr>
              <a:t>Any codebase you want to experiment with</a:t>
            </a:r>
            <a:endParaRPr lang="en-US" sz="825" dirty="0"/>
          </a:p>
        </p:txBody>
      </p:sp>
      <p:sp>
        <p:nvSpPr>
          <p:cNvPr id="28" name="Text 26"/>
          <p:cNvSpPr/>
          <p:nvPr/>
        </p:nvSpPr>
        <p:spPr>
          <a:xfrm>
            <a:off x="4133106" y="3722936"/>
            <a:ext cx="4629894" cy="615107"/>
          </a:xfrm>
          <a:prstGeom prst="rect">
            <a:avLst/>
          </a:prstGeom>
          <a:solidFill>
            <a:srgbClr val="1A1F2E"/>
          </a:solidFill>
          <a:ln/>
        </p:spPr>
        <p:txBody>
          <a:bodyPr wrap="square" rtlCol="0" anchor="ctr"/>
          <a:lstStyle/>
          <a:p>
            <a:pPr indent="0" marL="0">
              <a:buNone/>
            </a:pPr>
            <a:endParaRPr lang="en-US" dirty="0"/>
          </a:p>
        </p:txBody>
      </p:sp>
      <p:sp>
        <p:nvSpPr>
          <p:cNvPr id="29" name="Text 27"/>
          <p:cNvSpPr/>
          <p:nvPr/>
        </p:nvSpPr>
        <p:spPr>
          <a:xfrm>
            <a:off x="4304556" y="3897064"/>
            <a:ext cx="266700" cy="266700"/>
          </a:xfrm>
          <a:prstGeom prst="rect">
            <a:avLst/>
          </a:prstGeom>
          <a:solidFill>
            <a:srgbClr val="C9A227"/>
          </a:solidFill>
          <a:ln/>
        </p:spPr>
        <p:txBody>
          <a:bodyPr wrap="square" rtlCol="0" anchor="ctr"/>
          <a:lstStyle/>
          <a:p>
            <a:pPr indent="0" marL="0">
              <a:buNone/>
            </a:pPr>
            <a:endParaRPr lang="en-US" dirty="0"/>
          </a:p>
        </p:txBody>
      </p:sp>
      <p:sp>
        <p:nvSpPr>
          <p:cNvPr id="30" name="Text 28"/>
          <p:cNvSpPr/>
          <p:nvPr/>
        </p:nvSpPr>
        <p:spPr>
          <a:xfrm>
            <a:off x="4406057" y="3950345"/>
            <a:ext cx="64972" cy="159990"/>
          </a:xfrm>
          <a:prstGeom prst="rect">
            <a:avLst/>
          </a:prstGeom>
          <a:noFill/>
          <a:ln/>
        </p:spPr>
        <p:txBody>
          <a:bodyPr wrap="square" lIns="0" tIns="0" rIns="0" bIns="0" rtlCol="0" anchor="t"/>
          <a:lstStyle/>
          <a:p>
            <a:pPr algn="l" indent="0" marL="0">
              <a:lnSpc>
                <a:spcPts val="1260"/>
              </a:lnSpc>
              <a:buNone/>
            </a:pPr>
            <a:r>
              <a:rPr lang="en-US" sz="900" b="1" dirty="0">
                <a:solidFill>
                  <a:srgbClr val="1A1F2E"/>
                </a:solidFill>
                <a:latin typeface="Arial" pitchFamily="34" charset="0"/>
                <a:ea typeface="Arial" pitchFamily="34" charset="-122"/>
                <a:cs typeface="Arial" pitchFamily="34" charset="-120"/>
              </a:rPr>
              <a:t>5</a:t>
            </a:r>
            <a:endParaRPr lang="en-US" sz="900" dirty="0"/>
          </a:p>
        </p:txBody>
      </p:sp>
      <p:sp>
        <p:nvSpPr>
          <p:cNvPr id="31" name="Text 29"/>
          <p:cNvSpPr/>
          <p:nvPr/>
        </p:nvSpPr>
        <p:spPr>
          <a:xfrm>
            <a:off x="4857006" y="3856286"/>
            <a:ext cx="2217563" cy="173236"/>
          </a:xfrm>
          <a:prstGeom prst="rect">
            <a:avLst/>
          </a:prstGeom>
          <a:noFill/>
          <a:ln/>
        </p:spPr>
        <p:txBody>
          <a:bodyPr wrap="square" lIns="0" tIns="0" rIns="0" bIns="0" rtlCol="0" anchor="t"/>
          <a:lstStyle/>
          <a:p>
            <a:pPr algn="l" indent="0" marL="0">
              <a:lnSpc>
                <a:spcPts val="1365"/>
              </a:lnSpc>
              <a:buNone/>
            </a:pPr>
            <a:r>
              <a:rPr lang="en-US" sz="975" b="1" dirty="0">
                <a:solidFill>
                  <a:srgbClr val="FFFFFF"/>
                </a:solidFill>
                <a:latin typeface="Arial" pitchFamily="34" charset="0"/>
                <a:ea typeface="Arial" pitchFamily="34" charset="-122"/>
                <a:cs typeface="Arial" pitchFamily="34" charset="-120"/>
              </a:rPr>
              <a:t>Practice voice input</a:t>
            </a:r>
            <a:endParaRPr lang="en-US" sz="975" dirty="0"/>
          </a:p>
        </p:txBody>
      </p:sp>
      <p:sp>
        <p:nvSpPr>
          <p:cNvPr id="32" name="Text 30"/>
          <p:cNvSpPr/>
          <p:nvPr/>
        </p:nvSpPr>
        <p:spPr>
          <a:xfrm>
            <a:off x="4857006" y="4058096"/>
            <a:ext cx="2217563" cy="146596"/>
          </a:xfrm>
          <a:prstGeom prst="rect">
            <a:avLst/>
          </a:prstGeom>
          <a:noFill/>
          <a:ln/>
        </p:spPr>
        <p:txBody>
          <a:bodyPr wrap="square" lIns="0" tIns="0" rIns="0" bIns="0" rtlCol="0" anchor="t"/>
          <a:lstStyle/>
          <a:p>
            <a:pPr algn="l" indent="0" marL="0">
              <a:lnSpc>
                <a:spcPts val="1155"/>
              </a:lnSpc>
              <a:spcBef>
                <a:spcPts val="225"/>
              </a:spcBef>
              <a:buNone/>
            </a:pPr>
            <a:r>
              <a:rPr lang="en-US" sz="825" dirty="0">
                <a:solidFill>
                  <a:srgbClr val="FFFFFF">
                    <a:alpha val="60000"/>
                  </a:srgbClr>
                </a:solidFill>
                <a:latin typeface="Arial" pitchFamily="34" charset="0"/>
                <a:ea typeface="Arial" pitchFamily="34" charset="-122"/>
                <a:cs typeface="Arial" pitchFamily="34" charset="-120"/>
              </a:rPr>
              <a:t>Try dictating emails or notes to get comfortable</a:t>
            </a:r>
            <a:endParaRPr lang="en-US" sz="825"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457200" y="304800"/>
            <a:ext cx="8394192" cy="146596"/>
          </a:xfrm>
          <a:prstGeom prst="rect">
            <a:avLst/>
          </a:prstGeom>
          <a:noFill/>
          <a:ln/>
        </p:spPr>
        <p:txBody>
          <a:bodyPr wrap="square" lIns="0" tIns="0" rIns="0" bIns="0" rtlCol="0" anchor="t"/>
          <a:lstStyle/>
          <a:p>
            <a:pPr algn="l" indent="0" marL="0">
              <a:lnSpc>
                <a:spcPts val="1155"/>
              </a:lnSpc>
              <a:spcAft>
                <a:spcPts val="600"/>
              </a:spcAft>
              <a:buNone/>
            </a:pPr>
            <a:r>
              <a:rPr lang="en-US" sz="825" dirty="0">
                <a:solidFill>
                  <a:srgbClr val="C9A227"/>
                </a:solidFill>
                <a:latin typeface="Arial" pitchFamily="34" charset="0"/>
                <a:ea typeface="Arial" pitchFamily="34" charset="-122"/>
                <a:cs typeface="Arial" pitchFamily="34" charset="-120"/>
              </a:rPr>
              <a:t>PREVIEW</a:t>
            </a:r>
            <a:endParaRPr lang="en-US" sz="825" dirty="0"/>
          </a:p>
        </p:txBody>
      </p:sp>
      <p:sp>
        <p:nvSpPr>
          <p:cNvPr id="3" name="Text 1"/>
          <p:cNvSpPr/>
          <p:nvPr/>
        </p:nvSpPr>
        <p:spPr>
          <a:xfrm>
            <a:off x="457200" y="527596"/>
            <a:ext cx="5120068" cy="304800"/>
          </a:xfrm>
          <a:prstGeom prst="rect">
            <a:avLst/>
          </a:prstGeom>
          <a:noFill/>
          <a:ln/>
        </p:spPr>
        <p:txBody>
          <a:bodyPr wrap="square" lIns="0" tIns="0" rIns="0" bIns="0" rtlCol="0" anchor="t"/>
          <a:lstStyle/>
          <a:p>
            <a:pPr algn="l" indent="0" marL="0">
              <a:lnSpc>
                <a:spcPts val="2400"/>
              </a:lnSpc>
              <a:buNone/>
            </a:pPr>
            <a:r>
              <a:rPr lang="en-US" sz="2400" dirty="0">
                <a:solidFill>
                  <a:srgbClr val="1A1F2E"/>
                </a:solidFill>
                <a:latin typeface="Georgia" pitchFamily="34" charset="0"/>
                <a:ea typeface="Georgia" pitchFamily="34" charset="-122"/>
                <a:cs typeface="Georgia" pitchFamily="34" charset="-120"/>
              </a:rPr>
              <a:t>Coming in Part 2: Hands-On Practice</a:t>
            </a:r>
            <a:endParaRPr lang="en-US" sz="2400" dirty="0"/>
          </a:p>
        </p:txBody>
      </p:sp>
      <p:sp>
        <p:nvSpPr>
          <p:cNvPr id="4" name="Text 2"/>
          <p:cNvSpPr/>
          <p:nvPr/>
        </p:nvSpPr>
        <p:spPr>
          <a:xfrm>
            <a:off x="457200" y="1237506"/>
            <a:ext cx="2641550" cy="2476054"/>
          </a:xfrm>
          <a:prstGeom prst="rect">
            <a:avLst/>
          </a:prstGeom>
          <a:solidFill>
            <a:srgbClr val="1A1F2E"/>
          </a:solidFill>
          <a:ln/>
        </p:spPr>
        <p:txBody>
          <a:bodyPr wrap="square" rtlCol="0" anchor="ctr"/>
          <a:lstStyle/>
          <a:p>
            <a:pPr indent="0" marL="0">
              <a:buNone/>
            </a:pPr>
            <a:endParaRPr lang="en-US" dirty="0"/>
          </a:p>
        </p:txBody>
      </p:sp>
      <p:sp>
        <p:nvSpPr>
          <p:cNvPr id="5" name="Text 3"/>
          <p:cNvSpPr/>
          <p:nvPr/>
        </p:nvSpPr>
        <p:spPr>
          <a:xfrm>
            <a:off x="685800" y="1466106"/>
            <a:ext cx="457200" cy="457200"/>
          </a:xfrm>
          <a:prstGeom prst="rect">
            <a:avLst/>
          </a:prstGeom>
          <a:solidFill>
            <a:srgbClr val="C9A227"/>
          </a:solidFill>
          <a:ln/>
        </p:spPr>
        <p:txBody>
          <a:bodyPr wrap="square" rtlCol="0" anchor="ctr"/>
          <a:lstStyle/>
          <a:p>
            <a:pPr indent="0" marL="0">
              <a:buNone/>
            </a:pPr>
            <a:endParaRPr lang="en-US" dirty="0"/>
          </a:p>
        </p:txBody>
      </p:sp>
      <p:sp>
        <p:nvSpPr>
          <p:cNvPr id="6" name="Text 4"/>
          <p:cNvSpPr/>
          <p:nvPr/>
        </p:nvSpPr>
        <p:spPr>
          <a:xfrm>
            <a:off x="814983" y="1561356"/>
            <a:ext cx="202811" cy="266700"/>
          </a:xfrm>
          <a:prstGeom prst="rect">
            <a:avLst/>
          </a:prstGeom>
          <a:noFill/>
          <a:ln/>
        </p:spPr>
        <p:txBody>
          <a:bodyPr wrap="square" lIns="0" tIns="0" rIns="0" bIns="0" rtlCol="0" anchor="t"/>
          <a:lstStyle/>
          <a:p>
            <a:pPr algn="l" indent="0" marL="0">
              <a:lnSpc>
                <a:spcPts val="2100"/>
              </a:lnSpc>
              <a:buNone/>
            </a:pPr>
            <a:r>
              <a:rPr lang="en-US" sz="1500" dirty="0">
                <a:solidFill>
                  <a:srgbClr val="1A1F2E"/>
                </a:solidFill>
                <a:latin typeface="Georgia" pitchFamily="34" charset="0"/>
                <a:ea typeface="Georgia" pitchFamily="34" charset="-122"/>
                <a:cs typeface="Georgia" pitchFamily="34" charset="-120"/>
              </a:rPr>
              <a:t>01</a:t>
            </a:r>
            <a:endParaRPr lang="en-US" sz="1500" dirty="0"/>
          </a:p>
        </p:txBody>
      </p:sp>
      <p:sp>
        <p:nvSpPr>
          <p:cNvPr id="7" name="Text 5"/>
          <p:cNvSpPr/>
          <p:nvPr/>
        </p:nvSpPr>
        <p:spPr>
          <a:xfrm>
            <a:off x="685800" y="2228106"/>
            <a:ext cx="2228037" cy="213271"/>
          </a:xfrm>
          <a:prstGeom prst="rect">
            <a:avLst/>
          </a:prstGeom>
          <a:noFill/>
          <a:ln/>
        </p:spPr>
        <p:txBody>
          <a:bodyPr wrap="square" lIns="0" tIns="0" rIns="0" bIns="0" rtlCol="0" anchor="t"/>
          <a:lstStyle/>
          <a:p>
            <a:pPr algn="l" indent="0" marL="0">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Real Exercises</a:t>
            </a:r>
            <a:endParaRPr lang="en-US" sz="1200" dirty="0"/>
          </a:p>
        </p:txBody>
      </p:sp>
      <p:sp>
        <p:nvSpPr>
          <p:cNvPr id="8" name="Text 6"/>
          <p:cNvSpPr/>
          <p:nvPr/>
        </p:nvSpPr>
        <p:spPr>
          <a:xfrm>
            <a:off x="685800" y="2708077"/>
            <a:ext cx="2228037" cy="776883"/>
          </a:xfrm>
          <a:prstGeom prst="rect">
            <a:avLst/>
          </a:prstGeom>
          <a:noFill/>
          <a:ln/>
        </p:spPr>
        <p:txBody>
          <a:bodyPr wrap="square" lIns="0" tIns="0" rIns="0" bIns="0" rtlCol="0" anchor="t"/>
          <a:lstStyle/>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Voice-driven refactoring</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Test generation</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Documentation updates</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Bug fixing workflows</a:t>
            </a:r>
            <a:endParaRPr lang="en-US" sz="900" dirty="0"/>
          </a:p>
        </p:txBody>
      </p:sp>
      <p:sp>
        <p:nvSpPr>
          <p:cNvPr id="9" name="Text 7"/>
          <p:cNvSpPr/>
          <p:nvPr/>
        </p:nvSpPr>
        <p:spPr>
          <a:xfrm>
            <a:off x="3251150" y="1237506"/>
            <a:ext cx="2641550" cy="2476054"/>
          </a:xfrm>
          <a:prstGeom prst="rect">
            <a:avLst/>
          </a:prstGeom>
          <a:solidFill>
            <a:srgbClr val="1A1F2E"/>
          </a:solidFill>
          <a:ln/>
        </p:spPr>
        <p:txBody>
          <a:bodyPr wrap="square" rtlCol="0" anchor="ctr"/>
          <a:lstStyle/>
          <a:p>
            <a:pPr indent="0" marL="0">
              <a:buNone/>
            </a:pPr>
            <a:endParaRPr lang="en-US" dirty="0"/>
          </a:p>
        </p:txBody>
      </p:sp>
      <p:sp>
        <p:nvSpPr>
          <p:cNvPr id="10" name="Text 8"/>
          <p:cNvSpPr/>
          <p:nvPr/>
        </p:nvSpPr>
        <p:spPr>
          <a:xfrm>
            <a:off x="3479750" y="1466106"/>
            <a:ext cx="457200" cy="457200"/>
          </a:xfrm>
          <a:prstGeom prst="rect">
            <a:avLst/>
          </a:prstGeom>
          <a:solidFill>
            <a:srgbClr val="C9A227"/>
          </a:solidFill>
          <a:ln/>
        </p:spPr>
        <p:txBody>
          <a:bodyPr wrap="square" rtlCol="0" anchor="ctr"/>
          <a:lstStyle/>
          <a:p>
            <a:pPr indent="0" marL="0">
              <a:buNone/>
            </a:pPr>
            <a:endParaRPr lang="en-US" dirty="0"/>
          </a:p>
        </p:txBody>
      </p:sp>
      <p:sp>
        <p:nvSpPr>
          <p:cNvPr id="11" name="Text 9"/>
          <p:cNvSpPr/>
          <p:nvPr/>
        </p:nvSpPr>
        <p:spPr>
          <a:xfrm>
            <a:off x="3596580" y="1561356"/>
            <a:ext cx="227859" cy="266700"/>
          </a:xfrm>
          <a:prstGeom prst="rect">
            <a:avLst/>
          </a:prstGeom>
          <a:noFill/>
          <a:ln/>
        </p:spPr>
        <p:txBody>
          <a:bodyPr wrap="square" lIns="0" tIns="0" rIns="0" bIns="0" rtlCol="0" anchor="t"/>
          <a:lstStyle/>
          <a:p>
            <a:pPr algn="l" indent="0" marL="0">
              <a:lnSpc>
                <a:spcPts val="2100"/>
              </a:lnSpc>
              <a:buNone/>
            </a:pPr>
            <a:r>
              <a:rPr lang="en-US" sz="1500" dirty="0">
                <a:solidFill>
                  <a:srgbClr val="1A1F2E"/>
                </a:solidFill>
                <a:latin typeface="Georgia" pitchFamily="34" charset="0"/>
                <a:ea typeface="Georgia" pitchFamily="34" charset="-122"/>
                <a:cs typeface="Georgia" pitchFamily="34" charset="-120"/>
              </a:rPr>
              <a:t>02</a:t>
            </a:r>
            <a:endParaRPr lang="en-US" sz="1500" dirty="0"/>
          </a:p>
        </p:txBody>
      </p:sp>
      <p:sp>
        <p:nvSpPr>
          <p:cNvPr id="12" name="Text 10"/>
          <p:cNvSpPr/>
          <p:nvPr/>
        </p:nvSpPr>
        <p:spPr>
          <a:xfrm>
            <a:off x="3479750" y="2228106"/>
            <a:ext cx="2228037" cy="213271"/>
          </a:xfrm>
          <a:prstGeom prst="rect">
            <a:avLst/>
          </a:prstGeom>
          <a:noFill/>
          <a:ln/>
        </p:spPr>
        <p:txBody>
          <a:bodyPr wrap="square" lIns="0" tIns="0" rIns="0" bIns="0" rtlCol="0" anchor="t"/>
          <a:lstStyle/>
          <a:p>
            <a:pPr algn="l" indent="0" marL="0">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Your Projects</a:t>
            </a:r>
            <a:endParaRPr lang="en-US" sz="1200" dirty="0"/>
          </a:p>
        </p:txBody>
      </p:sp>
      <p:sp>
        <p:nvSpPr>
          <p:cNvPr id="13" name="Text 11"/>
          <p:cNvSpPr/>
          <p:nvPr/>
        </p:nvSpPr>
        <p:spPr>
          <a:xfrm>
            <a:off x="3479750" y="2708077"/>
            <a:ext cx="2228037" cy="776883"/>
          </a:xfrm>
          <a:prstGeom prst="rect">
            <a:avLst/>
          </a:prstGeom>
          <a:noFill/>
          <a:ln/>
        </p:spPr>
        <p:txBody>
          <a:bodyPr wrap="square" lIns="0" tIns="0" rIns="0" bIns="0" rtlCol="0" anchor="t"/>
          <a:lstStyle/>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Work on your own code</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Real-world scenarios</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Team-specific patterns</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Custom workflows</a:t>
            </a:r>
            <a:endParaRPr lang="en-US" sz="900" dirty="0"/>
          </a:p>
        </p:txBody>
      </p:sp>
      <p:sp>
        <p:nvSpPr>
          <p:cNvPr id="14" name="Text 12"/>
          <p:cNvSpPr/>
          <p:nvPr/>
        </p:nvSpPr>
        <p:spPr>
          <a:xfrm>
            <a:off x="6045101" y="1237506"/>
            <a:ext cx="2641550" cy="2476054"/>
          </a:xfrm>
          <a:prstGeom prst="rect">
            <a:avLst/>
          </a:prstGeom>
          <a:solidFill>
            <a:srgbClr val="1A1F2E"/>
          </a:solidFill>
          <a:ln/>
        </p:spPr>
        <p:txBody>
          <a:bodyPr wrap="square" rtlCol="0" anchor="ctr"/>
          <a:lstStyle/>
          <a:p>
            <a:pPr indent="0" marL="0">
              <a:buNone/>
            </a:pPr>
            <a:endParaRPr lang="en-US" dirty="0"/>
          </a:p>
        </p:txBody>
      </p:sp>
      <p:sp>
        <p:nvSpPr>
          <p:cNvPr id="15" name="Text 13"/>
          <p:cNvSpPr/>
          <p:nvPr/>
        </p:nvSpPr>
        <p:spPr>
          <a:xfrm>
            <a:off x="6273701" y="1466106"/>
            <a:ext cx="457200" cy="457200"/>
          </a:xfrm>
          <a:prstGeom prst="rect">
            <a:avLst/>
          </a:prstGeom>
          <a:solidFill>
            <a:srgbClr val="C9A227"/>
          </a:solidFill>
          <a:ln/>
        </p:spPr>
        <p:txBody>
          <a:bodyPr wrap="square" rtlCol="0" anchor="ctr"/>
          <a:lstStyle/>
          <a:p>
            <a:pPr indent="0" marL="0">
              <a:buNone/>
            </a:pPr>
            <a:endParaRPr lang="en-US" dirty="0"/>
          </a:p>
        </p:txBody>
      </p:sp>
      <p:sp>
        <p:nvSpPr>
          <p:cNvPr id="16" name="Text 14"/>
          <p:cNvSpPr/>
          <p:nvPr/>
        </p:nvSpPr>
        <p:spPr>
          <a:xfrm>
            <a:off x="6391275" y="1561356"/>
            <a:ext cx="226493" cy="266700"/>
          </a:xfrm>
          <a:prstGeom prst="rect">
            <a:avLst/>
          </a:prstGeom>
          <a:noFill/>
          <a:ln/>
        </p:spPr>
        <p:txBody>
          <a:bodyPr wrap="square" lIns="0" tIns="0" rIns="0" bIns="0" rtlCol="0" anchor="t"/>
          <a:lstStyle/>
          <a:p>
            <a:pPr algn="l" indent="0" marL="0">
              <a:lnSpc>
                <a:spcPts val="2100"/>
              </a:lnSpc>
              <a:buNone/>
            </a:pPr>
            <a:r>
              <a:rPr lang="en-US" sz="1500" dirty="0">
                <a:solidFill>
                  <a:srgbClr val="1A1F2E"/>
                </a:solidFill>
                <a:latin typeface="Georgia" pitchFamily="34" charset="0"/>
                <a:ea typeface="Georgia" pitchFamily="34" charset="-122"/>
                <a:cs typeface="Georgia" pitchFamily="34" charset="-120"/>
              </a:rPr>
              <a:t>03</a:t>
            </a:r>
            <a:endParaRPr lang="en-US" sz="1500" dirty="0"/>
          </a:p>
        </p:txBody>
      </p:sp>
      <p:sp>
        <p:nvSpPr>
          <p:cNvPr id="17" name="Text 15"/>
          <p:cNvSpPr/>
          <p:nvPr/>
        </p:nvSpPr>
        <p:spPr>
          <a:xfrm>
            <a:off x="6273701" y="2228106"/>
            <a:ext cx="2228037" cy="213271"/>
          </a:xfrm>
          <a:prstGeom prst="rect">
            <a:avLst/>
          </a:prstGeom>
          <a:noFill/>
          <a:ln/>
        </p:spPr>
        <p:txBody>
          <a:bodyPr wrap="square" lIns="0" tIns="0" rIns="0" bIns="0" rtlCol="0" anchor="t"/>
          <a:lstStyle/>
          <a:p>
            <a:pPr algn="l" indent="0" marL="0">
              <a:lnSpc>
                <a:spcPts val="1680"/>
              </a:lnSpc>
              <a:spcAft>
                <a:spcPts val="900"/>
              </a:spcAft>
              <a:buNone/>
            </a:pPr>
            <a:r>
              <a:rPr lang="en-US" sz="1200" dirty="0">
                <a:solidFill>
                  <a:srgbClr val="FFFFFF"/>
                </a:solidFill>
                <a:latin typeface="Georgia" pitchFamily="34" charset="0"/>
                <a:ea typeface="Georgia" pitchFamily="34" charset="-122"/>
                <a:cs typeface="Georgia" pitchFamily="34" charset="-120"/>
              </a:rPr>
              <a:t>Tips &amp; Troubleshooting</a:t>
            </a:r>
            <a:endParaRPr lang="en-US" sz="1200" dirty="0"/>
          </a:p>
        </p:txBody>
      </p:sp>
      <p:sp>
        <p:nvSpPr>
          <p:cNvPr id="18" name="Text 16"/>
          <p:cNvSpPr/>
          <p:nvPr/>
        </p:nvSpPr>
        <p:spPr>
          <a:xfrm>
            <a:off x="6273701" y="2708077"/>
            <a:ext cx="2228037" cy="776883"/>
          </a:xfrm>
          <a:prstGeom prst="rect">
            <a:avLst/>
          </a:prstGeom>
          <a:noFill/>
          <a:ln/>
        </p:spPr>
        <p:txBody>
          <a:bodyPr wrap="square" lIns="0" tIns="0" rIns="0" bIns="0" rtlCol="0" anchor="t"/>
          <a:lstStyle/>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Common pitfalls</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Optimization tricks</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Voice command patterns</a:t>
            </a:r>
            <a:endParaRPr lang="en-US" sz="900" dirty="0"/>
          </a:p>
          <a:p>
            <a:pPr algn="l" indent="0" marL="0">
              <a:lnSpc>
                <a:spcPts val="1530"/>
              </a:lnSpc>
              <a:buNone/>
            </a:pPr>
            <a:r>
              <a:rPr lang="en-US" sz="900" dirty="0">
                <a:solidFill>
                  <a:srgbClr val="FFFFFF">
                    <a:alpha val="60000"/>
                  </a:srgbClr>
                </a:solidFill>
                <a:latin typeface="Arial" pitchFamily="34" charset="0"/>
                <a:ea typeface="Arial" pitchFamily="34" charset="-122"/>
                <a:cs typeface="Arial" pitchFamily="34" charset="-120"/>
              </a:rPr>
              <a:t>Debug techniques</a:t>
            </a:r>
            <a:endParaRPr lang="en-US" sz="900" dirty="0"/>
          </a:p>
        </p:txBody>
      </p:sp>
      <p:sp>
        <p:nvSpPr>
          <p:cNvPr id="19" name="Text 17"/>
          <p:cNvSpPr/>
          <p:nvPr/>
        </p:nvSpPr>
        <p:spPr>
          <a:xfrm>
            <a:off x="457200" y="4271070"/>
            <a:ext cx="8229600" cy="567630"/>
          </a:xfrm>
          <a:prstGeom prst="rect">
            <a:avLst/>
          </a:prstGeom>
          <a:solidFill>
            <a:srgbClr val="C9A227"/>
          </a:solidFill>
          <a:ln/>
        </p:spPr>
        <p:txBody>
          <a:bodyPr wrap="square" rtlCol="0" anchor="ctr"/>
          <a:lstStyle/>
          <a:p>
            <a:pPr indent="0" marL="0">
              <a:buNone/>
            </a:pPr>
            <a:endParaRPr lang="en-US" dirty="0"/>
          </a:p>
        </p:txBody>
      </p:sp>
      <p:sp>
        <p:nvSpPr>
          <p:cNvPr id="20" name="Text 18"/>
          <p:cNvSpPr/>
          <p:nvPr/>
        </p:nvSpPr>
        <p:spPr>
          <a:xfrm>
            <a:off x="608076" y="4461570"/>
            <a:ext cx="7927848" cy="186630"/>
          </a:xfrm>
          <a:prstGeom prst="rect">
            <a:avLst/>
          </a:prstGeom>
          <a:noFill/>
          <a:ln/>
        </p:spPr>
        <p:txBody>
          <a:bodyPr wrap="square" lIns="0" tIns="0" rIns="0" bIns="0" rtlCol="0" anchor="t"/>
          <a:lstStyle/>
          <a:p>
            <a:pPr algn="ctr" indent="0" marL="0">
              <a:lnSpc>
                <a:spcPts val="1470"/>
              </a:lnSpc>
              <a:buNone/>
            </a:pPr>
            <a:r>
              <a:rPr lang="en-US" sz="1050" b="1" dirty="0">
                <a:solidFill>
                  <a:srgbClr val="1A1F2E"/>
                </a:solidFill>
                <a:latin typeface="Arial" pitchFamily="34" charset="0"/>
                <a:ea typeface="Arial" pitchFamily="34" charset="-122"/>
                <a:cs typeface="Arial" pitchFamily="34" charset="-120"/>
              </a:rPr>
              <a:t>Part 2 is all hands-on - bring your laptop and a project you want to improve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var/folders/8s/qp6qfsr90ml5q7fb2n2ptwch0000gn/T/rasterized-gradient-2d3573eb.png">    </p:cNvPr>
          <p:cNvPicPr>
            <a:picLocks noChangeAspect="1"/>
          </p:cNvPicPr>
          <p:nvPr/>
        </p:nvPicPr>
        <p:blipFill>
          <a:blip r:embed="rId1"/>
          <a:stretch>
            <a:fillRect/>
          </a:stretch>
        </p:blipFill>
        <p:spPr>
          <a:xfrm>
            <a:off x="0" y="0"/>
            <a:ext cx="5850434" cy="5143500"/>
          </a:xfrm>
          <a:prstGeom prst="rect">
            <a:avLst/>
          </a:prstGeom>
        </p:spPr>
      </p:pic>
      <p:sp>
        <p:nvSpPr>
          <p:cNvPr id="3" name="Text 0"/>
          <p:cNvSpPr/>
          <p:nvPr/>
        </p:nvSpPr>
        <p:spPr>
          <a:xfrm>
            <a:off x="457200" y="1023193"/>
            <a:ext cx="5034754" cy="146596"/>
          </a:xfrm>
          <a:prstGeom prst="rect">
            <a:avLst/>
          </a:prstGeom>
          <a:noFill/>
          <a:ln/>
        </p:spPr>
        <p:txBody>
          <a:bodyPr wrap="square" lIns="0" tIns="0" rIns="0" bIns="0" rtlCol="0" anchor="t"/>
          <a:lstStyle/>
          <a:p>
            <a:pPr algn="l" indent="0" marL="0">
              <a:lnSpc>
                <a:spcPts val="1155"/>
              </a:lnSpc>
              <a:spcAft>
                <a:spcPts val="1500"/>
              </a:spcAft>
              <a:buNone/>
            </a:pPr>
            <a:r>
              <a:rPr lang="en-US" sz="825" dirty="0">
                <a:solidFill>
                  <a:srgbClr val="C9A227"/>
                </a:solidFill>
                <a:latin typeface="Arial" pitchFamily="34" charset="0"/>
                <a:ea typeface="Arial" pitchFamily="34" charset="-122"/>
                <a:cs typeface="Arial" pitchFamily="34" charset="-120"/>
              </a:rPr>
              <a:t>AUSTIN PUBLIC HEALTH</a:t>
            </a:r>
            <a:endParaRPr lang="en-US" sz="825" dirty="0"/>
          </a:p>
        </p:txBody>
      </p:sp>
      <p:sp>
        <p:nvSpPr>
          <p:cNvPr id="4" name="Text 1"/>
          <p:cNvSpPr/>
          <p:nvPr/>
        </p:nvSpPr>
        <p:spPr>
          <a:xfrm>
            <a:off x="457200" y="1512689"/>
            <a:ext cx="2526030" cy="460921"/>
          </a:xfrm>
          <a:prstGeom prst="rect">
            <a:avLst/>
          </a:prstGeom>
          <a:noFill/>
          <a:ln/>
        </p:spPr>
        <p:txBody>
          <a:bodyPr wrap="square" lIns="0" tIns="0" rIns="0" bIns="0" rtlCol="0" anchor="t"/>
          <a:lstStyle/>
          <a:p>
            <a:pPr algn="l" indent="0" marL="0">
              <a:lnSpc>
                <a:spcPts val="3630"/>
              </a:lnSpc>
              <a:spcAft>
                <a:spcPts val="1200"/>
              </a:spcAft>
              <a:buNone/>
            </a:pPr>
            <a:r>
              <a:rPr lang="en-US" sz="3300" dirty="0">
                <a:solidFill>
                  <a:srgbClr val="FFFFFF"/>
                </a:solidFill>
                <a:latin typeface="Georgia" pitchFamily="34" charset="0"/>
                <a:ea typeface="Georgia" pitchFamily="34" charset="-122"/>
                <a:cs typeface="Georgia" pitchFamily="34" charset="-120"/>
              </a:rPr>
              <a:t>Thank You</a:t>
            </a:r>
            <a:endParaRPr lang="en-US" sz="3300" dirty="0"/>
          </a:p>
        </p:txBody>
      </p:sp>
      <p:sp>
        <p:nvSpPr>
          <p:cNvPr id="5" name="Text 2"/>
          <p:cNvSpPr/>
          <p:nvPr/>
        </p:nvSpPr>
        <p:spPr>
          <a:xfrm>
            <a:off x="457200" y="2278410"/>
            <a:ext cx="5034754" cy="319980"/>
          </a:xfrm>
          <a:prstGeom prst="rect">
            <a:avLst/>
          </a:prstGeom>
          <a:noFill/>
          <a:ln/>
        </p:spPr>
        <p:txBody>
          <a:bodyPr wrap="square" lIns="0" tIns="0" rIns="0" bIns="0" rtlCol="0" anchor="t"/>
          <a:lstStyle/>
          <a:p>
            <a:pPr algn="l" indent="0" marL="0">
              <a:lnSpc>
                <a:spcPts val="2520"/>
              </a:lnSpc>
              <a:spcAft>
                <a:spcPts val="2400"/>
              </a:spcAft>
              <a:buNone/>
            </a:pPr>
            <a:r>
              <a:rPr lang="en-US" sz="1800" dirty="0">
                <a:solidFill>
                  <a:srgbClr val="C9A227"/>
                </a:solidFill>
                <a:latin typeface="Georgia" pitchFamily="34" charset="0"/>
                <a:ea typeface="Georgia" pitchFamily="34" charset="-122"/>
                <a:cs typeface="Georgia" pitchFamily="34" charset="-120"/>
              </a:rPr>
              <a:t>Part 1 Complete</a:t>
            </a:r>
            <a:endParaRPr lang="en-US" sz="1800" dirty="0"/>
          </a:p>
        </p:txBody>
      </p:sp>
      <p:sp>
        <p:nvSpPr>
          <p:cNvPr id="6" name="Text 3"/>
          <p:cNvSpPr/>
          <p:nvPr/>
        </p:nvSpPr>
        <p:spPr>
          <a:xfrm>
            <a:off x="457200" y="3055590"/>
            <a:ext cx="762000" cy="19050"/>
          </a:xfrm>
          <a:prstGeom prst="rect">
            <a:avLst/>
          </a:prstGeom>
          <a:solidFill>
            <a:srgbClr val="C9A227"/>
          </a:solidFill>
          <a:ln/>
        </p:spPr>
        <p:txBody>
          <a:bodyPr wrap="square" rtlCol="0" anchor="ctr"/>
          <a:lstStyle/>
          <a:p>
            <a:pPr indent="0" marL="0">
              <a:buNone/>
            </a:pPr>
            <a:endParaRPr lang="en-US" dirty="0"/>
          </a:p>
        </p:txBody>
      </p:sp>
      <p:sp>
        <p:nvSpPr>
          <p:cNvPr id="7" name="Text 4"/>
          <p:cNvSpPr/>
          <p:nvPr/>
        </p:nvSpPr>
        <p:spPr>
          <a:xfrm>
            <a:off x="457200" y="3531840"/>
            <a:ext cx="5034754" cy="186630"/>
          </a:xfrm>
          <a:prstGeom prst="rect">
            <a:avLst/>
          </a:prstGeom>
          <a:noFill/>
          <a:ln/>
        </p:spPr>
        <p:txBody>
          <a:bodyPr wrap="square" lIns="0" tIns="0" rIns="0" bIns="0" rtlCol="0" anchor="t"/>
          <a:lstStyle/>
          <a:p>
            <a:pPr algn="l" indent="0" marL="0">
              <a:lnSpc>
                <a:spcPts val="1470"/>
              </a:lnSpc>
              <a:spcAft>
                <a:spcPts val="600"/>
              </a:spcAft>
              <a:buNone/>
            </a:pPr>
            <a:r>
              <a:rPr lang="en-US" sz="1050" dirty="0">
                <a:solidFill>
                  <a:srgbClr val="FFFFFF">
                    <a:alpha val="70000"/>
                  </a:srgbClr>
                </a:solidFill>
                <a:latin typeface="Arial" pitchFamily="34" charset="0"/>
                <a:ea typeface="Arial" pitchFamily="34" charset="-122"/>
                <a:cs typeface="Arial" pitchFamily="34" charset="-120"/>
              </a:rPr>
              <a:t>Questions? Reach out anytime.</a:t>
            </a:r>
            <a:endParaRPr lang="en-US" sz="1050" dirty="0"/>
          </a:p>
        </p:txBody>
      </p:sp>
      <p:sp>
        <p:nvSpPr>
          <p:cNvPr id="8" name="Text 5"/>
          <p:cNvSpPr/>
          <p:nvPr/>
        </p:nvSpPr>
        <p:spPr>
          <a:xfrm>
            <a:off x="457200" y="3947071"/>
            <a:ext cx="5034754" cy="173236"/>
          </a:xfrm>
          <a:prstGeom prst="rect">
            <a:avLst/>
          </a:prstGeom>
          <a:noFill/>
          <a:ln/>
        </p:spPr>
        <p:txBody>
          <a:bodyPr wrap="square" lIns="0" tIns="0" rIns="0" bIns="0" rtlCol="0" anchor="t"/>
          <a:lstStyle/>
          <a:p>
            <a:pPr algn="l" indent="0" marL="0">
              <a:lnSpc>
                <a:spcPts val="1365"/>
              </a:lnSpc>
              <a:buNone/>
            </a:pPr>
            <a:r>
              <a:rPr lang="en-US" sz="975" dirty="0">
                <a:solidFill>
                  <a:srgbClr val="FFFFFF">
                    <a:alpha val="50000"/>
                  </a:srgbClr>
                </a:solidFill>
                <a:latin typeface="Arial" pitchFamily="34" charset="0"/>
                <a:ea typeface="Arial" pitchFamily="34" charset="-122"/>
                <a:cs typeface="Arial" pitchFamily="34" charset="-120"/>
              </a:rPr>
              <a:t>See you in Part 2: Hands-On Practice</a:t>
            </a:r>
            <a:endParaRPr lang="en-US" sz="975" dirty="0"/>
          </a:p>
        </p:txBody>
      </p:sp>
      <p:sp>
        <p:nvSpPr>
          <p:cNvPr id="9" name="Text 6"/>
          <p:cNvSpPr/>
          <p:nvPr/>
        </p:nvSpPr>
        <p:spPr>
          <a:xfrm>
            <a:off x="6002834" y="0"/>
            <a:ext cx="3141166" cy="5143500"/>
          </a:xfrm>
          <a:prstGeom prst="rect">
            <a:avLst/>
          </a:prstGeom>
          <a:solidFill>
            <a:srgbClr val="C9A227"/>
          </a:solidFill>
          <a:ln/>
        </p:spPr>
        <p:txBody>
          <a:bodyPr wrap="square" rtlCol="0" anchor="ctr"/>
          <a:lstStyle/>
          <a:p>
            <a:pPr indent="0" marL="0">
              <a:buNone/>
            </a:pPr>
            <a:endParaRPr lang="en-US" dirty="0"/>
          </a:p>
        </p:txBody>
      </p:sp>
      <p:sp>
        <p:nvSpPr>
          <p:cNvPr id="10" name="Text 7"/>
          <p:cNvSpPr/>
          <p:nvPr/>
        </p:nvSpPr>
        <p:spPr>
          <a:xfrm>
            <a:off x="7122557" y="315516"/>
            <a:ext cx="901720" cy="853380"/>
          </a:xfrm>
          <a:prstGeom prst="rect">
            <a:avLst/>
          </a:prstGeom>
          <a:noFill/>
          <a:ln/>
        </p:spPr>
        <p:txBody>
          <a:bodyPr wrap="square" lIns="0" tIns="0" rIns="0" bIns="0" rtlCol="0" anchor="t"/>
          <a:lstStyle/>
          <a:p>
            <a:pPr algn="ctr" indent="0" marL="0">
              <a:lnSpc>
                <a:spcPts val="6720"/>
              </a:lnSpc>
              <a:buNone/>
            </a:pPr>
            <a:r>
              <a:rPr lang="en-US" sz="4800" dirty="0">
                <a:solidFill>
                  <a:srgbClr val="1A1F2E"/>
                </a:solidFill>
                <a:latin typeface="Georgia" pitchFamily="34" charset="0"/>
                <a:ea typeface="Georgia" pitchFamily="34" charset="-122"/>
                <a:cs typeface="Georgia" pitchFamily="34" charset="-120"/>
              </a:rPr>
              <a:t>1/3</a:t>
            </a:r>
            <a:endParaRPr lang="en-US" sz="4800" dirty="0"/>
          </a:p>
        </p:txBody>
      </p:sp>
      <p:sp>
        <p:nvSpPr>
          <p:cNvPr id="11" name="Text 8"/>
          <p:cNvSpPr/>
          <p:nvPr/>
        </p:nvSpPr>
        <p:spPr>
          <a:xfrm>
            <a:off x="7121496" y="1397496"/>
            <a:ext cx="903693" cy="186630"/>
          </a:xfrm>
          <a:prstGeom prst="rect">
            <a:avLst/>
          </a:prstGeom>
          <a:noFill/>
          <a:ln/>
        </p:spPr>
        <p:txBody>
          <a:bodyPr wrap="square" lIns="0" tIns="0" rIns="0" bIns="0" rtlCol="0" anchor="t"/>
          <a:lstStyle/>
          <a:p>
            <a:pPr algn="ctr" indent="0" marL="0">
              <a:lnSpc>
                <a:spcPts val="1470"/>
              </a:lnSpc>
              <a:spcBef>
                <a:spcPts val="600"/>
              </a:spcBef>
              <a:buNone/>
            </a:pPr>
            <a:r>
              <a:rPr lang="en-US" sz="1050" dirty="0">
                <a:solidFill>
                  <a:srgbClr val="1A1F2E"/>
                </a:solidFill>
                <a:latin typeface="Arial" pitchFamily="34" charset="0"/>
                <a:ea typeface="Arial" pitchFamily="34" charset="-122"/>
                <a:cs typeface="Arial" pitchFamily="34" charset="-120"/>
              </a:rPr>
              <a:t>COMPLETE</a:t>
            </a:r>
            <a:endParaRPr lang="en-US" sz="1050" dirty="0"/>
          </a:p>
        </p:txBody>
      </p:sp>
      <p:sp>
        <p:nvSpPr>
          <p:cNvPr id="12" name="Text 9"/>
          <p:cNvSpPr/>
          <p:nvPr/>
        </p:nvSpPr>
        <p:spPr>
          <a:xfrm>
            <a:off x="6307634" y="2356842"/>
            <a:ext cx="2531566" cy="649486"/>
          </a:xfrm>
          <a:prstGeom prst="rect">
            <a:avLst/>
          </a:prstGeom>
          <a:solidFill>
            <a:srgbClr val="1A1F2E">
              <a:alpha val="10000"/>
            </a:srgbClr>
          </a:solidFill>
          <a:ln/>
        </p:spPr>
        <p:txBody>
          <a:bodyPr wrap="square" rtlCol="0" anchor="ctr"/>
          <a:lstStyle/>
          <a:p>
            <a:pPr indent="0" marL="0">
              <a:buNone/>
            </a:pPr>
            <a:endParaRPr lang="en-US" dirty="0"/>
          </a:p>
        </p:txBody>
      </p:sp>
      <p:sp>
        <p:nvSpPr>
          <p:cNvPr id="13" name="Text 10"/>
          <p:cNvSpPr/>
          <p:nvPr/>
        </p:nvSpPr>
        <p:spPr>
          <a:xfrm>
            <a:off x="6460034" y="2509242"/>
            <a:ext cx="2271302"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1A1F2E"/>
                </a:solidFill>
                <a:latin typeface="Arial" pitchFamily="34" charset="0"/>
                <a:ea typeface="Arial" pitchFamily="34" charset="-122"/>
                <a:cs typeface="Arial" pitchFamily="34" charset="-120"/>
              </a:rPr>
              <a:t>Today</a:t>
            </a:r>
            <a:endParaRPr lang="en-US" sz="900" dirty="0"/>
          </a:p>
        </p:txBody>
      </p:sp>
      <p:sp>
        <p:nvSpPr>
          <p:cNvPr id="14" name="Text 11"/>
          <p:cNvSpPr/>
          <p:nvPr/>
        </p:nvSpPr>
        <p:spPr>
          <a:xfrm>
            <a:off x="6460034" y="2707332"/>
            <a:ext cx="2271302" cy="146596"/>
          </a:xfrm>
          <a:prstGeom prst="rect">
            <a:avLst/>
          </a:prstGeom>
          <a:noFill/>
          <a:ln/>
        </p:spPr>
        <p:txBody>
          <a:bodyPr wrap="square" lIns="0" tIns="0" rIns="0" bIns="0" rtlCol="0" anchor="t"/>
          <a:lstStyle/>
          <a:p>
            <a:pPr algn="l" indent="0" marL="0">
              <a:lnSpc>
                <a:spcPts val="1155"/>
              </a:lnSpc>
              <a:buNone/>
            </a:pPr>
            <a:r>
              <a:rPr lang="en-US" sz="825" dirty="0">
                <a:solidFill>
                  <a:srgbClr val="1A1F2E">
                    <a:alpha val="70000"/>
                  </a:srgbClr>
                </a:solidFill>
                <a:latin typeface="Arial" pitchFamily="34" charset="0"/>
                <a:ea typeface="Arial" pitchFamily="34" charset="-122"/>
                <a:cs typeface="Arial" pitchFamily="34" charset="-120"/>
              </a:rPr>
              <a:t>Setup &amp; Tool Overview</a:t>
            </a:r>
            <a:endParaRPr lang="en-US" sz="825" dirty="0"/>
          </a:p>
        </p:txBody>
      </p:sp>
      <p:sp>
        <p:nvSpPr>
          <p:cNvPr id="15" name="Text 12"/>
          <p:cNvSpPr/>
          <p:nvPr/>
        </p:nvSpPr>
        <p:spPr>
          <a:xfrm>
            <a:off x="6307634" y="3273028"/>
            <a:ext cx="2531566" cy="649486"/>
          </a:xfrm>
          <a:prstGeom prst="rect">
            <a:avLst/>
          </a:prstGeom>
          <a:solidFill>
            <a:srgbClr val="1A1F2E">
              <a:alpha val="5000"/>
            </a:srgbClr>
          </a:solidFill>
          <a:ln/>
        </p:spPr>
        <p:txBody>
          <a:bodyPr wrap="square" rtlCol="0" anchor="ctr"/>
          <a:lstStyle/>
          <a:p>
            <a:pPr indent="0" marL="0">
              <a:buNone/>
            </a:pPr>
            <a:endParaRPr lang="en-US" dirty="0"/>
          </a:p>
        </p:txBody>
      </p:sp>
      <p:sp>
        <p:nvSpPr>
          <p:cNvPr id="16" name="Text 13"/>
          <p:cNvSpPr/>
          <p:nvPr/>
        </p:nvSpPr>
        <p:spPr>
          <a:xfrm>
            <a:off x="6460034" y="3425428"/>
            <a:ext cx="2271302"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1A1F2E">
                    <a:alpha val="60000"/>
                  </a:srgbClr>
                </a:solidFill>
                <a:latin typeface="Arial" pitchFamily="34" charset="0"/>
                <a:ea typeface="Arial" pitchFamily="34" charset="-122"/>
                <a:cs typeface="Arial" pitchFamily="34" charset="-120"/>
              </a:rPr>
              <a:t>Next</a:t>
            </a:r>
            <a:endParaRPr lang="en-US" sz="900" dirty="0"/>
          </a:p>
        </p:txBody>
      </p:sp>
      <p:sp>
        <p:nvSpPr>
          <p:cNvPr id="17" name="Text 14"/>
          <p:cNvSpPr/>
          <p:nvPr/>
        </p:nvSpPr>
        <p:spPr>
          <a:xfrm>
            <a:off x="6460034" y="3623518"/>
            <a:ext cx="2271302" cy="146596"/>
          </a:xfrm>
          <a:prstGeom prst="rect">
            <a:avLst/>
          </a:prstGeom>
          <a:noFill/>
          <a:ln/>
        </p:spPr>
        <p:txBody>
          <a:bodyPr wrap="square" lIns="0" tIns="0" rIns="0" bIns="0" rtlCol="0" anchor="t"/>
          <a:lstStyle/>
          <a:p>
            <a:pPr algn="l" indent="0" marL="0">
              <a:lnSpc>
                <a:spcPts val="1155"/>
              </a:lnSpc>
              <a:buNone/>
            </a:pPr>
            <a:r>
              <a:rPr lang="en-US" sz="825" dirty="0">
                <a:solidFill>
                  <a:srgbClr val="1A1F2E">
                    <a:alpha val="50000"/>
                  </a:srgbClr>
                </a:solidFill>
                <a:latin typeface="Arial" pitchFamily="34" charset="0"/>
                <a:ea typeface="Arial" pitchFamily="34" charset="-122"/>
                <a:cs typeface="Arial" pitchFamily="34" charset="-120"/>
              </a:rPr>
              <a:t>Hands-On Practice</a:t>
            </a:r>
            <a:endParaRPr lang="en-US" sz="825" dirty="0"/>
          </a:p>
        </p:txBody>
      </p:sp>
      <p:sp>
        <p:nvSpPr>
          <p:cNvPr id="18" name="Text 15"/>
          <p:cNvSpPr/>
          <p:nvPr/>
        </p:nvSpPr>
        <p:spPr>
          <a:xfrm>
            <a:off x="6307634" y="4189214"/>
            <a:ext cx="2531566" cy="649486"/>
          </a:xfrm>
          <a:prstGeom prst="rect">
            <a:avLst/>
          </a:prstGeom>
          <a:solidFill>
            <a:srgbClr val="1A1F2E">
              <a:alpha val="5000"/>
            </a:srgbClr>
          </a:solidFill>
          <a:ln/>
        </p:spPr>
        <p:txBody>
          <a:bodyPr wrap="square" rtlCol="0" anchor="ctr"/>
          <a:lstStyle/>
          <a:p>
            <a:pPr indent="0" marL="0">
              <a:buNone/>
            </a:pPr>
            <a:endParaRPr lang="en-US" dirty="0"/>
          </a:p>
        </p:txBody>
      </p:sp>
      <p:sp>
        <p:nvSpPr>
          <p:cNvPr id="19" name="Text 16"/>
          <p:cNvSpPr/>
          <p:nvPr/>
        </p:nvSpPr>
        <p:spPr>
          <a:xfrm>
            <a:off x="6460034" y="4341614"/>
            <a:ext cx="2271302" cy="159990"/>
          </a:xfrm>
          <a:prstGeom prst="rect">
            <a:avLst/>
          </a:prstGeom>
          <a:noFill/>
          <a:ln/>
        </p:spPr>
        <p:txBody>
          <a:bodyPr wrap="square" lIns="0" tIns="0" rIns="0" bIns="0" rtlCol="0" anchor="t"/>
          <a:lstStyle/>
          <a:p>
            <a:pPr algn="l" indent="0" marL="0">
              <a:lnSpc>
                <a:spcPts val="1260"/>
              </a:lnSpc>
              <a:spcAft>
                <a:spcPts val="300"/>
              </a:spcAft>
              <a:buNone/>
            </a:pPr>
            <a:r>
              <a:rPr lang="en-US" sz="900" b="1" dirty="0">
                <a:solidFill>
                  <a:srgbClr val="1A1F2E">
                    <a:alpha val="60000"/>
                  </a:srgbClr>
                </a:solidFill>
                <a:latin typeface="Arial" pitchFamily="34" charset="0"/>
                <a:ea typeface="Arial" pitchFamily="34" charset="-122"/>
                <a:cs typeface="Arial" pitchFamily="34" charset="-120"/>
              </a:rPr>
              <a:t>Final</a:t>
            </a:r>
            <a:endParaRPr lang="en-US" sz="900" dirty="0"/>
          </a:p>
        </p:txBody>
      </p:sp>
      <p:sp>
        <p:nvSpPr>
          <p:cNvPr id="20" name="Text 17"/>
          <p:cNvSpPr/>
          <p:nvPr/>
        </p:nvSpPr>
        <p:spPr>
          <a:xfrm>
            <a:off x="6460034" y="4539704"/>
            <a:ext cx="2271302" cy="146596"/>
          </a:xfrm>
          <a:prstGeom prst="rect">
            <a:avLst/>
          </a:prstGeom>
          <a:noFill/>
          <a:ln/>
        </p:spPr>
        <p:txBody>
          <a:bodyPr wrap="square" lIns="0" tIns="0" rIns="0" bIns="0" rtlCol="0" anchor="t"/>
          <a:lstStyle/>
          <a:p>
            <a:pPr algn="l" indent="0" marL="0">
              <a:lnSpc>
                <a:spcPts val="1155"/>
              </a:lnSpc>
              <a:buNone/>
            </a:pPr>
            <a:r>
              <a:rPr lang="en-US" sz="825" dirty="0">
                <a:solidFill>
                  <a:srgbClr val="1A1F2E">
                    <a:alpha val="50000"/>
                  </a:srgbClr>
                </a:solidFill>
                <a:latin typeface="Arial" pitchFamily="34" charset="0"/>
                <a:ea typeface="Arial" pitchFamily="34" charset="-122"/>
                <a:cs typeface="Arial" pitchFamily="34" charset="-120"/>
              </a:rPr>
              <a:t>Build a Transcriber</a:t>
            </a:r>
            <a:endParaRPr lang="en-US" sz="8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Voice-Driven AI Development Workflows - Part 1</dc:title>
  <dc:subject>Setup, Introduction &amp; Tool Overview</dc:subject>
  <dc:creator>Austin Public Health</dc:creator>
  <cp:lastModifiedBy>Austin Public Health</cp:lastModifiedBy>
  <cp:revision>1</cp:revision>
  <dcterms:created xsi:type="dcterms:W3CDTF">2026-01-15T07:07:05Z</dcterms:created>
  <dcterms:modified xsi:type="dcterms:W3CDTF">2026-01-15T07:07:05Z</dcterms:modified>
</cp:coreProperties>
</file>